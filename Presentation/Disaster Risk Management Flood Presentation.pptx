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charts/chart4.xml" ContentType="application/vnd.openxmlformats-officedocument.drawingml.chart+xml"/>
  <Override PartName="/ppt/notesSlides/notesSlide20.xml" ContentType="application/vnd.openxmlformats-officedocument.presentationml.notesSlide+xml"/>
  <Override PartName="/ppt/charts/chart5.xml" ContentType="application/vnd.openxmlformats-officedocument.drawingml.chart+xml"/>
  <Override PartName="/ppt/notesSlides/notesSlide21.xml" ContentType="application/vnd.openxmlformats-officedocument.presentationml.notesSlide+xml"/>
  <Override PartName="/ppt/charts/chart6.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8" r:id="rId23"/>
    <p:sldId id="279" r:id="rId24"/>
    <p:sldId id="280" r:id="rId25"/>
    <p:sldId id="281" r:id="rId26"/>
    <p:sldId id="282" r:id="rId27"/>
    <p:sldId id="283" r:id="rId28"/>
    <p:sldId id="284"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1B168F-C8E9-40F0-A094-441C5039DF57}" v="2" dt="2026-03-19T12:12:26.1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khawatsoumya2@gmail.com" userId="870cf11c5f67087a" providerId="LiveId" clId="{339D5A61-6469-4D78-BDA0-4175D12DC9FE}"/>
    <pc:docChg chg="undo custSel delSld modSld">
      <pc:chgData name="shekhawatsoumya2@gmail.com" userId="870cf11c5f67087a" providerId="LiveId" clId="{339D5A61-6469-4D78-BDA0-4175D12DC9FE}" dt="2026-03-19T12:13:21.693" v="65" actId="478"/>
      <pc:docMkLst>
        <pc:docMk/>
      </pc:docMkLst>
      <pc:sldChg chg="delSp modSp mod">
        <pc:chgData name="shekhawatsoumya2@gmail.com" userId="870cf11c5f67087a" providerId="LiveId" clId="{339D5A61-6469-4D78-BDA0-4175D12DC9FE}" dt="2026-03-19T12:09:58.310" v="2" actId="478"/>
        <pc:sldMkLst>
          <pc:docMk/>
          <pc:sldMk cId="0" sldId="256"/>
        </pc:sldMkLst>
        <pc:spChg chg="del">
          <ac:chgData name="shekhawatsoumya2@gmail.com" userId="870cf11c5f67087a" providerId="LiveId" clId="{339D5A61-6469-4D78-BDA0-4175D12DC9FE}" dt="2026-03-19T12:09:24.828" v="0" actId="478"/>
          <ac:spMkLst>
            <pc:docMk/>
            <pc:sldMk cId="0" sldId="256"/>
            <ac:spMk id="3" creationId="{00000000-0000-0000-0000-000000000000}"/>
          </ac:spMkLst>
        </pc:spChg>
        <pc:spChg chg="mod">
          <ac:chgData name="shekhawatsoumya2@gmail.com" userId="870cf11c5f67087a" providerId="LiveId" clId="{339D5A61-6469-4D78-BDA0-4175D12DC9FE}" dt="2026-03-19T12:09:34.056" v="1" actId="1076"/>
          <ac:spMkLst>
            <pc:docMk/>
            <pc:sldMk cId="0" sldId="256"/>
            <ac:spMk id="4" creationId="{00000000-0000-0000-0000-000000000000}"/>
          </ac:spMkLst>
        </pc:spChg>
        <pc:spChg chg="del">
          <ac:chgData name="shekhawatsoumya2@gmail.com" userId="870cf11c5f67087a" providerId="LiveId" clId="{339D5A61-6469-4D78-BDA0-4175D12DC9FE}" dt="2026-03-19T12:09:24.828" v="0" actId="478"/>
          <ac:spMkLst>
            <pc:docMk/>
            <pc:sldMk cId="0" sldId="256"/>
            <ac:spMk id="11" creationId="{00000000-0000-0000-0000-000000000000}"/>
          </ac:spMkLst>
        </pc:spChg>
        <pc:spChg chg="del">
          <ac:chgData name="shekhawatsoumya2@gmail.com" userId="870cf11c5f67087a" providerId="LiveId" clId="{339D5A61-6469-4D78-BDA0-4175D12DC9FE}" dt="2026-03-19T12:09:58.310" v="2" actId="478"/>
          <ac:spMkLst>
            <pc:docMk/>
            <pc:sldMk cId="0" sldId="256"/>
            <ac:spMk id="12" creationId="{00000000-0000-0000-0000-000000000000}"/>
          </ac:spMkLst>
        </pc:spChg>
        <pc:spChg chg="del">
          <ac:chgData name="shekhawatsoumya2@gmail.com" userId="870cf11c5f67087a" providerId="LiveId" clId="{339D5A61-6469-4D78-BDA0-4175D12DC9FE}" dt="2026-03-19T12:09:24.828" v="0" actId="478"/>
          <ac:spMkLst>
            <pc:docMk/>
            <pc:sldMk cId="0" sldId="256"/>
            <ac:spMk id="15" creationId="{00000000-0000-0000-0000-000000000000}"/>
          </ac:spMkLst>
        </pc:spChg>
      </pc:sldChg>
      <pc:sldChg chg="modSp mod">
        <pc:chgData name="shekhawatsoumya2@gmail.com" userId="870cf11c5f67087a" providerId="LiveId" clId="{339D5A61-6469-4D78-BDA0-4175D12DC9FE}" dt="2026-03-19T12:10:22.150" v="41" actId="20577"/>
        <pc:sldMkLst>
          <pc:docMk/>
          <pc:sldMk cId="0" sldId="257"/>
        </pc:sldMkLst>
        <pc:spChg chg="mod">
          <ac:chgData name="shekhawatsoumya2@gmail.com" userId="870cf11c5f67087a" providerId="LiveId" clId="{339D5A61-6469-4D78-BDA0-4175D12DC9FE}" dt="2026-03-19T12:10:22.150" v="41" actId="20577"/>
          <ac:spMkLst>
            <pc:docMk/>
            <pc:sldMk cId="0" sldId="257"/>
            <ac:spMk id="3" creationId="{00000000-0000-0000-0000-000000000000}"/>
          </ac:spMkLst>
        </pc:spChg>
        <pc:spChg chg="mod">
          <ac:chgData name="shekhawatsoumya2@gmail.com" userId="870cf11c5f67087a" providerId="LiveId" clId="{339D5A61-6469-4D78-BDA0-4175D12DC9FE}" dt="2026-03-19T12:10:11.882" v="32" actId="20577"/>
          <ac:spMkLst>
            <pc:docMk/>
            <pc:sldMk cId="0" sldId="257"/>
            <ac:spMk id="48" creationId="{00000000-0000-0000-0000-000000000000}"/>
          </ac:spMkLst>
        </pc:spChg>
      </pc:sldChg>
      <pc:sldChg chg="delSp mod">
        <pc:chgData name="shekhawatsoumya2@gmail.com" userId="870cf11c5f67087a" providerId="LiveId" clId="{339D5A61-6469-4D78-BDA0-4175D12DC9FE}" dt="2026-03-19T12:10:48.756" v="42" actId="478"/>
        <pc:sldMkLst>
          <pc:docMk/>
          <pc:sldMk cId="0" sldId="266"/>
        </pc:sldMkLst>
        <pc:spChg chg="del">
          <ac:chgData name="shekhawatsoumya2@gmail.com" userId="870cf11c5f67087a" providerId="LiveId" clId="{339D5A61-6469-4D78-BDA0-4175D12DC9FE}" dt="2026-03-19T12:10:48.756" v="42" actId="478"/>
          <ac:spMkLst>
            <pc:docMk/>
            <pc:sldMk cId="0" sldId="266"/>
            <ac:spMk id="19" creationId="{00000000-0000-0000-0000-000000000000}"/>
          </ac:spMkLst>
        </pc:spChg>
        <pc:spChg chg="del">
          <ac:chgData name="shekhawatsoumya2@gmail.com" userId="870cf11c5f67087a" providerId="LiveId" clId="{339D5A61-6469-4D78-BDA0-4175D12DC9FE}" dt="2026-03-19T12:10:48.756" v="42" actId="478"/>
          <ac:spMkLst>
            <pc:docMk/>
            <pc:sldMk cId="0" sldId="266"/>
            <ac:spMk id="20" creationId="{00000000-0000-0000-0000-000000000000}"/>
          </ac:spMkLst>
        </pc:spChg>
        <pc:spChg chg="del">
          <ac:chgData name="shekhawatsoumya2@gmail.com" userId="870cf11c5f67087a" providerId="LiveId" clId="{339D5A61-6469-4D78-BDA0-4175D12DC9FE}" dt="2026-03-19T12:10:48.756" v="42" actId="478"/>
          <ac:spMkLst>
            <pc:docMk/>
            <pc:sldMk cId="0" sldId="266"/>
            <ac:spMk id="21" creationId="{00000000-0000-0000-0000-000000000000}"/>
          </ac:spMkLst>
        </pc:spChg>
        <pc:spChg chg="del">
          <ac:chgData name="shekhawatsoumya2@gmail.com" userId="870cf11c5f67087a" providerId="LiveId" clId="{339D5A61-6469-4D78-BDA0-4175D12DC9FE}" dt="2026-03-19T12:10:48.756" v="42" actId="478"/>
          <ac:spMkLst>
            <pc:docMk/>
            <pc:sldMk cId="0" sldId="266"/>
            <ac:spMk id="22" creationId="{00000000-0000-0000-0000-000000000000}"/>
          </ac:spMkLst>
        </pc:spChg>
        <pc:spChg chg="del">
          <ac:chgData name="shekhawatsoumya2@gmail.com" userId="870cf11c5f67087a" providerId="LiveId" clId="{339D5A61-6469-4D78-BDA0-4175D12DC9FE}" dt="2026-03-19T12:10:48.756" v="42" actId="478"/>
          <ac:spMkLst>
            <pc:docMk/>
            <pc:sldMk cId="0" sldId="266"/>
            <ac:spMk id="23" creationId="{00000000-0000-0000-0000-000000000000}"/>
          </ac:spMkLst>
        </pc:spChg>
      </pc:sldChg>
      <pc:sldChg chg="delSp modSp mod">
        <pc:chgData name="shekhawatsoumya2@gmail.com" userId="870cf11c5f67087a" providerId="LiveId" clId="{339D5A61-6469-4D78-BDA0-4175D12DC9FE}" dt="2026-03-19T12:11:31.311" v="52" actId="1076"/>
        <pc:sldMkLst>
          <pc:docMk/>
          <pc:sldMk cId="0" sldId="268"/>
        </pc:sldMkLst>
        <pc:spChg chg="mod">
          <ac:chgData name="shekhawatsoumya2@gmail.com" userId="870cf11c5f67087a" providerId="LiveId" clId="{339D5A61-6469-4D78-BDA0-4175D12DC9FE}" dt="2026-03-19T12:11:09.733" v="48" actId="20577"/>
          <ac:spMkLst>
            <pc:docMk/>
            <pc:sldMk cId="0" sldId="268"/>
            <ac:spMk id="12" creationId="{00000000-0000-0000-0000-000000000000}"/>
          </ac:spMkLst>
        </pc:spChg>
        <pc:spChg chg="del">
          <ac:chgData name="shekhawatsoumya2@gmail.com" userId="870cf11c5f67087a" providerId="LiveId" clId="{339D5A61-6469-4D78-BDA0-4175D12DC9FE}" dt="2026-03-19T12:11:01.936" v="43" actId="478"/>
          <ac:spMkLst>
            <pc:docMk/>
            <pc:sldMk cId="0" sldId="268"/>
            <ac:spMk id="16" creationId="{00000000-0000-0000-0000-000000000000}"/>
          </ac:spMkLst>
        </pc:spChg>
        <pc:spChg chg="del">
          <ac:chgData name="shekhawatsoumya2@gmail.com" userId="870cf11c5f67087a" providerId="LiveId" clId="{339D5A61-6469-4D78-BDA0-4175D12DC9FE}" dt="2026-03-19T12:11:01.936" v="43" actId="478"/>
          <ac:spMkLst>
            <pc:docMk/>
            <pc:sldMk cId="0" sldId="268"/>
            <ac:spMk id="17" creationId="{00000000-0000-0000-0000-000000000000}"/>
          </ac:spMkLst>
        </pc:spChg>
        <pc:spChg chg="del">
          <ac:chgData name="shekhawatsoumya2@gmail.com" userId="870cf11c5f67087a" providerId="LiveId" clId="{339D5A61-6469-4D78-BDA0-4175D12DC9FE}" dt="2026-03-19T12:11:01.936" v="43" actId="478"/>
          <ac:spMkLst>
            <pc:docMk/>
            <pc:sldMk cId="0" sldId="268"/>
            <ac:spMk id="18" creationId="{00000000-0000-0000-0000-000000000000}"/>
          </ac:spMkLst>
        </pc:spChg>
        <pc:spChg chg="del">
          <ac:chgData name="shekhawatsoumya2@gmail.com" userId="870cf11c5f67087a" providerId="LiveId" clId="{339D5A61-6469-4D78-BDA0-4175D12DC9FE}" dt="2026-03-19T12:11:01.936" v="43" actId="478"/>
          <ac:spMkLst>
            <pc:docMk/>
            <pc:sldMk cId="0" sldId="268"/>
            <ac:spMk id="19" creationId="{00000000-0000-0000-0000-000000000000}"/>
          </ac:spMkLst>
        </pc:spChg>
        <pc:spChg chg="del mod">
          <ac:chgData name="shekhawatsoumya2@gmail.com" userId="870cf11c5f67087a" providerId="LiveId" clId="{339D5A61-6469-4D78-BDA0-4175D12DC9FE}" dt="2026-03-19T12:11:24.147" v="51" actId="478"/>
          <ac:spMkLst>
            <pc:docMk/>
            <pc:sldMk cId="0" sldId="268"/>
            <ac:spMk id="20" creationId="{00000000-0000-0000-0000-000000000000}"/>
          </ac:spMkLst>
        </pc:spChg>
        <pc:spChg chg="del">
          <ac:chgData name="shekhawatsoumya2@gmail.com" userId="870cf11c5f67087a" providerId="LiveId" clId="{339D5A61-6469-4D78-BDA0-4175D12DC9FE}" dt="2026-03-19T12:11:01.936" v="43" actId="478"/>
          <ac:spMkLst>
            <pc:docMk/>
            <pc:sldMk cId="0" sldId="268"/>
            <ac:spMk id="21" creationId="{00000000-0000-0000-0000-000000000000}"/>
          </ac:spMkLst>
        </pc:spChg>
        <pc:spChg chg="mod">
          <ac:chgData name="shekhawatsoumya2@gmail.com" userId="870cf11c5f67087a" providerId="LiveId" clId="{339D5A61-6469-4D78-BDA0-4175D12DC9FE}" dt="2026-03-19T12:11:31.311" v="52" actId="1076"/>
          <ac:spMkLst>
            <pc:docMk/>
            <pc:sldMk cId="0" sldId="268"/>
            <ac:spMk id="22" creationId="{00000000-0000-0000-0000-000000000000}"/>
          </ac:spMkLst>
        </pc:spChg>
        <pc:spChg chg="mod">
          <ac:chgData name="shekhawatsoumya2@gmail.com" userId="870cf11c5f67087a" providerId="LiveId" clId="{339D5A61-6469-4D78-BDA0-4175D12DC9FE}" dt="2026-03-19T12:11:31.311" v="52" actId="1076"/>
          <ac:spMkLst>
            <pc:docMk/>
            <pc:sldMk cId="0" sldId="268"/>
            <ac:spMk id="23" creationId="{00000000-0000-0000-0000-000000000000}"/>
          </ac:spMkLst>
        </pc:spChg>
        <pc:spChg chg="mod">
          <ac:chgData name="shekhawatsoumya2@gmail.com" userId="870cf11c5f67087a" providerId="LiveId" clId="{339D5A61-6469-4D78-BDA0-4175D12DC9FE}" dt="2026-03-19T12:11:31.311" v="52" actId="1076"/>
          <ac:spMkLst>
            <pc:docMk/>
            <pc:sldMk cId="0" sldId="268"/>
            <ac:spMk id="24" creationId="{00000000-0000-0000-0000-000000000000}"/>
          </ac:spMkLst>
        </pc:spChg>
        <pc:spChg chg="mod">
          <ac:chgData name="shekhawatsoumya2@gmail.com" userId="870cf11c5f67087a" providerId="LiveId" clId="{339D5A61-6469-4D78-BDA0-4175D12DC9FE}" dt="2026-03-19T12:11:31.311" v="52" actId="1076"/>
          <ac:spMkLst>
            <pc:docMk/>
            <pc:sldMk cId="0" sldId="268"/>
            <ac:spMk id="25" creationId="{00000000-0000-0000-0000-000000000000}"/>
          </ac:spMkLst>
        </pc:spChg>
        <pc:spChg chg="mod">
          <ac:chgData name="shekhawatsoumya2@gmail.com" userId="870cf11c5f67087a" providerId="LiveId" clId="{339D5A61-6469-4D78-BDA0-4175D12DC9FE}" dt="2026-03-19T12:11:31.311" v="52" actId="1076"/>
          <ac:spMkLst>
            <pc:docMk/>
            <pc:sldMk cId="0" sldId="268"/>
            <ac:spMk id="27" creationId="{00000000-0000-0000-0000-000000000000}"/>
          </ac:spMkLst>
        </pc:spChg>
      </pc:sldChg>
      <pc:sldChg chg="delSp modSp mod">
        <pc:chgData name="shekhawatsoumya2@gmail.com" userId="870cf11c5f67087a" providerId="LiveId" clId="{339D5A61-6469-4D78-BDA0-4175D12DC9FE}" dt="2026-03-19T12:11:52.221" v="54" actId="478"/>
        <pc:sldMkLst>
          <pc:docMk/>
          <pc:sldMk cId="0" sldId="272"/>
        </pc:sldMkLst>
        <pc:spChg chg="del mod">
          <ac:chgData name="shekhawatsoumya2@gmail.com" userId="870cf11c5f67087a" providerId="LiveId" clId="{339D5A61-6469-4D78-BDA0-4175D12DC9FE}" dt="2026-03-19T12:11:52.221" v="54" actId="478"/>
          <ac:spMkLst>
            <pc:docMk/>
            <pc:sldMk cId="0" sldId="272"/>
            <ac:spMk id="23" creationId="{00000000-0000-0000-0000-000000000000}"/>
          </ac:spMkLst>
        </pc:spChg>
      </pc:sldChg>
      <pc:sldChg chg="del">
        <pc:chgData name="shekhawatsoumya2@gmail.com" userId="870cf11c5f67087a" providerId="LiveId" clId="{339D5A61-6469-4D78-BDA0-4175D12DC9FE}" dt="2026-03-19T12:12:02.754" v="55" actId="2696"/>
        <pc:sldMkLst>
          <pc:docMk/>
          <pc:sldMk cId="0" sldId="275"/>
        </pc:sldMkLst>
      </pc:sldChg>
      <pc:sldChg chg="addSp delSp modSp mod">
        <pc:chgData name="shekhawatsoumya2@gmail.com" userId="870cf11c5f67087a" providerId="LiveId" clId="{339D5A61-6469-4D78-BDA0-4175D12DC9FE}" dt="2026-03-19T12:12:30.994" v="61" actId="1076"/>
        <pc:sldMkLst>
          <pc:docMk/>
          <pc:sldMk cId="0" sldId="278"/>
        </pc:sldMkLst>
        <pc:spChg chg="mod">
          <ac:chgData name="shekhawatsoumya2@gmail.com" userId="870cf11c5f67087a" providerId="LiveId" clId="{339D5A61-6469-4D78-BDA0-4175D12DC9FE}" dt="2026-03-19T12:12:30.994" v="61" actId="1076"/>
          <ac:spMkLst>
            <pc:docMk/>
            <pc:sldMk cId="0" sldId="278"/>
            <ac:spMk id="5" creationId="{00000000-0000-0000-0000-000000000000}"/>
          </ac:spMkLst>
        </pc:spChg>
        <pc:spChg chg="mod">
          <ac:chgData name="shekhawatsoumya2@gmail.com" userId="870cf11c5f67087a" providerId="LiveId" clId="{339D5A61-6469-4D78-BDA0-4175D12DC9FE}" dt="2026-03-19T12:12:30.994" v="61" actId="1076"/>
          <ac:spMkLst>
            <pc:docMk/>
            <pc:sldMk cId="0" sldId="278"/>
            <ac:spMk id="6" creationId="{00000000-0000-0000-0000-000000000000}"/>
          </ac:spMkLst>
        </pc:spChg>
        <pc:spChg chg="mod">
          <ac:chgData name="shekhawatsoumya2@gmail.com" userId="870cf11c5f67087a" providerId="LiveId" clId="{339D5A61-6469-4D78-BDA0-4175D12DC9FE}" dt="2026-03-19T12:12:30.994" v="61" actId="1076"/>
          <ac:spMkLst>
            <pc:docMk/>
            <pc:sldMk cId="0" sldId="278"/>
            <ac:spMk id="8" creationId="{00000000-0000-0000-0000-000000000000}"/>
          </ac:spMkLst>
        </pc:spChg>
        <pc:spChg chg="mod">
          <ac:chgData name="shekhawatsoumya2@gmail.com" userId="870cf11c5f67087a" providerId="LiveId" clId="{339D5A61-6469-4D78-BDA0-4175D12DC9FE}" dt="2026-03-19T12:12:30.994" v="61" actId="1076"/>
          <ac:spMkLst>
            <pc:docMk/>
            <pc:sldMk cId="0" sldId="278"/>
            <ac:spMk id="9" creationId="{00000000-0000-0000-0000-000000000000}"/>
          </ac:spMkLst>
        </pc:spChg>
        <pc:spChg chg="mod">
          <ac:chgData name="shekhawatsoumya2@gmail.com" userId="870cf11c5f67087a" providerId="LiveId" clId="{339D5A61-6469-4D78-BDA0-4175D12DC9FE}" dt="2026-03-19T12:12:30.994" v="61" actId="1076"/>
          <ac:spMkLst>
            <pc:docMk/>
            <pc:sldMk cId="0" sldId="278"/>
            <ac:spMk id="10" creationId="{00000000-0000-0000-0000-000000000000}"/>
          </ac:spMkLst>
        </pc:spChg>
        <pc:spChg chg="mod">
          <ac:chgData name="shekhawatsoumya2@gmail.com" userId="870cf11c5f67087a" providerId="LiveId" clId="{339D5A61-6469-4D78-BDA0-4175D12DC9FE}" dt="2026-03-19T12:12:30.994" v="61" actId="1076"/>
          <ac:spMkLst>
            <pc:docMk/>
            <pc:sldMk cId="0" sldId="278"/>
            <ac:spMk id="11" creationId="{00000000-0000-0000-0000-000000000000}"/>
          </ac:spMkLst>
        </pc:spChg>
        <pc:spChg chg="mod">
          <ac:chgData name="shekhawatsoumya2@gmail.com" userId="870cf11c5f67087a" providerId="LiveId" clId="{339D5A61-6469-4D78-BDA0-4175D12DC9FE}" dt="2026-03-19T12:12:30.994" v="61" actId="1076"/>
          <ac:spMkLst>
            <pc:docMk/>
            <pc:sldMk cId="0" sldId="278"/>
            <ac:spMk id="12" creationId="{00000000-0000-0000-0000-000000000000}"/>
          </ac:spMkLst>
        </pc:spChg>
        <pc:spChg chg="mod">
          <ac:chgData name="shekhawatsoumya2@gmail.com" userId="870cf11c5f67087a" providerId="LiveId" clId="{339D5A61-6469-4D78-BDA0-4175D12DC9FE}" dt="2026-03-19T12:12:30.994" v="61" actId="1076"/>
          <ac:spMkLst>
            <pc:docMk/>
            <pc:sldMk cId="0" sldId="278"/>
            <ac:spMk id="13" creationId="{00000000-0000-0000-0000-000000000000}"/>
          </ac:spMkLst>
        </pc:spChg>
        <pc:spChg chg="del">
          <ac:chgData name="shekhawatsoumya2@gmail.com" userId="870cf11c5f67087a" providerId="LiveId" clId="{339D5A61-6469-4D78-BDA0-4175D12DC9FE}" dt="2026-03-19T12:12:13.659" v="56" actId="478"/>
          <ac:spMkLst>
            <pc:docMk/>
            <pc:sldMk cId="0" sldId="278"/>
            <ac:spMk id="14" creationId="{00000000-0000-0000-0000-000000000000}"/>
          </ac:spMkLst>
        </pc:spChg>
        <pc:spChg chg="del">
          <ac:chgData name="shekhawatsoumya2@gmail.com" userId="870cf11c5f67087a" providerId="LiveId" clId="{339D5A61-6469-4D78-BDA0-4175D12DC9FE}" dt="2026-03-19T12:12:15.079" v="57" actId="478"/>
          <ac:spMkLst>
            <pc:docMk/>
            <pc:sldMk cId="0" sldId="278"/>
            <ac:spMk id="15" creationId="{00000000-0000-0000-0000-000000000000}"/>
          </ac:spMkLst>
        </pc:spChg>
        <pc:spChg chg="add mod">
          <ac:chgData name="shekhawatsoumya2@gmail.com" userId="870cf11c5f67087a" providerId="LiveId" clId="{339D5A61-6469-4D78-BDA0-4175D12DC9FE}" dt="2026-03-19T12:12:26.129" v="60" actId="571"/>
          <ac:spMkLst>
            <pc:docMk/>
            <pc:sldMk cId="0" sldId="278"/>
            <ac:spMk id="16" creationId="{4DF14BDC-F24D-1128-270E-E649DC668C73}"/>
          </ac:spMkLst>
        </pc:spChg>
        <pc:spChg chg="add mod">
          <ac:chgData name="shekhawatsoumya2@gmail.com" userId="870cf11c5f67087a" providerId="LiveId" clId="{339D5A61-6469-4D78-BDA0-4175D12DC9FE}" dt="2026-03-19T12:12:26.129" v="60" actId="571"/>
          <ac:spMkLst>
            <pc:docMk/>
            <pc:sldMk cId="0" sldId="278"/>
            <ac:spMk id="17" creationId="{C0E3CEAF-44F9-682A-AB8E-35A0CC006E14}"/>
          </ac:spMkLst>
        </pc:spChg>
        <pc:spChg chg="add mod">
          <ac:chgData name="shekhawatsoumya2@gmail.com" userId="870cf11c5f67087a" providerId="LiveId" clId="{339D5A61-6469-4D78-BDA0-4175D12DC9FE}" dt="2026-03-19T12:12:26.129" v="60" actId="571"/>
          <ac:spMkLst>
            <pc:docMk/>
            <pc:sldMk cId="0" sldId="278"/>
            <ac:spMk id="18" creationId="{54C6F069-FF5E-2892-D23D-DA6B73BF0501}"/>
          </ac:spMkLst>
        </pc:spChg>
        <pc:spChg chg="add mod">
          <ac:chgData name="shekhawatsoumya2@gmail.com" userId="870cf11c5f67087a" providerId="LiveId" clId="{339D5A61-6469-4D78-BDA0-4175D12DC9FE}" dt="2026-03-19T12:12:26.129" v="60" actId="571"/>
          <ac:spMkLst>
            <pc:docMk/>
            <pc:sldMk cId="0" sldId="278"/>
            <ac:spMk id="19" creationId="{764E6612-CC9D-3D2B-273B-C3E484E6CA67}"/>
          </ac:spMkLst>
        </pc:spChg>
        <pc:spChg chg="add mod">
          <ac:chgData name="shekhawatsoumya2@gmail.com" userId="870cf11c5f67087a" providerId="LiveId" clId="{339D5A61-6469-4D78-BDA0-4175D12DC9FE}" dt="2026-03-19T12:12:26.129" v="60" actId="571"/>
          <ac:spMkLst>
            <pc:docMk/>
            <pc:sldMk cId="0" sldId="278"/>
            <ac:spMk id="20" creationId="{02AD7D97-A79F-BA51-AE27-5587A82AB50D}"/>
          </ac:spMkLst>
        </pc:spChg>
        <pc:spChg chg="add mod">
          <ac:chgData name="shekhawatsoumya2@gmail.com" userId="870cf11c5f67087a" providerId="LiveId" clId="{339D5A61-6469-4D78-BDA0-4175D12DC9FE}" dt="2026-03-19T12:12:26.129" v="60" actId="571"/>
          <ac:spMkLst>
            <pc:docMk/>
            <pc:sldMk cId="0" sldId="278"/>
            <ac:spMk id="21" creationId="{E835E1B7-2110-C617-A16B-505D5F148223}"/>
          </ac:spMkLst>
        </pc:spChg>
        <pc:spChg chg="add mod">
          <ac:chgData name="shekhawatsoumya2@gmail.com" userId="870cf11c5f67087a" providerId="LiveId" clId="{339D5A61-6469-4D78-BDA0-4175D12DC9FE}" dt="2026-03-19T12:12:26.129" v="60" actId="571"/>
          <ac:spMkLst>
            <pc:docMk/>
            <pc:sldMk cId="0" sldId="278"/>
            <ac:spMk id="22" creationId="{169239C8-0AC6-9B67-5089-F5626E70991D}"/>
          </ac:spMkLst>
        </pc:spChg>
        <pc:picChg chg="mod">
          <ac:chgData name="shekhawatsoumya2@gmail.com" userId="870cf11c5f67087a" providerId="LiveId" clId="{339D5A61-6469-4D78-BDA0-4175D12DC9FE}" dt="2026-03-19T12:12:18.247" v="58" actId="1076"/>
          <ac:picMkLst>
            <pc:docMk/>
            <pc:sldMk cId="0" sldId="278"/>
            <ac:picMk id="4" creationId="{00000000-0000-0000-0000-000000000000}"/>
          </ac:picMkLst>
        </pc:picChg>
      </pc:sldChg>
      <pc:sldChg chg="delSp mod">
        <pc:chgData name="shekhawatsoumya2@gmail.com" userId="870cf11c5f67087a" providerId="LiveId" clId="{339D5A61-6469-4D78-BDA0-4175D12DC9FE}" dt="2026-03-19T12:13:10.943" v="64" actId="478"/>
        <pc:sldMkLst>
          <pc:docMk/>
          <pc:sldMk cId="0" sldId="280"/>
        </pc:sldMkLst>
        <pc:spChg chg="del">
          <ac:chgData name="shekhawatsoumya2@gmail.com" userId="870cf11c5f67087a" providerId="LiveId" clId="{339D5A61-6469-4D78-BDA0-4175D12DC9FE}" dt="2026-03-19T12:12:50.859" v="62" actId="478"/>
          <ac:spMkLst>
            <pc:docMk/>
            <pc:sldMk cId="0" sldId="280"/>
            <ac:spMk id="19" creationId="{00000000-0000-0000-0000-000000000000}"/>
          </ac:spMkLst>
        </pc:spChg>
        <pc:spChg chg="del">
          <ac:chgData name="shekhawatsoumya2@gmail.com" userId="870cf11c5f67087a" providerId="LiveId" clId="{339D5A61-6469-4D78-BDA0-4175D12DC9FE}" dt="2026-03-19T12:13:07.217" v="63" actId="478"/>
          <ac:spMkLst>
            <pc:docMk/>
            <pc:sldMk cId="0" sldId="280"/>
            <ac:spMk id="20" creationId="{00000000-0000-0000-0000-000000000000}"/>
          </ac:spMkLst>
        </pc:spChg>
        <pc:spChg chg="del">
          <ac:chgData name="shekhawatsoumya2@gmail.com" userId="870cf11c5f67087a" providerId="LiveId" clId="{339D5A61-6469-4D78-BDA0-4175D12DC9FE}" dt="2026-03-19T12:13:10.943" v="64" actId="478"/>
          <ac:spMkLst>
            <pc:docMk/>
            <pc:sldMk cId="0" sldId="280"/>
            <ac:spMk id="21" creationId="{00000000-0000-0000-0000-000000000000}"/>
          </ac:spMkLst>
        </pc:spChg>
        <pc:spChg chg="del">
          <ac:chgData name="shekhawatsoumya2@gmail.com" userId="870cf11c5f67087a" providerId="LiveId" clId="{339D5A61-6469-4D78-BDA0-4175D12DC9FE}" dt="2026-03-19T12:13:10.943" v="64" actId="478"/>
          <ac:spMkLst>
            <pc:docMk/>
            <pc:sldMk cId="0" sldId="280"/>
            <ac:spMk id="22" creationId="{00000000-0000-0000-0000-000000000000}"/>
          </ac:spMkLst>
        </pc:spChg>
        <pc:spChg chg="del">
          <ac:chgData name="shekhawatsoumya2@gmail.com" userId="870cf11c5f67087a" providerId="LiveId" clId="{339D5A61-6469-4D78-BDA0-4175D12DC9FE}" dt="2026-03-19T12:13:07.217" v="63" actId="478"/>
          <ac:spMkLst>
            <pc:docMk/>
            <pc:sldMk cId="0" sldId="280"/>
            <ac:spMk id="23" creationId="{00000000-0000-0000-0000-000000000000}"/>
          </ac:spMkLst>
        </pc:spChg>
        <pc:spChg chg="del">
          <ac:chgData name="shekhawatsoumya2@gmail.com" userId="870cf11c5f67087a" providerId="LiveId" clId="{339D5A61-6469-4D78-BDA0-4175D12DC9FE}" dt="2026-03-19T12:13:07.217" v="63" actId="478"/>
          <ac:spMkLst>
            <pc:docMk/>
            <pc:sldMk cId="0" sldId="280"/>
            <ac:spMk id="29" creationId="{00000000-0000-0000-0000-000000000000}"/>
          </ac:spMkLst>
        </pc:spChg>
        <pc:spChg chg="del">
          <ac:chgData name="shekhawatsoumya2@gmail.com" userId="870cf11c5f67087a" providerId="LiveId" clId="{339D5A61-6469-4D78-BDA0-4175D12DC9FE}" dt="2026-03-19T12:13:07.217" v="63" actId="478"/>
          <ac:spMkLst>
            <pc:docMk/>
            <pc:sldMk cId="0" sldId="280"/>
            <ac:spMk id="30" creationId="{00000000-0000-0000-0000-000000000000}"/>
          </ac:spMkLst>
        </pc:spChg>
        <pc:spChg chg="del">
          <ac:chgData name="shekhawatsoumya2@gmail.com" userId="870cf11c5f67087a" providerId="LiveId" clId="{339D5A61-6469-4D78-BDA0-4175D12DC9FE}" dt="2026-03-19T12:13:07.217" v="63" actId="478"/>
          <ac:spMkLst>
            <pc:docMk/>
            <pc:sldMk cId="0" sldId="280"/>
            <ac:spMk id="32" creationId="{00000000-0000-0000-0000-000000000000}"/>
          </ac:spMkLst>
        </pc:spChg>
        <pc:spChg chg="del">
          <ac:chgData name="shekhawatsoumya2@gmail.com" userId="870cf11c5f67087a" providerId="LiveId" clId="{339D5A61-6469-4D78-BDA0-4175D12DC9FE}" dt="2026-03-19T12:13:07.217" v="63" actId="478"/>
          <ac:spMkLst>
            <pc:docMk/>
            <pc:sldMk cId="0" sldId="280"/>
            <ac:spMk id="33" creationId="{00000000-0000-0000-0000-000000000000}"/>
          </ac:spMkLst>
        </pc:spChg>
        <pc:spChg chg="del">
          <ac:chgData name="shekhawatsoumya2@gmail.com" userId="870cf11c5f67087a" providerId="LiveId" clId="{339D5A61-6469-4D78-BDA0-4175D12DC9FE}" dt="2026-03-19T12:13:07.217" v="63" actId="478"/>
          <ac:spMkLst>
            <pc:docMk/>
            <pc:sldMk cId="0" sldId="280"/>
            <ac:spMk id="36" creationId="{00000000-0000-0000-0000-000000000000}"/>
          </ac:spMkLst>
        </pc:spChg>
        <pc:spChg chg="del">
          <ac:chgData name="shekhawatsoumya2@gmail.com" userId="870cf11c5f67087a" providerId="LiveId" clId="{339D5A61-6469-4D78-BDA0-4175D12DC9FE}" dt="2026-03-19T12:13:07.217" v="63" actId="478"/>
          <ac:spMkLst>
            <pc:docMk/>
            <pc:sldMk cId="0" sldId="280"/>
            <ac:spMk id="38" creationId="{00000000-0000-0000-0000-000000000000}"/>
          </ac:spMkLst>
        </pc:spChg>
        <pc:spChg chg="del">
          <ac:chgData name="shekhawatsoumya2@gmail.com" userId="870cf11c5f67087a" providerId="LiveId" clId="{339D5A61-6469-4D78-BDA0-4175D12DC9FE}" dt="2026-03-19T12:13:07.217" v="63" actId="478"/>
          <ac:spMkLst>
            <pc:docMk/>
            <pc:sldMk cId="0" sldId="280"/>
            <ac:spMk id="40" creationId="{00000000-0000-0000-0000-000000000000}"/>
          </ac:spMkLst>
        </pc:spChg>
        <pc:spChg chg="del">
          <ac:chgData name="shekhawatsoumya2@gmail.com" userId="870cf11c5f67087a" providerId="LiveId" clId="{339D5A61-6469-4D78-BDA0-4175D12DC9FE}" dt="2026-03-19T12:13:07.217" v="63" actId="478"/>
          <ac:spMkLst>
            <pc:docMk/>
            <pc:sldMk cId="0" sldId="280"/>
            <ac:spMk id="41" creationId="{00000000-0000-0000-0000-000000000000}"/>
          </ac:spMkLst>
        </pc:spChg>
      </pc:sldChg>
      <pc:sldChg chg="delSp mod">
        <pc:chgData name="shekhawatsoumya2@gmail.com" userId="870cf11c5f67087a" providerId="LiveId" clId="{339D5A61-6469-4D78-BDA0-4175D12DC9FE}" dt="2026-03-19T12:13:21.693" v="65" actId="478"/>
        <pc:sldMkLst>
          <pc:docMk/>
          <pc:sldMk cId="0" sldId="283"/>
        </pc:sldMkLst>
        <pc:spChg chg="del">
          <ac:chgData name="shekhawatsoumya2@gmail.com" userId="870cf11c5f67087a" providerId="LiveId" clId="{339D5A61-6469-4D78-BDA0-4175D12DC9FE}" dt="2026-03-19T12:13:21.693" v="65" actId="478"/>
          <ac:spMkLst>
            <pc:docMk/>
            <pc:sldMk cId="0" sldId="283"/>
            <ac:spMk id="38" creationId="{00000000-0000-0000-0000-000000000000}"/>
          </ac:spMkLst>
        </pc:spChg>
        <pc:spChg chg="del">
          <ac:chgData name="shekhawatsoumya2@gmail.com" userId="870cf11c5f67087a" providerId="LiveId" clId="{339D5A61-6469-4D78-BDA0-4175D12DC9FE}" dt="2026-03-19T12:13:21.693" v="65" actId="478"/>
          <ac:spMkLst>
            <pc:docMk/>
            <pc:sldMk cId="0" sldId="283"/>
            <ac:spMk id="39"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300" b="0" i="0" u="none" strike="noStrike">
                <a:solidFill>
                  <a:srgbClr val="0B2545"/>
                </a:solidFill>
                <a:latin typeface="Arial"/>
              </a:defRPr>
            </a:pPr>
            <a:r>
              <a:rPr lang="en-US" sz="1300" b="0" i="0" u="none" strike="noStrike">
                <a:solidFill>
                  <a:srgbClr val="0B2545"/>
                </a:solidFill>
                <a:latin typeface="Arial"/>
              </a:rPr>
              <a:t>Average Flood Risk Index by Soil Type</a:t>
            </a:r>
          </a:p>
        </c:rich>
      </c:tx>
      <c:overlay val="0"/>
    </c:title>
    <c:autoTitleDeleted val="0"/>
    <c:plotArea>
      <c:layout/>
      <c:barChart>
        <c:barDir val="col"/>
        <c:grouping val="clustered"/>
        <c:varyColors val="0"/>
        <c:ser>
          <c:idx val="0"/>
          <c:order val="0"/>
          <c:tx>
            <c:strRef>
              <c:f>Sheet1!$B$1</c:f>
              <c:strCache>
                <c:ptCount val="1"/>
                <c:pt idx="0">
                  <c:v>Average Flood Risk Index</c:v>
                </c:pt>
              </c:strCache>
            </c:strRef>
          </c:tx>
          <c:spPr>
            <a:solidFill>
              <a:srgbClr val="1363DF"/>
            </a:solidFill>
            <a:effectLst/>
          </c:spPr>
          <c:invertIfNegative val="0"/>
          <c:dLbls>
            <c:numFmt formatCode="#,##0" sourceLinked="0"/>
            <c:spPr>
              <a:noFill/>
              <a:ln>
                <a:noFill/>
              </a:ln>
              <a:effectLst/>
            </c:spPr>
            <c:txPr>
              <a:bodyPr/>
              <a:lstStyle/>
              <a:p>
                <a:pPr>
                  <a:defRPr sz="900" b="0"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Acrisols</c:v>
                </c:pt>
                <c:pt idx="1">
                  <c:v>Cambisols</c:v>
                </c:pt>
                <c:pt idx="2">
                  <c:v>Fluvisols</c:v>
                </c:pt>
                <c:pt idx="3">
                  <c:v>Leptosols</c:v>
                </c:pt>
                <c:pt idx="4">
                  <c:v>Lixisols</c:v>
                </c:pt>
                <c:pt idx="5">
                  <c:v>Luvisols</c:v>
                </c:pt>
                <c:pt idx="6">
                  <c:v>No Dom.</c:v>
                </c:pt>
                <c:pt idx="7">
                  <c:v>Vertisols</c:v>
                </c:pt>
              </c:strCache>
            </c:strRef>
          </c:cat>
          <c:val>
            <c:numRef>
              <c:f>Sheet1!$B$2:$B$9</c:f>
              <c:numCache>
                <c:formatCode>General</c:formatCode>
                <c:ptCount val="8"/>
                <c:pt idx="0">
                  <c:v>5.0000000000000004E-6</c:v>
                </c:pt>
                <c:pt idx="1">
                  <c:v>6.0000000000000002E-6</c:v>
                </c:pt>
                <c:pt idx="2">
                  <c:v>0</c:v>
                </c:pt>
                <c:pt idx="3">
                  <c:v>3.0000000000000001E-6</c:v>
                </c:pt>
                <c:pt idx="4">
                  <c:v>9.9999999999999995E-7</c:v>
                </c:pt>
                <c:pt idx="5">
                  <c:v>1.9999999999999999E-6</c:v>
                </c:pt>
                <c:pt idx="6">
                  <c:v>3.0000000000000001E-6</c:v>
                </c:pt>
                <c:pt idx="7">
                  <c:v>9.9999999999999995E-7</c:v>
                </c:pt>
              </c:numCache>
            </c:numRef>
          </c:val>
          <c:extLst>
            <c:ext xmlns:c16="http://schemas.microsoft.com/office/drawing/2014/chart" uri="{C3380CC4-5D6E-409C-BE32-E72D297353CC}">
              <c16:uniqueId val="{00000000-ADFA-469E-B8B6-DB080DC062E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254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BD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7FB"/>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Arial"/>
              </a:defRPr>
            </a:pPr>
            <a:r>
              <a:rPr lang="en-US" sz="1300" b="0" i="0" u="none" strike="noStrike">
                <a:solidFill>
                  <a:srgbClr val="0B2545"/>
                </a:solidFill>
                <a:latin typeface="Arial"/>
              </a:rPr>
              <a:t>Count of Catchments by Population Risk Level</a:t>
            </a:r>
          </a:p>
        </c:rich>
      </c:tx>
      <c:overlay val="0"/>
    </c:title>
    <c:autoTitleDeleted val="0"/>
    <c:plotArea>
      <c:layout/>
      <c:pieChart>
        <c:varyColors val="1"/>
        <c:ser>
          <c:idx val="0"/>
          <c:order val="0"/>
          <c:tx>
            <c:strRef>
              <c:f>Sheet1!$B$1</c:f>
              <c:strCache>
                <c:ptCount val="1"/>
                <c:pt idx="0">
                  <c:v>Population Risk Level</c:v>
                </c:pt>
              </c:strCache>
            </c:strRef>
          </c:tx>
          <c:spPr>
            <a:solidFill>
              <a:schemeClr val="accent1"/>
            </a:solidFill>
            <a:ln w="9525" cap="flat">
              <a:solidFill>
                <a:srgbClr val="F9F9F9"/>
              </a:solidFill>
              <a:prstDash val="solid"/>
              <a:round/>
            </a:ln>
            <a:effectLst/>
          </c:spPr>
          <c:dPt>
            <c:idx val="0"/>
            <c:bubble3D val="0"/>
            <c:spPr>
              <a:solidFill>
                <a:srgbClr val="0D7377"/>
              </a:solidFill>
              <a:effectLst/>
            </c:spPr>
            <c:extLst>
              <c:ext xmlns:c16="http://schemas.microsoft.com/office/drawing/2014/chart" uri="{C3380CC4-5D6E-409C-BE32-E72D297353CC}">
                <c16:uniqueId val="{00000001-9235-49CB-8619-BABF38E10E5F}"/>
              </c:ext>
            </c:extLst>
          </c:dPt>
          <c:dPt>
            <c:idx val="1"/>
            <c:bubble3D val="0"/>
            <c:spPr>
              <a:solidFill>
                <a:srgbClr val="E63946"/>
              </a:solidFill>
              <a:effectLst/>
            </c:spPr>
            <c:extLst>
              <c:ext xmlns:c16="http://schemas.microsoft.com/office/drawing/2014/chart" uri="{C3380CC4-5D6E-409C-BE32-E72D297353CC}">
                <c16:uniqueId val="{00000003-9235-49CB-8619-BABF38E10E5F}"/>
              </c:ext>
            </c:extLst>
          </c:dPt>
          <c:dPt>
            <c:idx val="2"/>
            <c:bubble3D val="0"/>
            <c:spPr>
              <a:solidFill>
                <a:srgbClr val="F4A261"/>
              </a:solidFill>
              <a:effectLst/>
            </c:spPr>
            <c:extLst>
              <c:ext xmlns:c16="http://schemas.microsoft.com/office/drawing/2014/chart" uri="{C3380CC4-5D6E-409C-BE32-E72D297353CC}">
                <c16:uniqueId val="{00000005-9235-49CB-8619-BABF38E10E5F}"/>
              </c:ext>
            </c:extLst>
          </c:dPt>
          <c:dLbls>
            <c:dLbl>
              <c:idx val="0"/>
              <c:numFmt formatCode="0%" sourceLinked="0"/>
              <c:spPr/>
              <c:txPr>
                <a:bodyPr/>
                <a:lstStyle/>
                <a:p>
                  <a:pPr>
                    <a:defRPr sz="14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235-49CB-8619-BABF38E10E5F}"/>
                </c:ext>
              </c:extLst>
            </c:dLbl>
            <c:dLbl>
              <c:idx val="1"/>
              <c:numFmt formatCode="0%" sourceLinked="0"/>
              <c:spPr/>
              <c:txPr>
                <a:bodyPr/>
                <a:lstStyle/>
                <a:p>
                  <a:pPr>
                    <a:defRPr sz="14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235-49CB-8619-BABF38E10E5F}"/>
                </c:ext>
              </c:extLst>
            </c:dLbl>
            <c:dLbl>
              <c:idx val="2"/>
              <c:numFmt formatCode="0%" sourceLinked="0"/>
              <c:spPr/>
              <c:txPr>
                <a:bodyPr/>
                <a:lstStyle/>
                <a:p>
                  <a:pPr>
                    <a:defRPr sz="14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235-49CB-8619-BABF38E10E5F}"/>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Low (93)</c:v>
                </c:pt>
                <c:pt idx="1">
                  <c:v>High (33)</c:v>
                </c:pt>
                <c:pt idx="2">
                  <c:v>Medium (29)</c:v>
                </c:pt>
              </c:strCache>
            </c:strRef>
          </c:cat>
          <c:val>
            <c:numRef>
              <c:f>Sheet1!$B$2:$B$4</c:f>
              <c:numCache>
                <c:formatCode>General</c:formatCode>
                <c:ptCount val="3"/>
                <c:pt idx="0">
                  <c:v>93</c:v>
                </c:pt>
                <c:pt idx="1">
                  <c:v>33</c:v>
                </c:pt>
                <c:pt idx="2">
                  <c:v>29</c:v>
                </c:pt>
              </c:numCache>
            </c:numRef>
          </c:val>
          <c:extLst>
            <c:ext xmlns:c16="http://schemas.microsoft.com/office/drawing/2014/chart" uri="{C3380CC4-5D6E-409C-BE32-E72D297353CC}">
              <c16:uniqueId val="{00000006-9235-49CB-8619-BABF38E10E5F}"/>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100"/>
          </a:pPr>
          <a:endParaRPr lang="en-US"/>
        </a:p>
      </c:txPr>
    </c:legend>
    <c:plotVisOnly val="1"/>
    <c:dispBlanksAs val="span"/>
    <c:showDLblsOverMax val="1"/>
  </c:chart>
  <c:spPr>
    <a:solidFill>
      <a:srgbClr val="F4F7FB"/>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Arial"/>
              </a:defRPr>
            </a:pPr>
            <a:r>
              <a:rPr lang="en-US" sz="1300" b="0" i="0" u="none" strike="noStrike">
                <a:solidFill>
                  <a:srgbClr val="0B2545"/>
                </a:solidFill>
                <a:latin typeface="Arial"/>
              </a:rPr>
              <a:t>Avg Drainage Density by Land Cover Type</a:t>
            </a:r>
          </a:p>
        </c:rich>
      </c:tx>
      <c:overlay val="0"/>
    </c:title>
    <c:autoTitleDeleted val="0"/>
    <c:plotArea>
      <c:layout/>
      <c:barChart>
        <c:barDir val="col"/>
        <c:grouping val="clustered"/>
        <c:varyColors val="0"/>
        <c:ser>
          <c:idx val="0"/>
          <c:order val="0"/>
          <c:tx>
            <c:strRef>
              <c:f>Sheet1!$B$1</c:f>
              <c:strCache>
                <c:ptCount val="1"/>
                <c:pt idx="0">
                  <c:v>Average Drainage Density</c:v>
                </c:pt>
              </c:strCache>
            </c:strRef>
          </c:tx>
          <c:spPr>
            <a:solidFill>
              <a:srgbClr val="0D7377"/>
            </a:solidFill>
            <a:effectLst/>
          </c:spPr>
          <c:invertIfNegative val="0"/>
          <c:dLbls>
            <c:numFmt formatCode="#,##0" sourceLinked="0"/>
            <c:spPr>
              <a:noFill/>
              <a:ln>
                <a:noFill/>
              </a:ln>
              <a:effectLst/>
            </c:spPr>
            <c:txPr>
              <a:bodyPr/>
              <a:lstStyle/>
              <a:p>
                <a:pPr>
                  <a:defRPr sz="900" b="0"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Cropland</c:v>
                </c:pt>
                <c:pt idx="1">
                  <c:v>No Dominant
Class</c:v>
                </c:pt>
                <c:pt idx="2">
                  <c:v>Forest</c:v>
                </c:pt>
                <c:pt idx="3">
                  <c:v>Mosaic
Vegetation</c:v>
                </c:pt>
              </c:strCache>
            </c:strRef>
          </c:cat>
          <c:val>
            <c:numRef>
              <c:f>Sheet1!$B$2:$B$5</c:f>
              <c:numCache>
                <c:formatCode>General</c:formatCode>
                <c:ptCount val="4"/>
                <c:pt idx="0">
                  <c:v>1.6200000000000001E-4</c:v>
                </c:pt>
                <c:pt idx="1">
                  <c:v>1.5300000000000001E-4</c:v>
                </c:pt>
                <c:pt idx="2">
                  <c:v>1.5100000000000001E-4</c:v>
                </c:pt>
                <c:pt idx="3">
                  <c:v>1.4899999999999999E-4</c:v>
                </c:pt>
              </c:numCache>
            </c:numRef>
          </c:val>
          <c:extLst>
            <c:ext xmlns:c16="http://schemas.microsoft.com/office/drawing/2014/chart" uri="{C3380CC4-5D6E-409C-BE32-E72D297353CC}">
              <c16:uniqueId val="{00000000-CE9C-42F9-8912-E7A987E4E7C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254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BD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7FB"/>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545"/>
                </a:solidFill>
                <a:latin typeface="Arial"/>
              </a:defRPr>
            </a:pPr>
            <a:r>
              <a:rPr lang="en-US" sz="1300" b="0" i="0" u="none" strike="noStrike">
                <a:solidFill>
                  <a:srgbClr val="0B2545"/>
                </a:solidFill>
                <a:latin typeface="Arial"/>
              </a:rPr>
              <a:t>Avg Flood Risk Index: Small vs Medium vs Large Basins</a:t>
            </a:r>
          </a:p>
        </c:rich>
      </c:tx>
      <c:overlay val="0"/>
    </c:title>
    <c:autoTitleDeleted val="0"/>
    <c:plotArea>
      <c:layout/>
      <c:barChart>
        <c:barDir val="bar"/>
        <c:grouping val="clustered"/>
        <c:varyColors val="0"/>
        <c:ser>
          <c:idx val="0"/>
          <c:order val="0"/>
          <c:tx>
            <c:strRef>
              <c:f>Sheet1!$B$1</c:f>
              <c:strCache>
                <c:ptCount val="1"/>
                <c:pt idx="0">
                  <c:v>Average Flood Risk Index</c:v>
                </c:pt>
              </c:strCache>
            </c:strRef>
          </c:tx>
          <c:spPr>
            <a:solidFill>
              <a:srgbClr val="1363DF"/>
            </a:solidFill>
            <a:effectLst/>
          </c:spPr>
          <c:invertIfNegative val="0"/>
          <c:dPt>
            <c:idx val="0"/>
            <c:invertIfNegative val="0"/>
            <c:bubble3D val="0"/>
            <c:extLst>
              <c:ext xmlns:c16="http://schemas.microsoft.com/office/drawing/2014/chart" uri="{C3380CC4-5D6E-409C-BE32-E72D297353CC}">
                <c16:uniqueId val="{00000001-F028-44B4-8D79-C5C739C17855}"/>
              </c:ext>
            </c:extLst>
          </c:dPt>
          <c:dPt>
            <c:idx val="1"/>
            <c:invertIfNegative val="0"/>
            <c:bubble3D val="0"/>
            <c:spPr>
              <a:solidFill>
                <a:srgbClr val="0D7377"/>
              </a:solidFill>
              <a:effectLst/>
            </c:spPr>
            <c:extLst>
              <c:ext xmlns:c16="http://schemas.microsoft.com/office/drawing/2014/chart" uri="{C3380CC4-5D6E-409C-BE32-E72D297353CC}">
                <c16:uniqueId val="{00000003-F028-44B4-8D79-C5C739C17855}"/>
              </c:ext>
            </c:extLst>
          </c:dPt>
          <c:dPt>
            <c:idx val="2"/>
            <c:invertIfNegative val="0"/>
            <c:bubble3D val="0"/>
            <c:spPr>
              <a:solidFill>
                <a:srgbClr val="64748B"/>
              </a:solidFill>
              <a:effectLst/>
            </c:spPr>
            <c:extLst>
              <c:ext xmlns:c16="http://schemas.microsoft.com/office/drawing/2014/chart" uri="{C3380CC4-5D6E-409C-BE32-E72D297353CC}">
                <c16:uniqueId val="{00000005-F028-44B4-8D79-C5C739C17855}"/>
              </c:ext>
            </c:extLst>
          </c:dPt>
          <c:dLbls>
            <c:numFmt formatCode="#,##0" sourceLinked="0"/>
            <c:spPr>
              <a:noFill/>
              <a:ln>
                <a:noFill/>
              </a:ln>
              <a:effectLst/>
            </c:spPr>
            <c:txPr>
              <a:bodyPr/>
              <a:lstStyle/>
              <a:p>
                <a:pPr>
                  <a:defRPr sz="1100" b="0" i="0" u="none" strike="noStrike">
                    <a:solidFill>
                      <a:srgbClr val="0B254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Small</c:v>
                </c:pt>
                <c:pt idx="1">
                  <c:v>Medium</c:v>
                </c:pt>
                <c:pt idx="2">
                  <c:v>Large</c:v>
                </c:pt>
              </c:strCache>
            </c:strRef>
          </c:cat>
          <c:val>
            <c:numRef>
              <c:f>Sheet1!$B$2:$B$4</c:f>
              <c:numCache>
                <c:formatCode>General</c:formatCode>
                <c:ptCount val="3"/>
                <c:pt idx="0">
                  <c:v>3.9999999999999998E-6</c:v>
                </c:pt>
                <c:pt idx="1">
                  <c:v>9.9999999999999995E-7</c:v>
                </c:pt>
                <c:pt idx="2">
                  <c:v>0</c:v>
                </c:pt>
              </c:numCache>
            </c:numRef>
          </c:val>
          <c:extLst>
            <c:ext xmlns:c16="http://schemas.microsoft.com/office/drawing/2014/chart" uri="{C3380CC4-5D6E-409C-BE32-E72D297353CC}">
              <c16:uniqueId val="{00000006-F028-44B4-8D79-C5C739C1785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254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CBD5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7FB"/>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2545"/>
                </a:solidFill>
                <a:latin typeface="Arial"/>
              </a:defRPr>
            </a:pPr>
            <a:r>
              <a:rPr lang="it-IT" sz="1200" b="0" i="0" u="none" strike="noStrike">
                <a:solidFill>
                  <a:srgbClr val="0B2545"/>
                </a:solidFill>
                <a:latin typeface="Arial"/>
              </a:rPr>
              <a:t>Avg GDP Per Capita (PPP) Trend by Climate Zone</a:t>
            </a:r>
          </a:p>
        </c:rich>
      </c:tx>
      <c:overlay val="0"/>
    </c:title>
    <c:autoTitleDeleted val="0"/>
    <c:plotArea>
      <c:layout/>
      <c:lineChart>
        <c:grouping val="standard"/>
        <c:varyColors val="0"/>
        <c:ser>
          <c:idx val="0"/>
          <c:order val="0"/>
          <c:tx>
            <c:strRef>
              <c:f>Sheet1!$B$1</c:f>
              <c:strCache>
                <c:ptCount val="1"/>
                <c:pt idx="0">
                  <c:v>Tropical Catchments (Avg)</c:v>
                </c:pt>
              </c:strCache>
            </c:strRef>
          </c:tx>
          <c:spPr>
            <a:ln w="38100" cap="flat">
              <a:solidFill>
                <a:srgbClr val="1363DF"/>
              </a:solidFill>
              <a:prstDash val="solid"/>
              <a:round/>
            </a:ln>
            <a:effectLst/>
          </c:spPr>
          <c:marker>
            <c:symbol val="circle"/>
            <c:size val="6"/>
            <c:spPr>
              <a:solidFill>
                <a:srgbClr val="1363DF"/>
              </a:solidFill>
              <a:ln w="9525" cap="flat">
                <a:solidFill>
                  <a:srgbClr val="1363DF"/>
                </a:solidFill>
                <a:prstDash val="solid"/>
                <a:round/>
              </a:ln>
              <a:effectLst/>
            </c:spPr>
          </c:marker>
          <c:cat>
            <c:strRef>
              <c:f>Sheet1!$A$2:$A$7</c:f>
              <c:strCache>
                <c:ptCount val="6"/>
                <c:pt idx="0">
                  <c:v>1990</c:v>
                </c:pt>
                <c:pt idx="1">
                  <c:v>1995</c:v>
                </c:pt>
                <c:pt idx="2">
                  <c:v>2000</c:v>
                </c:pt>
                <c:pt idx="3">
                  <c:v>2005</c:v>
                </c:pt>
                <c:pt idx="4">
                  <c:v>2010</c:v>
                </c:pt>
                <c:pt idx="5">
                  <c:v>2015</c:v>
                </c:pt>
              </c:strCache>
            </c:strRef>
          </c:cat>
          <c:val>
            <c:numRef>
              <c:f>Sheet1!$B$2:$B$7</c:f>
              <c:numCache>
                <c:formatCode>General</c:formatCode>
                <c:ptCount val="6"/>
                <c:pt idx="0">
                  <c:v>1800</c:v>
                </c:pt>
                <c:pt idx="1">
                  <c:v>2100</c:v>
                </c:pt>
                <c:pt idx="2">
                  <c:v>2300</c:v>
                </c:pt>
                <c:pt idx="3">
                  <c:v>2900</c:v>
                </c:pt>
                <c:pt idx="4">
                  <c:v>3800</c:v>
                </c:pt>
                <c:pt idx="5">
                  <c:v>4900</c:v>
                </c:pt>
              </c:numCache>
            </c:numRef>
          </c:val>
          <c:smooth val="1"/>
          <c:extLst>
            <c:ext xmlns:c16="http://schemas.microsoft.com/office/drawing/2014/chart" uri="{C3380CC4-5D6E-409C-BE32-E72D297353CC}">
              <c16:uniqueId val="{00000000-3E57-42D8-B983-3BE6CB78A0A8}"/>
            </c:ext>
          </c:extLst>
        </c:ser>
        <c:ser>
          <c:idx val="1"/>
          <c:order val="1"/>
          <c:tx>
            <c:strRef>
              <c:f>Sheet1!$C$1</c:f>
              <c:strCache>
                <c:ptCount val="1"/>
                <c:pt idx="0">
                  <c:v>Temperate Catchments (Avg)</c:v>
                </c:pt>
              </c:strCache>
            </c:strRef>
          </c:tx>
          <c:spPr>
            <a:ln w="38100" cap="flat">
              <a:solidFill>
                <a:srgbClr val="0D7377"/>
              </a:solidFill>
              <a:prstDash val="solid"/>
              <a:round/>
            </a:ln>
            <a:effectLst/>
          </c:spPr>
          <c:marker>
            <c:symbol val="circle"/>
            <c:size val="6"/>
            <c:spPr>
              <a:solidFill>
                <a:srgbClr val="0D7377"/>
              </a:solidFill>
              <a:ln w="9525" cap="flat">
                <a:solidFill>
                  <a:srgbClr val="0D7377"/>
                </a:solidFill>
                <a:prstDash val="solid"/>
                <a:round/>
              </a:ln>
              <a:effectLst/>
            </c:spPr>
          </c:marker>
          <c:cat>
            <c:strRef>
              <c:f>Sheet1!$A$2:$A$7</c:f>
              <c:strCache>
                <c:ptCount val="6"/>
                <c:pt idx="0">
                  <c:v>1990</c:v>
                </c:pt>
                <c:pt idx="1">
                  <c:v>1995</c:v>
                </c:pt>
                <c:pt idx="2">
                  <c:v>2000</c:v>
                </c:pt>
                <c:pt idx="3">
                  <c:v>2005</c:v>
                </c:pt>
                <c:pt idx="4">
                  <c:v>2010</c:v>
                </c:pt>
                <c:pt idx="5">
                  <c:v>2015</c:v>
                </c:pt>
              </c:strCache>
            </c:strRef>
          </c:cat>
          <c:val>
            <c:numRef>
              <c:f>Sheet1!$C$2:$C$7</c:f>
              <c:numCache>
                <c:formatCode>General</c:formatCode>
                <c:ptCount val="6"/>
                <c:pt idx="0">
                  <c:v>2100</c:v>
                </c:pt>
                <c:pt idx="1">
                  <c:v>2600</c:v>
                </c:pt>
                <c:pt idx="2">
                  <c:v>3200</c:v>
                </c:pt>
                <c:pt idx="3">
                  <c:v>4100</c:v>
                </c:pt>
                <c:pt idx="4">
                  <c:v>5400</c:v>
                </c:pt>
                <c:pt idx="5">
                  <c:v>7000</c:v>
                </c:pt>
              </c:numCache>
            </c:numRef>
          </c:val>
          <c:smooth val="1"/>
          <c:extLst>
            <c:ext xmlns:c16="http://schemas.microsoft.com/office/drawing/2014/chart" uri="{C3380CC4-5D6E-409C-BE32-E72D297353CC}">
              <c16:uniqueId val="{00000001-3E57-42D8-B983-3BE6CB78A0A8}"/>
            </c:ext>
          </c:extLst>
        </c:ser>
        <c:ser>
          <c:idx val="2"/>
          <c:order val="2"/>
          <c:tx>
            <c:strRef>
              <c:f>Sheet1!$D$1</c:f>
              <c:strCache>
                <c:ptCount val="1"/>
                <c:pt idx="0">
                  <c:v>Arid Catchments (Avg)</c:v>
                </c:pt>
              </c:strCache>
            </c:strRef>
          </c:tx>
          <c:spPr>
            <a:ln w="38100" cap="flat">
              <a:solidFill>
                <a:srgbClr val="E63946"/>
              </a:solidFill>
              <a:prstDash val="solid"/>
              <a:round/>
            </a:ln>
            <a:effectLst/>
          </c:spPr>
          <c:marker>
            <c:symbol val="circle"/>
            <c:size val="6"/>
            <c:spPr>
              <a:solidFill>
                <a:srgbClr val="E63946"/>
              </a:solidFill>
              <a:ln w="9525" cap="flat">
                <a:solidFill>
                  <a:srgbClr val="E63946"/>
                </a:solidFill>
                <a:prstDash val="solid"/>
                <a:round/>
              </a:ln>
              <a:effectLst/>
            </c:spPr>
          </c:marker>
          <c:cat>
            <c:strRef>
              <c:f>Sheet1!$A$2:$A$7</c:f>
              <c:strCache>
                <c:ptCount val="6"/>
                <c:pt idx="0">
                  <c:v>1990</c:v>
                </c:pt>
                <c:pt idx="1">
                  <c:v>1995</c:v>
                </c:pt>
                <c:pt idx="2">
                  <c:v>2000</c:v>
                </c:pt>
                <c:pt idx="3">
                  <c:v>2005</c:v>
                </c:pt>
                <c:pt idx="4">
                  <c:v>2010</c:v>
                </c:pt>
                <c:pt idx="5">
                  <c:v>2015</c:v>
                </c:pt>
              </c:strCache>
            </c:strRef>
          </c:cat>
          <c:val>
            <c:numRef>
              <c:f>Sheet1!$D$2:$D$7</c:f>
              <c:numCache>
                <c:formatCode>General</c:formatCode>
                <c:ptCount val="6"/>
                <c:pt idx="0">
                  <c:v>2500</c:v>
                </c:pt>
                <c:pt idx="1">
                  <c:v>3100</c:v>
                </c:pt>
                <c:pt idx="2">
                  <c:v>3700</c:v>
                </c:pt>
                <c:pt idx="3">
                  <c:v>4800</c:v>
                </c:pt>
                <c:pt idx="4">
                  <c:v>6200</c:v>
                </c:pt>
                <c:pt idx="5">
                  <c:v>7900</c:v>
                </c:pt>
              </c:numCache>
            </c:numRef>
          </c:val>
          <c:smooth val="1"/>
          <c:extLst>
            <c:ext xmlns:c16="http://schemas.microsoft.com/office/drawing/2014/chart" uri="{C3380CC4-5D6E-409C-BE32-E72D297353CC}">
              <c16:uniqueId val="{00000002-3E57-42D8-B983-3BE6CB78A0A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254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BD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4F7FB"/>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2545"/>
                </a:solidFill>
                <a:latin typeface="Arial"/>
              </a:defRPr>
            </a:pPr>
            <a:r>
              <a:rPr lang="en-US" sz="1200" b="0" i="0" u="none" strike="noStrike">
                <a:solidFill>
                  <a:srgbClr val="0B2545"/>
                </a:solidFill>
                <a:latin typeface="Arial"/>
              </a:rPr>
              <a:t>Avg FRI by Soil Type — Clustered by Basin Size</a:t>
            </a:r>
          </a:p>
        </c:rich>
      </c:tx>
      <c:overlay val="0"/>
    </c:title>
    <c:autoTitleDeleted val="0"/>
    <c:plotArea>
      <c:layout/>
      <c:barChart>
        <c:barDir val="col"/>
        <c:grouping val="clustered"/>
        <c:varyColors val="0"/>
        <c:ser>
          <c:idx val="0"/>
          <c:order val="0"/>
          <c:tx>
            <c:strRef>
              <c:f>Sheet1!$B$1</c:f>
              <c:strCache>
                <c:ptCount val="1"/>
                <c:pt idx="0">
                  <c:v>Small Basin</c:v>
                </c:pt>
              </c:strCache>
            </c:strRef>
          </c:tx>
          <c:spPr>
            <a:solidFill>
              <a:srgbClr val="1363DF"/>
            </a:solidFill>
            <a:effectLst/>
          </c:spPr>
          <c:invertIfNegative val="0"/>
          <c:cat>
            <c:strRef>
              <c:f>Sheet1!$A$2:$A$6</c:f>
              <c:strCache>
                <c:ptCount val="5"/>
                <c:pt idx="0">
                  <c:v>Acrisols</c:v>
                </c:pt>
                <c:pt idx="1">
                  <c:v>Cambisols</c:v>
                </c:pt>
                <c:pt idx="2">
                  <c:v>Leptosols</c:v>
                </c:pt>
                <c:pt idx="3">
                  <c:v>Luvisols</c:v>
                </c:pt>
                <c:pt idx="4">
                  <c:v>Vertisols</c:v>
                </c:pt>
              </c:strCache>
            </c:strRef>
          </c:cat>
          <c:val>
            <c:numRef>
              <c:f>Sheet1!$B$2:$B$6</c:f>
              <c:numCache>
                <c:formatCode>General</c:formatCode>
                <c:ptCount val="5"/>
                <c:pt idx="0">
                  <c:v>5.4999999999999999E-6</c:v>
                </c:pt>
                <c:pt idx="1">
                  <c:v>6.4999999999999996E-6</c:v>
                </c:pt>
                <c:pt idx="2">
                  <c:v>3.8E-6</c:v>
                </c:pt>
                <c:pt idx="3">
                  <c:v>2.2000000000000001E-6</c:v>
                </c:pt>
                <c:pt idx="4">
                  <c:v>1.1999999999999999E-6</c:v>
                </c:pt>
              </c:numCache>
            </c:numRef>
          </c:val>
          <c:extLst>
            <c:ext xmlns:c16="http://schemas.microsoft.com/office/drawing/2014/chart" uri="{C3380CC4-5D6E-409C-BE32-E72D297353CC}">
              <c16:uniqueId val="{00000000-42DD-4AB7-971F-46B16B728E59}"/>
            </c:ext>
          </c:extLst>
        </c:ser>
        <c:ser>
          <c:idx val="1"/>
          <c:order val="1"/>
          <c:tx>
            <c:strRef>
              <c:f>Sheet1!$C$1</c:f>
              <c:strCache>
                <c:ptCount val="1"/>
                <c:pt idx="0">
                  <c:v>Medium Basin</c:v>
                </c:pt>
              </c:strCache>
            </c:strRef>
          </c:tx>
          <c:spPr>
            <a:solidFill>
              <a:srgbClr val="0D7377"/>
            </a:solidFill>
            <a:effectLst/>
          </c:spPr>
          <c:invertIfNegative val="0"/>
          <c:cat>
            <c:strRef>
              <c:f>Sheet1!$A$2:$A$6</c:f>
              <c:strCache>
                <c:ptCount val="5"/>
                <c:pt idx="0">
                  <c:v>Acrisols</c:v>
                </c:pt>
                <c:pt idx="1">
                  <c:v>Cambisols</c:v>
                </c:pt>
                <c:pt idx="2">
                  <c:v>Leptosols</c:v>
                </c:pt>
                <c:pt idx="3">
                  <c:v>Luvisols</c:v>
                </c:pt>
                <c:pt idx="4">
                  <c:v>Vertisols</c:v>
                </c:pt>
              </c:strCache>
            </c:strRef>
          </c:cat>
          <c:val>
            <c:numRef>
              <c:f>Sheet1!$C$2:$C$6</c:f>
              <c:numCache>
                <c:formatCode>General</c:formatCode>
                <c:ptCount val="5"/>
                <c:pt idx="0">
                  <c:v>1.5E-6</c:v>
                </c:pt>
                <c:pt idx="1">
                  <c:v>1.7999999999999999E-6</c:v>
                </c:pt>
                <c:pt idx="2">
                  <c:v>9.9999999999999995E-7</c:v>
                </c:pt>
                <c:pt idx="3">
                  <c:v>7.9999999999999996E-7</c:v>
                </c:pt>
                <c:pt idx="4">
                  <c:v>4.9999999999999998E-7</c:v>
                </c:pt>
              </c:numCache>
            </c:numRef>
          </c:val>
          <c:extLst>
            <c:ext xmlns:c16="http://schemas.microsoft.com/office/drawing/2014/chart" uri="{C3380CC4-5D6E-409C-BE32-E72D297353CC}">
              <c16:uniqueId val="{00000001-42DD-4AB7-971F-46B16B728E59}"/>
            </c:ext>
          </c:extLst>
        </c:ser>
        <c:ser>
          <c:idx val="2"/>
          <c:order val="2"/>
          <c:tx>
            <c:strRef>
              <c:f>Sheet1!$D$1</c:f>
              <c:strCache>
                <c:ptCount val="1"/>
                <c:pt idx="0">
                  <c:v>Large Basin</c:v>
                </c:pt>
              </c:strCache>
            </c:strRef>
          </c:tx>
          <c:spPr>
            <a:solidFill>
              <a:srgbClr val="CBD5E1"/>
            </a:solidFill>
            <a:effectLst/>
          </c:spPr>
          <c:invertIfNegative val="0"/>
          <c:cat>
            <c:strRef>
              <c:f>Sheet1!$A$2:$A$6</c:f>
              <c:strCache>
                <c:ptCount val="5"/>
                <c:pt idx="0">
                  <c:v>Acrisols</c:v>
                </c:pt>
                <c:pt idx="1">
                  <c:v>Cambisols</c:v>
                </c:pt>
                <c:pt idx="2">
                  <c:v>Leptosols</c:v>
                </c:pt>
                <c:pt idx="3">
                  <c:v>Luvisols</c:v>
                </c:pt>
                <c:pt idx="4">
                  <c:v>Vertisols</c:v>
                </c:pt>
              </c:strCache>
            </c:strRef>
          </c:cat>
          <c:val>
            <c:numRef>
              <c:f>Sheet1!$D$2:$D$6</c:f>
              <c:numCache>
                <c:formatCode>General</c:formatCode>
                <c:ptCount val="5"/>
                <c:pt idx="0">
                  <c:v>1.9999999999999999E-7</c:v>
                </c:pt>
                <c:pt idx="1">
                  <c:v>2.9999999999999999E-7</c:v>
                </c:pt>
                <c:pt idx="2">
                  <c:v>9.9999999999999995E-8</c:v>
                </c:pt>
                <c:pt idx="3">
                  <c:v>9.9999999999999995E-8</c:v>
                </c:pt>
                <c:pt idx="4">
                  <c:v>0</c:v>
                </c:pt>
              </c:numCache>
            </c:numRef>
          </c:val>
          <c:extLst>
            <c:ext xmlns:c16="http://schemas.microsoft.com/office/drawing/2014/chart" uri="{C3380CC4-5D6E-409C-BE32-E72D297353CC}">
              <c16:uniqueId val="{00000002-42DD-4AB7-971F-46B16B728E59}"/>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254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BD5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solidFill>
      <a:srgbClr val="F4F7FB"/>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1193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12188952" cy="1828800"/>
          </a:xfrm>
          <a:prstGeom prst="rect">
            <a:avLst/>
          </a:prstGeom>
          <a:solidFill>
            <a:srgbClr val="0B1F3A"/>
          </a:solidFill>
          <a:ln w="12700">
            <a:solidFill>
              <a:srgbClr val="0B1F3A"/>
            </a:solidFill>
            <a:prstDash val="solid"/>
          </a:ln>
        </p:spPr>
      </p:sp>
      <p:sp>
        <p:nvSpPr>
          <p:cNvPr id="4" name="Shape 2"/>
          <p:cNvSpPr/>
          <p:nvPr/>
        </p:nvSpPr>
        <p:spPr>
          <a:xfrm>
            <a:off x="8855964" y="1051560"/>
            <a:ext cx="3227832" cy="3474720"/>
          </a:xfrm>
          <a:prstGeom prst="rect">
            <a:avLst/>
          </a:prstGeom>
          <a:solidFill>
            <a:srgbClr val="2B4B8C"/>
          </a:solidFill>
          <a:ln w="12700">
            <a:solidFill>
              <a:srgbClr val="2B4B8C"/>
            </a:solidFill>
            <a:prstDash val="solid"/>
          </a:ln>
        </p:spPr>
      </p:sp>
      <p:sp>
        <p:nvSpPr>
          <p:cNvPr id="5" name="Shape 3"/>
          <p:cNvSpPr/>
          <p:nvPr/>
        </p:nvSpPr>
        <p:spPr>
          <a:xfrm>
            <a:off x="9601200" y="1371600"/>
            <a:ext cx="2286000" cy="2286000"/>
          </a:xfrm>
          <a:prstGeom prst="ellipse">
            <a:avLst/>
          </a:prstGeom>
          <a:solidFill>
            <a:srgbClr val="1363DF">
              <a:alpha val="40000"/>
            </a:srgbClr>
          </a:solidFill>
          <a:ln w="12700">
            <a:solidFill>
              <a:srgbClr val="1363DF"/>
            </a:solidFill>
            <a:prstDash val="solid"/>
          </a:ln>
        </p:spPr>
      </p:sp>
      <p:sp>
        <p:nvSpPr>
          <p:cNvPr id="6" name="Shape 4"/>
          <p:cNvSpPr/>
          <p:nvPr/>
        </p:nvSpPr>
        <p:spPr>
          <a:xfrm>
            <a:off x="10241280" y="2560320"/>
            <a:ext cx="1371600" cy="1371600"/>
          </a:xfrm>
          <a:prstGeom prst="ellipse">
            <a:avLst/>
          </a:prstGeom>
          <a:solidFill>
            <a:srgbClr val="4A9DF8">
              <a:alpha val="60000"/>
            </a:srgbClr>
          </a:solidFill>
          <a:ln w="12700">
            <a:solidFill>
              <a:srgbClr val="4A9DF8"/>
            </a:solidFill>
            <a:prstDash val="solid"/>
          </a:ln>
        </p:spPr>
      </p:sp>
      <p:sp>
        <p:nvSpPr>
          <p:cNvPr id="7" name="Text 5"/>
          <p:cNvSpPr/>
          <p:nvPr/>
        </p:nvSpPr>
        <p:spPr>
          <a:xfrm>
            <a:off x="457200" y="1645920"/>
            <a:ext cx="8229600" cy="914400"/>
          </a:xfrm>
          <a:prstGeom prst="rect">
            <a:avLst/>
          </a:prstGeom>
          <a:noFill/>
          <a:ln/>
        </p:spPr>
        <p:txBody>
          <a:bodyPr wrap="square" rtlCol="0" anchor="ctr"/>
          <a:lstStyle/>
          <a:p>
            <a:pPr marL="0" indent="0">
              <a:buNone/>
            </a:pPr>
            <a:r>
              <a:rPr lang="en-US" sz="4800" b="1" kern="0" spc="300" dirty="0">
                <a:solidFill>
                  <a:srgbClr val="FFFFFF"/>
                </a:solidFill>
                <a:latin typeface="Calibri" pitchFamily="34" charset="0"/>
                <a:ea typeface="Calibri" pitchFamily="34" charset="-122"/>
                <a:cs typeface="Calibri" pitchFamily="34" charset="-120"/>
              </a:rPr>
              <a:t>DISASTER RISK</a:t>
            </a:r>
            <a:endParaRPr lang="en-US" sz="4800" dirty="0"/>
          </a:p>
        </p:txBody>
      </p:sp>
      <p:sp>
        <p:nvSpPr>
          <p:cNvPr id="8" name="Text 6"/>
          <p:cNvSpPr/>
          <p:nvPr/>
        </p:nvSpPr>
        <p:spPr>
          <a:xfrm>
            <a:off x="457200" y="2514600"/>
            <a:ext cx="8229600" cy="731520"/>
          </a:xfrm>
          <a:prstGeom prst="rect">
            <a:avLst/>
          </a:prstGeom>
          <a:noFill/>
          <a:ln/>
        </p:spPr>
        <p:txBody>
          <a:bodyPr wrap="square" rtlCol="0" anchor="ctr"/>
          <a:lstStyle/>
          <a:p>
            <a:pPr marL="0" indent="0">
              <a:buNone/>
            </a:pPr>
            <a:r>
              <a:rPr lang="en-US" sz="4000" b="1" kern="0" spc="200" dirty="0">
                <a:solidFill>
                  <a:srgbClr val="32E0C4"/>
                </a:solidFill>
                <a:latin typeface="Calibri" pitchFamily="34" charset="0"/>
                <a:ea typeface="Calibri" pitchFamily="34" charset="-122"/>
                <a:cs typeface="Calibri" pitchFamily="34" charset="-120"/>
              </a:rPr>
              <a:t>MANAGEMENT (FLOOD)</a:t>
            </a:r>
            <a:endParaRPr lang="en-US" sz="4000" dirty="0"/>
          </a:p>
        </p:txBody>
      </p:sp>
      <p:sp>
        <p:nvSpPr>
          <p:cNvPr id="9" name="Text 7"/>
          <p:cNvSpPr/>
          <p:nvPr/>
        </p:nvSpPr>
        <p:spPr>
          <a:xfrm>
            <a:off x="457200" y="3337560"/>
            <a:ext cx="8229600" cy="457200"/>
          </a:xfrm>
          <a:prstGeom prst="rect">
            <a:avLst/>
          </a:prstGeom>
          <a:noFill/>
          <a:ln/>
        </p:spPr>
        <p:txBody>
          <a:bodyPr wrap="square" rtlCol="0" anchor="ctr"/>
          <a:lstStyle/>
          <a:p>
            <a:pPr marL="0" indent="0">
              <a:buNone/>
            </a:pPr>
            <a:r>
              <a:rPr lang="en-US" sz="1600" i="1" dirty="0">
                <a:solidFill>
                  <a:srgbClr val="4A9DF8"/>
                </a:solidFill>
                <a:latin typeface="Calibri" pitchFamily="34" charset="0"/>
                <a:ea typeface="Calibri" pitchFamily="34" charset="-122"/>
                <a:cs typeface="Calibri" pitchFamily="34" charset="-120"/>
              </a:rPr>
              <a:t>A Data-Driven Analysis of Flood Risk Across 155 Catchments</a:t>
            </a:r>
            <a:endParaRPr lang="en-US" sz="1600" dirty="0"/>
          </a:p>
        </p:txBody>
      </p:sp>
      <p:sp>
        <p:nvSpPr>
          <p:cNvPr id="10" name="Shape 8"/>
          <p:cNvSpPr/>
          <p:nvPr/>
        </p:nvSpPr>
        <p:spPr>
          <a:xfrm>
            <a:off x="457200" y="3977640"/>
            <a:ext cx="7772400" cy="0"/>
          </a:xfrm>
          <a:prstGeom prst="line">
            <a:avLst/>
          </a:prstGeom>
          <a:noFill/>
          <a:ln w="12700">
            <a:solidFill>
              <a:srgbClr val="4A9DF8"/>
            </a:solidFill>
            <a:prstDash val="solid"/>
          </a:ln>
        </p:spPr>
      </p:sp>
      <p:sp>
        <p:nvSpPr>
          <p:cNvPr id="13" name="Text 11"/>
          <p:cNvSpPr/>
          <p:nvPr/>
        </p:nvSpPr>
        <p:spPr>
          <a:xfrm>
            <a:off x="9052560" y="2011680"/>
            <a:ext cx="2834640" cy="914400"/>
          </a:xfrm>
          <a:prstGeom prst="rect">
            <a:avLst/>
          </a:prstGeom>
          <a:noFill/>
          <a:ln/>
        </p:spPr>
        <p:txBody>
          <a:bodyPr wrap="square" rtlCol="0" anchor="ctr"/>
          <a:lstStyle/>
          <a:p>
            <a:pPr marL="0" indent="0" algn="ctr">
              <a:buNone/>
            </a:pPr>
            <a:r>
              <a:rPr lang="en-US" sz="7200" b="1" dirty="0">
                <a:solidFill>
                  <a:srgbClr val="FFFFFF"/>
                </a:solidFill>
                <a:latin typeface="Calibri" pitchFamily="34" charset="0"/>
                <a:ea typeface="Calibri" pitchFamily="34" charset="-122"/>
                <a:cs typeface="Calibri" pitchFamily="34" charset="-120"/>
              </a:rPr>
              <a:t>155</a:t>
            </a:r>
            <a:endParaRPr lang="en-US" sz="7200" dirty="0"/>
          </a:p>
        </p:txBody>
      </p:sp>
      <p:sp>
        <p:nvSpPr>
          <p:cNvPr id="14" name="Text 12"/>
          <p:cNvSpPr/>
          <p:nvPr/>
        </p:nvSpPr>
        <p:spPr>
          <a:xfrm>
            <a:off x="9052560" y="2971800"/>
            <a:ext cx="2834640" cy="594360"/>
          </a:xfrm>
          <a:prstGeom prst="rect">
            <a:avLst/>
          </a:prstGeom>
          <a:noFill/>
          <a:ln/>
        </p:spPr>
        <p:txBody>
          <a:bodyPr wrap="square" rtlCol="0" anchor="ctr"/>
          <a:lstStyle/>
          <a:p>
            <a:pPr marL="0" indent="0" algn="ctr">
              <a:buNone/>
            </a:pPr>
            <a:r>
              <a:rPr lang="en-US" sz="1400" dirty="0">
                <a:solidFill>
                  <a:srgbClr val="32E0C4"/>
                </a:solidFill>
                <a:latin typeface="Calibri" pitchFamily="34" charset="0"/>
                <a:ea typeface="Calibri" pitchFamily="34" charset="-122"/>
                <a:cs typeface="Calibri" pitchFamily="34" charset="-120"/>
              </a:rPr>
              <a:t>CATCHMENTS</a:t>
            </a:r>
            <a:endParaRPr lang="en-US" sz="1400" dirty="0"/>
          </a:p>
          <a:p>
            <a:pPr marL="0" indent="0" algn="ctr">
              <a:buNone/>
            </a:pPr>
            <a:r>
              <a:rPr lang="en-US" sz="1400" dirty="0">
                <a:solidFill>
                  <a:srgbClr val="32E0C4"/>
                </a:solidFill>
                <a:latin typeface="Calibri" pitchFamily="34" charset="0"/>
                <a:ea typeface="Calibri" pitchFamily="34" charset="-122"/>
                <a:cs typeface="Calibri" pitchFamily="34" charset="-120"/>
              </a:rPr>
              <a:t>ANALYZED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Table of Contents</a:t>
            </a:r>
            <a:endParaRPr lang="en-US" sz="3000" dirty="0"/>
          </a:p>
        </p:txBody>
      </p:sp>
      <p:sp>
        <p:nvSpPr>
          <p:cNvPr id="4" name="Shape 2"/>
          <p:cNvSpPr/>
          <p:nvPr/>
        </p:nvSpPr>
        <p:spPr>
          <a:xfrm>
            <a:off x="365760" y="1188720"/>
            <a:ext cx="5577840" cy="777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65760" y="1188720"/>
            <a:ext cx="502920" cy="777240"/>
          </a:xfrm>
          <a:prstGeom prst="rect">
            <a:avLst/>
          </a:prstGeom>
          <a:solidFill>
            <a:srgbClr val="1363DF"/>
          </a:solidFill>
          <a:ln w="12700">
            <a:solidFill>
              <a:srgbClr val="1363DF"/>
            </a:solidFill>
            <a:prstDash val="solid"/>
          </a:ln>
        </p:spPr>
      </p:sp>
      <p:sp>
        <p:nvSpPr>
          <p:cNvPr id="6" name="Text 4"/>
          <p:cNvSpPr/>
          <p:nvPr/>
        </p:nvSpPr>
        <p:spPr>
          <a:xfrm>
            <a:off x="365760" y="1188720"/>
            <a:ext cx="50292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7" name="Text 5"/>
          <p:cNvSpPr/>
          <p:nvPr/>
        </p:nvSpPr>
        <p:spPr>
          <a:xfrm>
            <a:off x="960120" y="1234440"/>
            <a:ext cx="48463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Introduction &amp; Background</a:t>
            </a:r>
            <a:endParaRPr lang="en-US" sz="1300" dirty="0"/>
          </a:p>
        </p:txBody>
      </p:sp>
      <p:sp>
        <p:nvSpPr>
          <p:cNvPr id="8" name="Text 6"/>
          <p:cNvSpPr/>
          <p:nvPr/>
        </p:nvSpPr>
        <p:spPr>
          <a:xfrm>
            <a:off x="960120" y="1600200"/>
            <a:ext cx="484632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Project context and importance of flood risk analysis</a:t>
            </a:r>
            <a:endParaRPr lang="en-US" sz="1000" dirty="0"/>
          </a:p>
        </p:txBody>
      </p:sp>
      <p:sp>
        <p:nvSpPr>
          <p:cNvPr id="9" name="Shape 7"/>
          <p:cNvSpPr/>
          <p:nvPr/>
        </p:nvSpPr>
        <p:spPr>
          <a:xfrm>
            <a:off x="6217920" y="1188720"/>
            <a:ext cx="5577840" cy="777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0" name="Shape 8"/>
          <p:cNvSpPr/>
          <p:nvPr/>
        </p:nvSpPr>
        <p:spPr>
          <a:xfrm>
            <a:off x="6217920" y="1188720"/>
            <a:ext cx="502920" cy="777240"/>
          </a:xfrm>
          <a:prstGeom prst="rect">
            <a:avLst/>
          </a:prstGeom>
          <a:solidFill>
            <a:srgbClr val="1363DF"/>
          </a:solidFill>
          <a:ln w="12700">
            <a:solidFill>
              <a:srgbClr val="1363DF"/>
            </a:solidFill>
            <a:prstDash val="solid"/>
          </a:ln>
        </p:spPr>
      </p:sp>
      <p:sp>
        <p:nvSpPr>
          <p:cNvPr id="11" name="Text 9"/>
          <p:cNvSpPr/>
          <p:nvPr/>
        </p:nvSpPr>
        <p:spPr>
          <a:xfrm>
            <a:off x="6217920" y="1188720"/>
            <a:ext cx="50292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2" name="Text 10"/>
          <p:cNvSpPr/>
          <p:nvPr/>
        </p:nvSpPr>
        <p:spPr>
          <a:xfrm>
            <a:off x="6812280" y="1234440"/>
            <a:ext cx="48463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Domain Overview &amp; Problem Statement</a:t>
            </a:r>
            <a:endParaRPr lang="en-US" sz="1300" dirty="0"/>
          </a:p>
        </p:txBody>
      </p:sp>
      <p:sp>
        <p:nvSpPr>
          <p:cNvPr id="13" name="Text 11"/>
          <p:cNvSpPr/>
          <p:nvPr/>
        </p:nvSpPr>
        <p:spPr>
          <a:xfrm>
            <a:off x="6812280" y="1600200"/>
            <a:ext cx="484632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Hydrology concepts and key business challenges</a:t>
            </a:r>
            <a:endParaRPr lang="en-US" sz="1000" dirty="0"/>
          </a:p>
        </p:txBody>
      </p:sp>
      <p:sp>
        <p:nvSpPr>
          <p:cNvPr id="14" name="Shape 12"/>
          <p:cNvSpPr/>
          <p:nvPr/>
        </p:nvSpPr>
        <p:spPr>
          <a:xfrm>
            <a:off x="365760" y="2121408"/>
            <a:ext cx="5577840" cy="777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5" name="Shape 13"/>
          <p:cNvSpPr/>
          <p:nvPr/>
        </p:nvSpPr>
        <p:spPr>
          <a:xfrm>
            <a:off x="365760" y="2121408"/>
            <a:ext cx="502920" cy="777240"/>
          </a:xfrm>
          <a:prstGeom prst="rect">
            <a:avLst/>
          </a:prstGeom>
          <a:solidFill>
            <a:srgbClr val="1363DF"/>
          </a:solidFill>
          <a:ln w="12700">
            <a:solidFill>
              <a:srgbClr val="1363DF"/>
            </a:solidFill>
            <a:prstDash val="solid"/>
          </a:ln>
        </p:spPr>
      </p:sp>
      <p:sp>
        <p:nvSpPr>
          <p:cNvPr id="16" name="Text 14"/>
          <p:cNvSpPr/>
          <p:nvPr/>
        </p:nvSpPr>
        <p:spPr>
          <a:xfrm>
            <a:off x="365760" y="2121408"/>
            <a:ext cx="50292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7" name="Text 15"/>
          <p:cNvSpPr/>
          <p:nvPr/>
        </p:nvSpPr>
        <p:spPr>
          <a:xfrm>
            <a:off x="960120" y="2167128"/>
            <a:ext cx="48463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Project Objectives</a:t>
            </a:r>
            <a:endParaRPr lang="en-US" sz="1300" dirty="0"/>
          </a:p>
        </p:txBody>
      </p:sp>
      <p:sp>
        <p:nvSpPr>
          <p:cNvPr id="18" name="Text 16"/>
          <p:cNvSpPr/>
          <p:nvPr/>
        </p:nvSpPr>
        <p:spPr>
          <a:xfrm>
            <a:off x="960120" y="2532888"/>
            <a:ext cx="484632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Business, end-state, and analytical goals</a:t>
            </a:r>
            <a:endParaRPr lang="en-US" sz="1000" dirty="0"/>
          </a:p>
        </p:txBody>
      </p:sp>
      <p:sp>
        <p:nvSpPr>
          <p:cNvPr id="19" name="Shape 17"/>
          <p:cNvSpPr/>
          <p:nvPr/>
        </p:nvSpPr>
        <p:spPr>
          <a:xfrm>
            <a:off x="6217920" y="2121408"/>
            <a:ext cx="5577840" cy="777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0" name="Shape 18"/>
          <p:cNvSpPr/>
          <p:nvPr/>
        </p:nvSpPr>
        <p:spPr>
          <a:xfrm>
            <a:off x="6217920" y="2121408"/>
            <a:ext cx="502920" cy="777240"/>
          </a:xfrm>
          <a:prstGeom prst="rect">
            <a:avLst/>
          </a:prstGeom>
          <a:solidFill>
            <a:srgbClr val="1363DF"/>
          </a:solidFill>
          <a:ln w="12700">
            <a:solidFill>
              <a:srgbClr val="1363DF"/>
            </a:solidFill>
            <a:prstDash val="solid"/>
          </a:ln>
        </p:spPr>
      </p:sp>
      <p:sp>
        <p:nvSpPr>
          <p:cNvPr id="21" name="Text 19"/>
          <p:cNvSpPr/>
          <p:nvPr/>
        </p:nvSpPr>
        <p:spPr>
          <a:xfrm>
            <a:off x="6217920" y="2121408"/>
            <a:ext cx="50292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2" name="Text 20"/>
          <p:cNvSpPr/>
          <p:nvPr/>
        </p:nvSpPr>
        <p:spPr>
          <a:xfrm>
            <a:off x="6812280" y="2167128"/>
            <a:ext cx="48463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Dataset Overview &amp; Summary</a:t>
            </a:r>
            <a:endParaRPr lang="en-US" sz="1300" dirty="0"/>
          </a:p>
        </p:txBody>
      </p:sp>
      <p:sp>
        <p:nvSpPr>
          <p:cNvPr id="23" name="Text 21"/>
          <p:cNvSpPr/>
          <p:nvPr/>
        </p:nvSpPr>
        <p:spPr>
          <a:xfrm>
            <a:off x="6812280" y="2532888"/>
            <a:ext cx="484632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Data structure, sources, and statistical summary</a:t>
            </a:r>
            <a:endParaRPr lang="en-US" sz="1000" dirty="0"/>
          </a:p>
        </p:txBody>
      </p:sp>
      <p:sp>
        <p:nvSpPr>
          <p:cNvPr id="24" name="Shape 22"/>
          <p:cNvSpPr/>
          <p:nvPr/>
        </p:nvSpPr>
        <p:spPr>
          <a:xfrm>
            <a:off x="365760" y="3054096"/>
            <a:ext cx="5577840" cy="777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5" name="Shape 23"/>
          <p:cNvSpPr/>
          <p:nvPr/>
        </p:nvSpPr>
        <p:spPr>
          <a:xfrm>
            <a:off x="365760" y="3054096"/>
            <a:ext cx="502920" cy="777240"/>
          </a:xfrm>
          <a:prstGeom prst="rect">
            <a:avLst/>
          </a:prstGeom>
          <a:solidFill>
            <a:srgbClr val="1363DF"/>
          </a:solidFill>
          <a:ln w="12700">
            <a:solidFill>
              <a:srgbClr val="1363DF"/>
            </a:solidFill>
            <a:prstDash val="solid"/>
          </a:ln>
        </p:spPr>
      </p:sp>
      <p:sp>
        <p:nvSpPr>
          <p:cNvPr id="26" name="Text 24"/>
          <p:cNvSpPr/>
          <p:nvPr/>
        </p:nvSpPr>
        <p:spPr>
          <a:xfrm>
            <a:off x="365760" y="3054096"/>
            <a:ext cx="50292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7" name="Text 25"/>
          <p:cNvSpPr/>
          <p:nvPr/>
        </p:nvSpPr>
        <p:spPr>
          <a:xfrm>
            <a:off x="960120" y="3099816"/>
            <a:ext cx="48463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Data Understanding &amp; Cleaning</a:t>
            </a:r>
            <a:endParaRPr lang="en-US" sz="1300" dirty="0"/>
          </a:p>
        </p:txBody>
      </p:sp>
      <p:sp>
        <p:nvSpPr>
          <p:cNvPr id="28" name="Text 26"/>
          <p:cNvSpPr/>
          <p:nvPr/>
        </p:nvSpPr>
        <p:spPr>
          <a:xfrm>
            <a:off x="960120" y="3465576"/>
            <a:ext cx="484632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Column explanations, cleaning steps, transformations</a:t>
            </a:r>
            <a:endParaRPr lang="en-US" sz="1000" dirty="0"/>
          </a:p>
        </p:txBody>
      </p:sp>
      <p:sp>
        <p:nvSpPr>
          <p:cNvPr id="29" name="Shape 27"/>
          <p:cNvSpPr/>
          <p:nvPr/>
        </p:nvSpPr>
        <p:spPr>
          <a:xfrm>
            <a:off x="6217920" y="3054096"/>
            <a:ext cx="5577840" cy="777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30" name="Shape 28"/>
          <p:cNvSpPr/>
          <p:nvPr/>
        </p:nvSpPr>
        <p:spPr>
          <a:xfrm>
            <a:off x="6217920" y="3054096"/>
            <a:ext cx="502920" cy="777240"/>
          </a:xfrm>
          <a:prstGeom prst="rect">
            <a:avLst/>
          </a:prstGeom>
          <a:solidFill>
            <a:srgbClr val="1363DF"/>
          </a:solidFill>
          <a:ln w="12700">
            <a:solidFill>
              <a:srgbClr val="1363DF"/>
            </a:solidFill>
            <a:prstDash val="solid"/>
          </a:ln>
        </p:spPr>
      </p:sp>
      <p:sp>
        <p:nvSpPr>
          <p:cNvPr id="31" name="Text 29"/>
          <p:cNvSpPr/>
          <p:nvPr/>
        </p:nvSpPr>
        <p:spPr>
          <a:xfrm>
            <a:off x="6217920" y="3054096"/>
            <a:ext cx="50292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32" name="Text 30"/>
          <p:cNvSpPr/>
          <p:nvPr/>
        </p:nvSpPr>
        <p:spPr>
          <a:xfrm>
            <a:off x="6812280" y="3099816"/>
            <a:ext cx="48463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Tools &amp; Business Questions</a:t>
            </a:r>
            <a:endParaRPr lang="en-US" sz="1300" dirty="0"/>
          </a:p>
        </p:txBody>
      </p:sp>
      <p:sp>
        <p:nvSpPr>
          <p:cNvPr id="33" name="Text 31"/>
          <p:cNvSpPr/>
          <p:nvPr/>
        </p:nvSpPr>
        <p:spPr>
          <a:xfrm>
            <a:off x="6812280" y="3465576"/>
            <a:ext cx="484632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Technologies used and key analytical questions</a:t>
            </a:r>
            <a:endParaRPr lang="en-US" sz="1000" dirty="0"/>
          </a:p>
        </p:txBody>
      </p:sp>
      <p:sp>
        <p:nvSpPr>
          <p:cNvPr id="34" name="Shape 32"/>
          <p:cNvSpPr/>
          <p:nvPr/>
        </p:nvSpPr>
        <p:spPr>
          <a:xfrm>
            <a:off x="365760" y="3986784"/>
            <a:ext cx="5577840" cy="777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35" name="Shape 33"/>
          <p:cNvSpPr/>
          <p:nvPr/>
        </p:nvSpPr>
        <p:spPr>
          <a:xfrm>
            <a:off x="365760" y="3986784"/>
            <a:ext cx="502920" cy="777240"/>
          </a:xfrm>
          <a:prstGeom prst="rect">
            <a:avLst/>
          </a:prstGeom>
          <a:solidFill>
            <a:srgbClr val="1363DF"/>
          </a:solidFill>
          <a:ln w="12700">
            <a:solidFill>
              <a:srgbClr val="1363DF"/>
            </a:solidFill>
            <a:prstDash val="solid"/>
          </a:ln>
        </p:spPr>
      </p:sp>
      <p:sp>
        <p:nvSpPr>
          <p:cNvPr id="36" name="Text 34"/>
          <p:cNvSpPr/>
          <p:nvPr/>
        </p:nvSpPr>
        <p:spPr>
          <a:xfrm>
            <a:off x="365760" y="3986784"/>
            <a:ext cx="50292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07</a:t>
            </a:r>
            <a:endParaRPr lang="en-US" sz="1600" dirty="0"/>
          </a:p>
        </p:txBody>
      </p:sp>
      <p:sp>
        <p:nvSpPr>
          <p:cNvPr id="37" name="Text 35"/>
          <p:cNvSpPr/>
          <p:nvPr/>
        </p:nvSpPr>
        <p:spPr>
          <a:xfrm>
            <a:off x="960120" y="4032504"/>
            <a:ext cx="48463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Exploratory Data Analysis</a:t>
            </a:r>
            <a:endParaRPr lang="en-US" sz="1300" dirty="0"/>
          </a:p>
        </p:txBody>
      </p:sp>
      <p:sp>
        <p:nvSpPr>
          <p:cNvPr id="38" name="Text 36"/>
          <p:cNvSpPr/>
          <p:nvPr/>
        </p:nvSpPr>
        <p:spPr>
          <a:xfrm>
            <a:off x="960120" y="4398264"/>
            <a:ext cx="484632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Initial trends, patterns, and observations</a:t>
            </a:r>
            <a:endParaRPr lang="en-US" sz="1000" dirty="0"/>
          </a:p>
        </p:txBody>
      </p:sp>
      <p:sp>
        <p:nvSpPr>
          <p:cNvPr id="39" name="Shape 37"/>
          <p:cNvSpPr/>
          <p:nvPr/>
        </p:nvSpPr>
        <p:spPr>
          <a:xfrm>
            <a:off x="6217920" y="3986784"/>
            <a:ext cx="5577840" cy="777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40" name="Shape 38"/>
          <p:cNvSpPr/>
          <p:nvPr/>
        </p:nvSpPr>
        <p:spPr>
          <a:xfrm>
            <a:off x="6217920" y="3986784"/>
            <a:ext cx="502920" cy="777240"/>
          </a:xfrm>
          <a:prstGeom prst="rect">
            <a:avLst/>
          </a:prstGeom>
          <a:solidFill>
            <a:srgbClr val="1363DF"/>
          </a:solidFill>
          <a:ln w="12700">
            <a:solidFill>
              <a:srgbClr val="1363DF"/>
            </a:solidFill>
            <a:prstDash val="solid"/>
          </a:ln>
        </p:spPr>
      </p:sp>
      <p:sp>
        <p:nvSpPr>
          <p:cNvPr id="41" name="Text 39"/>
          <p:cNvSpPr/>
          <p:nvPr/>
        </p:nvSpPr>
        <p:spPr>
          <a:xfrm>
            <a:off x="6217920" y="3986784"/>
            <a:ext cx="50292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08</a:t>
            </a:r>
            <a:endParaRPr lang="en-US" sz="1600" dirty="0"/>
          </a:p>
        </p:txBody>
      </p:sp>
      <p:sp>
        <p:nvSpPr>
          <p:cNvPr id="42" name="Text 40"/>
          <p:cNvSpPr/>
          <p:nvPr/>
        </p:nvSpPr>
        <p:spPr>
          <a:xfrm>
            <a:off x="6812280" y="4032504"/>
            <a:ext cx="48463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Charts &amp; Visualizations</a:t>
            </a:r>
            <a:endParaRPr lang="en-US" sz="1300" dirty="0"/>
          </a:p>
        </p:txBody>
      </p:sp>
      <p:sp>
        <p:nvSpPr>
          <p:cNvPr id="43" name="Text 41"/>
          <p:cNvSpPr/>
          <p:nvPr/>
        </p:nvSpPr>
        <p:spPr>
          <a:xfrm>
            <a:off x="6812280" y="4398264"/>
            <a:ext cx="484632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Soil, land cover, basin, population &amp; trend analysis</a:t>
            </a:r>
            <a:endParaRPr lang="en-US" sz="1000" dirty="0"/>
          </a:p>
        </p:txBody>
      </p:sp>
      <p:sp>
        <p:nvSpPr>
          <p:cNvPr id="44" name="Shape 42"/>
          <p:cNvSpPr/>
          <p:nvPr/>
        </p:nvSpPr>
        <p:spPr>
          <a:xfrm>
            <a:off x="365760" y="4919472"/>
            <a:ext cx="5577840" cy="777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45" name="Shape 43"/>
          <p:cNvSpPr/>
          <p:nvPr/>
        </p:nvSpPr>
        <p:spPr>
          <a:xfrm>
            <a:off x="365760" y="4919472"/>
            <a:ext cx="502920" cy="777240"/>
          </a:xfrm>
          <a:prstGeom prst="rect">
            <a:avLst/>
          </a:prstGeom>
          <a:solidFill>
            <a:srgbClr val="1363DF"/>
          </a:solidFill>
          <a:ln w="12700">
            <a:solidFill>
              <a:srgbClr val="1363DF"/>
            </a:solidFill>
            <a:prstDash val="solid"/>
          </a:ln>
        </p:spPr>
      </p:sp>
      <p:sp>
        <p:nvSpPr>
          <p:cNvPr id="46" name="Text 44"/>
          <p:cNvSpPr/>
          <p:nvPr/>
        </p:nvSpPr>
        <p:spPr>
          <a:xfrm>
            <a:off x="365760" y="4919472"/>
            <a:ext cx="50292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09</a:t>
            </a:r>
            <a:endParaRPr lang="en-US" sz="1600" dirty="0"/>
          </a:p>
        </p:txBody>
      </p:sp>
      <p:sp>
        <p:nvSpPr>
          <p:cNvPr id="47" name="Text 45"/>
          <p:cNvSpPr/>
          <p:nvPr/>
        </p:nvSpPr>
        <p:spPr>
          <a:xfrm>
            <a:off x="960120" y="4965192"/>
            <a:ext cx="48463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Dashboard Explanation</a:t>
            </a:r>
            <a:endParaRPr lang="en-US" sz="1300" dirty="0"/>
          </a:p>
        </p:txBody>
      </p:sp>
      <p:sp>
        <p:nvSpPr>
          <p:cNvPr id="48" name="Text 46"/>
          <p:cNvSpPr/>
          <p:nvPr/>
        </p:nvSpPr>
        <p:spPr>
          <a:xfrm>
            <a:off x="960120" y="5330952"/>
            <a:ext cx="484632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KPIs, filters</a:t>
            </a:r>
            <a:endParaRPr lang="en-US" sz="1000" dirty="0"/>
          </a:p>
        </p:txBody>
      </p:sp>
      <p:sp>
        <p:nvSpPr>
          <p:cNvPr id="49" name="Shape 47"/>
          <p:cNvSpPr/>
          <p:nvPr/>
        </p:nvSpPr>
        <p:spPr>
          <a:xfrm>
            <a:off x="6217920" y="4919472"/>
            <a:ext cx="5577840" cy="777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0" name="Shape 48"/>
          <p:cNvSpPr/>
          <p:nvPr/>
        </p:nvSpPr>
        <p:spPr>
          <a:xfrm>
            <a:off x="6217920" y="4919472"/>
            <a:ext cx="502920" cy="777240"/>
          </a:xfrm>
          <a:prstGeom prst="rect">
            <a:avLst/>
          </a:prstGeom>
          <a:solidFill>
            <a:srgbClr val="1363DF"/>
          </a:solidFill>
          <a:ln w="12700">
            <a:solidFill>
              <a:srgbClr val="1363DF"/>
            </a:solidFill>
            <a:prstDash val="solid"/>
          </a:ln>
        </p:spPr>
      </p:sp>
      <p:sp>
        <p:nvSpPr>
          <p:cNvPr id="51" name="Text 49"/>
          <p:cNvSpPr/>
          <p:nvPr/>
        </p:nvSpPr>
        <p:spPr>
          <a:xfrm>
            <a:off x="6217920" y="4919472"/>
            <a:ext cx="502920" cy="7772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52" name="Text 50"/>
          <p:cNvSpPr/>
          <p:nvPr/>
        </p:nvSpPr>
        <p:spPr>
          <a:xfrm>
            <a:off x="6812280" y="4965192"/>
            <a:ext cx="484632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Key Insights, Recommendations &amp; Conclusion</a:t>
            </a:r>
            <a:endParaRPr lang="en-US" sz="1300" dirty="0"/>
          </a:p>
        </p:txBody>
      </p:sp>
      <p:sp>
        <p:nvSpPr>
          <p:cNvPr id="53" name="Text 51"/>
          <p:cNvSpPr/>
          <p:nvPr/>
        </p:nvSpPr>
        <p:spPr>
          <a:xfrm>
            <a:off x="6812280" y="5330952"/>
            <a:ext cx="4846320" cy="274320"/>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Findings, actions, and future scope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Introduction</a:t>
            </a:r>
            <a:endParaRPr lang="en-US" sz="3000" dirty="0"/>
          </a:p>
        </p:txBody>
      </p:sp>
      <p:sp>
        <p:nvSpPr>
          <p:cNvPr id="4" name="Shape 2"/>
          <p:cNvSpPr/>
          <p:nvPr/>
        </p:nvSpPr>
        <p:spPr>
          <a:xfrm>
            <a:off x="365760" y="1143000"/>
            <a:ext cx="73152" cy="1417320"/>
          </a:xfrm>
          <a:prstGeom prst="rect">
            <a:avLst/>
          </a:prstGeom>
          <a:solidFill>
            <a:srgbClr val="1363DF"/>
          </a:solidFill>
          <a:ln w="12700">
            <a:solidFill>
              <a:srgbClr val="1363DF"/>
            </a:solidFill>
            <a:prstDash val="solid"/>
          </a:ln>
        </p:spPr>
      </p:sp>
      <p:sp>
        <p:nvSpPr>
          <p:cNvPr id="5" name="Text 3"/>
          <p:cNvSpPr/>
          <p:nvPr/>
        </p:nvSpPr>
        <p:spPr>
          <a:xfrm>
            <a:off x="548640" y="1143000"/>
            <a:ext cx="4572000" cy="365760"/>
          </a:xfrm>
          <a:prstGeom prst="rect">
            <a:avLst/>
          </a:prstGeom>
          <a:noFill/>
          <a:ln/>
        </p:spPr>
        <p:txBody>
          <a:bodyPr wrap="square"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Background</a:t>
            </a:r>
            <a:endParaRPr lang="en-US" sz="1600" dirty="0"/>
          </a:p>
        </p:txBody>
      </p:sp>
      <p:sp>
        <p:nvSpPr>
          <p:cNvPr id="6" name="Text 4"/>
          <p:cNvSpPr/>
          <p:nvPr/>
        </p:nvSpPr>
        <p:spPr>
          <a:xfrm>
            <a:off x="548640" y="1508760"/>
            <a:ext cx="11247120" cy="914400"/>
          </a:xfrm>
          <a:prstGeom prst="rect">
            <a:avLst/>
          </a:prstGeom>
          <a:noFill/>
          <a:ln/>
        </p:spPr>
        <p:txBody>
          <a:bodyPr wrap="square" rtlCol="0" anchor="ctr"/>
          <a:lstStyle/>
          <a:p>
            <a:pPr marL="0" indent="0">
              <a:spcAft>
                <a:spcPts val="400"/>
              </a:spcAft>
              <a:buNone/>
            </a:pPr>
            <a:r>
              <a:rPr lang="en-US" sz="1300" dirty="0">
                <a:solidFill>
                  <a:srgbClr val="0B1F3A"/>
                </a:solidFill>
                <a:latin typeface="Calibri" pitchFamily="34" charset="0"/>
                <a:ea typeface="Calibri" pitchFamily="34" charset="-122"/>
                <a:cs typeface="Calibri" pitchFamily="34" charset="-120"/>
              </a:rPr>
              <a:t>Floods are among the most destructive and frequently occurring natural disasters globally. In Indonesia, complex hydrological systems, varied terrain, and dense populations create high vulnerability to flood events. This project analyzes the INDOFLOODS dataset — a comprehensive geospatial and hydrological database of 155 river catchments — to quantify and communicate flood risk in a data-driven manner.</a:t>
            </a:r>
            <a:endParaRPr lang="en-US" sz="1300" dirty="0"/>
          </a:p>
        </p:txBody>
      </p:sp>
      <p:sp>
        <p:nvSpPr>
          <p:cNvPr id="7" name="Shape 5"/>
          <p:cNvSpPr/>
          <p:nvPr/>
        </p:nvSpPr>
        <p:spPr>
          <a:xfrm>
            <a:off x="365760" y="2606040"/>
            <a:ext cx="73152" cy="1417320"/>
          </a:xfrm>
          <a:prstGeom prst="rect">
            <a:avLst/>
          </a:prstGeom>
          <a:solidFill>
            <a:srgbClr val="0D7377"/>
          </a:solidFill>
          <a:ln w="12700">
            <a:solidFill>
              <a:srgbClr val="0D7377"/>
            </a:solidFill>
            <a:prstDash val="solid"/>
          </a:ln>
        </p:spPr>
      </p:sp>
      <p:sp>
        <p:nvSpPr>
          <p:cNvPr id="8" name="Text 6"/>
          <p:cNvSpPr/>
          <p:nvPr/>
        </p:nvSpPr>
        <p:spPr>
          <a:xfrm>
            <a:off x="548640" y="2606040"/>
            <a:ext cx="4572000" cy="365760"/>
          </a:xfrm>
          <a:prstGeom prst="rect">
            <a:avLst/>
          </a:prstGeom>
          <a:noFill/>
          <a:ln/>
        </p:spPr>
        <p:txBody>
          <a:bodyPr wrap="square" rtlCol="0" anchor="ctr"/>
          <a:lstStyle/>
          <a:p>
            <a:pPr marL="0" indent="0">
              <a:buNone/>
            </a:pPr>
            <a:r>
              <a:rPr lang="en-US" sz="1600" b="1" dirty="0">
                <a:solidFill>
                  <a:srgbClr val="0D7377"/>
                </a:solidFill>
                <a:latin typeface="Calibri" pitchFamily="34" charset="0"/>
                <a:ea typeface="Calibri" pitchFamily="34" charset="-122"/>
                <a:cs typeface="Calibri" pitchFamily="34" charset="-120"/>
              </a:rPr>
              <a:t>Dataset Context</a:t>
            </a:r>
            <a:endParaRPr lang="en-US" sz="1600" dirty="0"/>
          </a:p>
        </p:txBody>
      </p:sp>
      <p:sp>
        <p:nvSpPr>
          <p:cNvPr id="9" name="Text 7"/>
          <p:cNvSpPr/>
          <p:nvPr/>
        </p:nvSpPr>
        <p:spPr>
          <a:xfrm>
            <a:off x="548640" y="2971800"/>
            <a:ext cx="11247120" cy="822960"/>
          </a:xfrm>
          <a:prstGeom prst="rect">
            <a:avLst/>
          </a:prstGeom>
          <a:noFill/>
          <a:ln/>
        </p:spPr>
        <p:txBody>
          <a:bodyPr wrap="square" rtlCol="0" anchor="ctr"/>
          <a:lstStyle/>
          <a:p>
            <a:pPr marL="0" indent="0">
              <a:buNone/>
            </a:pPr>
            <a:r>
              <a:rPr lang="en-US" sz="1300" dirty="0">
                <a:solidFill>
                  <a:srgbClr val="0B1F3A"/>
                </a:solidFill>
                <a:latin typeface="Calibri" pitchFamily="34" charset="0"/>
                <a:ea typeface="Calibri" pitchFamily="34" charset="-122"/>
                <a:cs typeface="Calibri" pitchFamily="34" charset="-120"/>
              </a:rPr>
              <a:t>The dataset integrates morphometric, climatic, socioeconomic, and land-use variables for each of the 155 gauge stations across Indonesia (INDOFLOODS project). It captures stream orders, basin geometries, drainage metrics, soil types, land cover classes, population counts, GDP indicators, HDI values, and a computed Flood Risk Index.</a:t>
            </a:r>
            <a:endParaRPr lang="en-US" sz="1300" dirty="0"/>
          </a:p>
        </p:txBody>
      </p:sp>
      <p:sp>
        <p:nvSpPr>
          <p:cNvPr id="10" name="Shape 8"/>
          <p:cNvSpPr/>
          <p:nvPr/>
        </p:nvSpPr>
        <p:spPr>
          <a:xfrm>
            <a:off x="365760" y="3977640"/>
            <a:ext cx="73152" cy="1234440"/>
          </a:xfrm>
          <a:prstGeom prst="rect">
            <a:avLst/>
          </a:prstGeom>
          <a:solidFill>
            <a:srgbClr val="E63946"/>
          </a:solidFill>
          <a:ln w="12700">
            <a:solidFill>
              <a:srgbClr val="E63946"/>
            </a:solidFill>
            <a:prstDash val="solid"/>
          </a:ln>
        </p:spPr>
      </p:sp>
      <p:sp>
        <p:nvSpPr>
          <p:cNvPr id="11" name="Text 9"/>
          <p:cNvSpPr/>
          <p:nvPr/>
        </p:nvSpPr>
        <p:spPr>
          <a:xfrm>
            <a:off x="548640" y="3977640"/>
            <a:ext cx="5486400" cy="365760"/>
          </a:xfrm>
          <a:prstGeom prst="rect">
            <a:avLst/>
          </a:prstGeom>
          <a:noFill/>
          <a:ln/>
        </p:spPr>
        <p:txBody>
          <a:bodyPr wrap="square" rtlCol="0" anchor="ctr"/>
          <a:lstStyle/>
          <a:p>
            <a:pPr marL="0" indent="0">
              <a:buNone/>
            </a:pPr>
            <a:r>
              <a:rPr lang="en-US" sz="1600" b="1" dirty="0">
                <a:solidFill>
                  <a:srgbClr val="E63946"/>
                </a:solidFill>
                <a:latin typeface="Calibri" pitchFamily="34" charset="0"/>
                <a:ea typeface="Calibri" pitchFamily="34" charset="-122"/>
                <a:cs typeface="Calibri" pitchFamily="34" charset="-120"/>
              </a:rPr>
              <a:t>Importance of the Problem</a:t>
            </a:r>
            <a:endParaRPr lang="en-US" sz="1600" dirty="0"/>
          </a:p>
        </p:txBody>
      </p:sp>
      <p:sp>
        <p:nvSpPr>
          <p:cNvPr id="12" name="Text 10"/>
          <p:cNvSpPr/>
          <p:nvPr/>
        </p:nvSpPr>
        <p:spPr>
          <a:xfrm>
            <a:off x="548640" y="4343400"/>
            <a:ext cx="11247120" cy="822960"/>
          </a:xfrm>
          <a:prstGeom prst="rect">
            <a:avLst/>
          </a:prstGeom>
          <a:noFill/>
          <a:ln/>
        </p:spPr>
        <p:txBody>
          <a:bodyPr wrap="square" rtlCol="0" anchor="ctr"/>
          <a:lstStyle/>
          <a:p>
            <a:pPr marL="342900" indent="-342900">
              <a:spcAft>
                <a:spcPts val="300"/>
              </a:spcAft>
              <a:buSzPct val="100000"/>
              <a:buChar char="•"/>
            </a:pPr>
            <a:r>
              <a:rPr lang="en-US" sz="1200" dirty="0">
                <a:solidFill>
                  <a:srgbClr val="0B1F3A"/>
                </a:solidFill>
                <a:latin typeface="Calibri" pitchFamily="34" charset="0"/>
                <a:ea typeface="Calibri" pitchFamily="34" charset="-122"/>
                <a:cs typeface="Calibri" pitchFamily="34" charset="-120"/>
              </a:rPr>
              <a:t>Over 1.04 billion people reside across the studied catchments — putting vast populations at risk</a:t>
            </a:r>
            <a:endParaRPr lang="en-US" sz="1200" dirty="0"/>
          </a:p>
          <a:p>
            <a:pPr marL="342900" indent="-342900">
              <a:spcAft>
                <a:spcPts val="300"/>
              </a:spcAft>
              <a:buSzPct val="100000"/>
              <a:buChar char="•"/>
            </a:pPr>
            <a:r>
              <a:rPr lang="en-US" sz="1200" dirty="0">
                <a:solidFill>
                  <a:srgbClr val="0B1F3A"/>
                </a:solidFill>
                <a:latin typeface="Calibri" pitchFamily="34" charset="0"/>
                <a:ea typeface="Calibri" pitchFamily="34" charset="-122"/>
                <a:cs typeface="Calibri" pitchFamily="34" charset="-120"/>
              </a:rPr>
              <a:t>Flood events cause loss of life, agricultural damage, infrastructure destruction, and economic setback</a:t>
            </a:r>
            <a:endParaRPr lang="en-US" sz="1200" dirty="0"/>
          </a:p>
          <a:p>
            <a:pPr marL="342900" indent="-342900">
              <a:spcAft>
                <a:spcPts val="300"/>
              </a:spcAft>
              <a:buSzPct val="100000"/>
              <a:buChar char="•"/>
            </a:pPr>
            <a:r>
              <a:rPr lang="en-US" sz="1200" dirty="0">
                <a:solidFill>
                  <a:srgbClr val="0B1F3A"/>
                </a:solidFill>
                <a:latin typeface="Calibri" pitchFamily="34" charset="0"/>
                <a:ea typeface="Calibri" pitchFamily="34" charset="-122"/>
                <a:cs typeface="Calibri" pitchFamily="34" charset="-120"/>
              </a:rPr>
              <a:t>Proactive risk identification enables targeted investment in drainage, early-warning, and urban planning</a:t>
            </a:r>
            <a:endParaRPr lang="en-US" sz="1200" dirty="0"/>
          </a:p>
          <a:p>
            <a:pPr marL="342900" indent="-342900">
              <a:spcAft>
                <a:spcPts val="300"/>
              </a:spcAft>
              <a:buSzPct val="100000"/>
              <a:buChar char="•"/>
            </a:pPr>
            <a:r>
              <a:rPr lang="en-US" sz="1200" dirty="0">
                <a:solidFill>
                  <a:srgbClr val="0B1F3A"/>
                </a:solidFill>
                <a:latin typeface="Calibri" pitchFamily="34" charset="0"/>
                <a:ea typeface="Calibri" pitchFamily="34" charset="-122"/>
                <a:cs typeface="Calibri" pitchFamily="34" charset="-120"/>
              </a:rPr>
              <a:t>Data-driven analysis transforms raw measurements into actionable, prioritized interventions</a:t>
            </a:r>
            <a:endParaRPr lang="en-US" sz="1200" dirty="0"/>
          </a:p>
          <a:p>
            <a:pPr marL="0" indent="0">
              <a:spcAft>
                <a:spcPts val="300"/>
              </a:spcAft>
              <a:buNone/>
            </a:pP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Domain Overview — Flood Hydrology</a:t>
            </a:r>
            <a:endParaRPr lang="en-US" sz="3000" dirty="0"/>
          </a:p>
        </p:txBody>
      </p:sp>
      <p:sp>
        <p:nvSpPr>
          <p:cNvPr id="4" name="Shape 2"/>
          <p:cNvSpPr/>
          <p:nvPr/>
        </p:nvSpPr>
        <p:spPr>
          <a:xfrm>
            <a:off x="320040" y="1143000"/>
            <a:ext cx="3703320" cy="1920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20040" y="1143000"/>
            <a:ext cx="3703320" cy="411480"/>
          </a:xfrm>
          <a:prstGeom prst="rect">
            <a:avLst/>
          </a:prstGeom>
          <a:solidFill>
            <a:srgbClr val="1363DF"/>
          </a:solidFill>
          <a:ln w="12700">
            <a:solidFill>
              <a:srgbClr val="1363DF"/>
            </a:solidFill>
            <a:prstDash val="solid"/>
          </a:ln>
        </p:spPr>
      </p:sp>
      <p:sp>
        <p:nvSpPr>
          <p:cNvPr id="6" name="Text 4"/>
          <p:cNvSpPr/>
          <p:nvPr/>
        </p:nvSpPr>
        <p:spPr>
          <a:xfrm>
            <a:off x="411480" y="1188720"/>
            <a:ext cx="352044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Catchment / Basin</a:t>
            </a:r>
            <a:endParaRPr lang="en-US" sz="1300" dirty="0"/>
          </a:p>
        </p:txBody>
      </p:sp>
      <p:sp>
        <p:nvSpPr>
          <p:cNvPr id="7" name="Text 5"/>
          <p:cNvSpPr/>
          <p:nvPr/>
        </p:nvSpPr>
        <p:spPr>
          <a:xfrm>
            <a:off x="411480" y="1645920"/>
            <a:ext cx="3520440" cy="1280160"/>
          </a:xfrm>
          <a:prstGeom prst="rect">
            <a:avLst/>
          </a:prstGeom>
          <a:noFill/>
          <a:ln/>
        </p:spPr>
        <p:txBody>
          <a:bodyPr wrap="square" rtlCol="0" anchor="ctr"/>
          <a:lstStyle/>
          <a:p>
            <a:pPr marL="0" indent="0">
              <a:spcAft>
                <a:spcPts val="300"/>
              </a:spcAft>
              <a:buNone/>
            </a:pPr>
            <a:r>
              <a:rPr lang="en-US" sz="1100" dirty="0">
                <a:solidFill>
                  <a:srgbClr val="0B1F3A"/>
                </a:solidFill>
                <a:latin typeface="Calibri" pitchFamily="34" charset="0"/>
                <a:ea typeface="Calibri" pitchFamily="34" charset="-122"/>
                <a:cs typeface="Calibri" pitchFamily="34" charset="-120"/>
              </a:rPr>
              <a:t>A land area that drains to a common outlet. Basin size (Small, Medium, Large) critically determines flood potential and response time.</a:t>
            </a:r>
            <a:endParaRPr lang="en-US" sz="1100" dirty="0"/>
          </a:p>
        </p:txBody>
      </p:sp>
      <p:sp>
        <p:nvSpPr>
          <p:cNvPr id="8" name="Shape 6"/>
          <p:cNvSpPr/>
          <p:nvPr/>
        </p:nvSpPr>
        <p:spPr>
          <a:xfrm>
            <a:off x="4224528" y="1143000"/>
            <a:ext cx="3703320" cy="1920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9" name="Shape 7"/>
          <p:cNvSpPr/>
          <p:nvPr/>
        </p:nvSpPr>
        <p:spPr>
          <a:xfrm>
            <a:off x="4224528" y="1143000"/>
            <a:ext cx="3703320" cy="411480"/>
          </a:xfrm>
          <a:prstGeom prst="rect">
            <a:avLst/>
          </a:prstGeom>
          <a:solidFill>
            <a:srgbClr val="0D7377"/>
          </a:solidFill>
          <a:ln w="12700">
            <a:solidFill>
              <a:srgbClr val="0D7377"/>
            </a:solidFill>
            <a:prstDash val="solid"/>
          </a:ln>
        </p:spPr>
      </p:sp>
      <p:sp>
        <p:nvSpPr>
          <p:cNvPr id="10" name="Text 8"/>
          <p:cNvSpPr/>
          <p:nvPr/>
        </p:nvSpPr>
        <p:spPr>
          <a:xfrm>
            <a:off x="4315968" y="1188720"/>
            <a:ext cx="352044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Flood Risk Index</a:t>
            </a:r>
            <a:endParaRPr lang="en-US" sz="1300" dirty="0"/>
          </a:p>
        </p:txBody>
      </p:sp>
      <p:sp>
        <p:nvSpPr>
          <p:cNvPr id="11" name="Text 9"/>
          <p:cNvSpPr/>
          <p:nvPr/>
        </p:nvSpPr>
        <p:spPr>
          <a:xfrm>
            <a:off x="4315968" y="1645920"/>
            <a:ext cx="3520440" cy="1280160"/>
          </a:xfrm>
          <a:prstGeom prst="rect">
            <a:avLst/>
          </a:prstGeom>
          <a:noFill/>
          <a:ln/>
        </p:spPr>
        <p:txBody>
          <a:bodyPr wrap="square" rtlCol="0" anchor="ctr"/>
          <a:lstStyle/>
          <a:p>
            <a:pPr marL="0" indent="0">
              <a:spcAft>
                <a:spcPts val="300"/>
              </a:spcAft>
              <a:buNone/>
            </a:pPr>
            <a:r>
              <a:rPr lang="en-US" sz="1100" dirty="0">
                <a:solidFill>
                  <a:srgbClr val="0B1F3A"/>
                </a:solidFill>
                <a:latin typeface="Calibri" pitchFamily="34" charset="0"/>
                <a:ea typeface="Calibri" pitchFamily="34" charset="-122"/>
                <a:cs typeface="Calibri" pitchFamily="34" charset="-120"/>
              </a:rPr>
              <a:t>A composite index combining morphometric, climatic, and land-use variables to quantify likelihood and severity of flooding in each catchment.</a:t>
            </a:r>
            <a:endParaRPr lang="en-US" sz="1100" dirty="0"/>
          </a:p>
        </p:txBody>
      </p:sp>
      <p:sp>
        <p:nvSpPr>
          <p:cNvPr id="12" name="Shape 10"/>
          <p:cNvSpPr/>
          <p:nvPr/>
        </p:nvSpPr>
        <p:spPr>
          <a:xfrm>
            <a:off x="8129016" y="1143000"/>
            <a:ext cx="3703320" cy="1920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3" name="Shape 11"/>
          <p:cNvSpPr/>
          <p:nvPr/>
        </p:nvSpPr>
        <p:spPr>
          <a:xfrm>
            <a:off x="8129016" y="1143000"/>
            <a:ext cx="3703320" cy="411480"/>
          </a:xfrm>
          <a:prstGeom prst="rect">
            <a:avLst/>
          </a:prstGeom>
          <a:solidFill>
            <a:srgbClr val="2B4B8C"/>
          </a:solidFill>
          <a:ln w="12700">
            <a:solidFill>
              <a:srgbClr val="2B4B8C"/>
            </a:solidFill>
            <a:prstDash val="solid"/>
          </a:ln>
        </p:spPr>
      </p:sp>
      <p:sp>
        <p:nvSpPr>
          <p:cNvPr id="14" name="Text 12"/>
          <p:cNvSpPr/>
          <p:nvPr/>
        </p:nvSpPr>
        <p:spPr>
          <a:xfrm>
            <a:off x="8220456" y="1188720"/>
            <a:ext cx="352044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Drainage Density</a:t>
            </a:r>
            <a:endParaRPr lang="en-US" sz="1300" dirty="0"/>
          </a:p>
        </p:txBody>
      </p:sp>
      <p:sp>
        <p:nvSpPr>
          <p:cNvPr id="15" name="Text 13"/>
          <p:cNvSpPr/>
          <p:nvPr/>
        </p:nvSpPr>
        <p:spPr>
          <a:xfrm>
            <a:off x="8220456" y="1645920"/>
            <a:ext cx="3520440" cy="1280160"/>
          </a:xfrm>
          <a:prstGeom prst="rect">
            <a:avLst/>
          </a:prstGeom>
          <a:noFill/>
          <a:ln/>
        </p:spPr>
        <p:txBody>
          <a:bodyPr wrap="square" rtlCol="0" anchor="ctr"/>
          <a:lstStyle/>
          <a:p>
            <a:pPr marL="0" indent="0">
              <a:spcAft>
                <a:spcPts val="300"/>
              </a:spcAft>
              <a:buNone/>
            </a:pPr>
            <a:r>
              <a:rPr lang="en-US" sz="1100" dirty="0">
                <a:solidFill>
                  <a:srgbClr val="0B1F3A"/>
                </a:solidFill>
                <a:latin typeface="Calibri" pitchFamily="34" charset="0"/>
                <a:ea typeface="Calibri" pitchFamily="34" charset="-122"/>
                <a:cs typeface="Calibri" pitchFamily="34" charset="-120"/>
              </a:rPr>
              <a:t>Total stream length per unit basin area. High drainage density = faster runoff = higher flood potential, especially for cropland basins.</a:t>
            </a:r>
            <a:endParaRPr lang="en-US" sz="1100" dirty="0"/>
          </a:p>
        </p:txBody>
      </p:sp>
      <p:sp>
        <p:nvSpPr>
          <p:cNvPr id="16" name="Shape 14"/>
          <p:cNvSpPr/>
          <p:nvPr/>
        </p:nvSpPr>
        <p:spPr>
          <a:xfrm>
            <a:off x="320040" y="3246120"/>
            <a:ext cx="3703320" cy="1920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7" name="Shape 15"/>
          <p:cNvSpPr/>
          <p:nvPr/>
        </p:nvSpPr>
        <p:spPr>
          <a:xfrm>
            <a:off x="320040" y="3246120"/>
            <a:ext cx="3703320" cy="411480"/>
          </a:xfrm>
          <a:prstGeom prst="rect">
            <a:avLst/>
          </a:prstGeom>
          <a:solidFill>
            <a:srgbClr val="E63946"/>
          </a:solidFill>
          <a:ln w="12700">
            <a:solidFill>
              <a:srgbClr val="E63946"/>
            </a:solidFill>
            <a:prstDash val="solid"/>
          </a:ln>
        </p:spPr>
      </p:sp>
      <p:sp>
        <p:nvSpPr>
          <p:cNvPr id="18" name="Text 16"/>
          <p:cNvSpPr/>
          <p:nvPr/>
        </p:nvSpPr>
        <p:spPr>
          <a:xfrm>
            <a:off x="411480" y="3291840"/>
            <a:ext cx="352044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Relief Ratio</a:t>
            </a:r>
            <a:endParaRPr lang="en-US" sz="1300" dirty="0"/>
          </a:p>
        </p:txBody>
      </p:sp>
      <p:sp>
        <p:nvSpPr>
          <p:cNvPr id="19" name="Text 17"/>
          <p:cNvSpPr/>
          <p:nvPr/>
        </p:nvSpPr>
        <p:spPr>
          <a:xfrm>
            <a:off x="411480" y="3749040"/>
            <a:ext cx="3520440" cy="1280160"/>
          </a:xfrm>
          <a:prstGeom prst="rect">
            <a:avLst/>
          </a:prstGeom>
          <a:noFill/>
          <a:ln/>
        </p:spPr>
        <p:txBody>
          <a:bodyPr wrap="square" rtlCol="0" anchor="ctr"/>
          <a:lstStyle/>
          <a:p>
            <a:pPr marL="0" indent="0">
              <a:spcAft>
                <a:spcPts val="300"/>
              </a:spcAft>
              <a:buNone/>
            </a:pPr>
            <a:r>
              <a:rPr lang="en-US" sz="1100" dirty="0">
                <a:solidFill>
                  <a:srgbClr val="0B1F3A"/>
                </a:solidFill>
                <a:latin typeface="Calibri" pitchFamily="34" charset="0"/>
                <a:ea typeface="Calibri" pitchFamily="34" charset="-122"/>
                <a:cs typeface="Calibri" pitchFamily="34" charset="-120"/>
              </a:rPr>
              <a:t>Difference in basin elevation / basin length. Controls flow velocity; steeper basins respond faster but may also drain faster.</a:t>
            </a:r>
            <a:endParaRPr lang="en-US" sz="1100" dirty="0"/>
          </a:p>
        </p:txBody>
      </p:sp>
      <p:sp>
        <p:nvSpPr>
          <p:cNvPr id="20" name="Shape 18"/>
          <p:cNvSpPr/>
          <p:nvPr/>
        </p:nvSpPr>
        <p:spPr>
          <a:xfrm>
            <a:off x="4224528" y="3246120"/>
            <a:ext cx="3703320" cy="1920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1" name="Shape 19"/>
          <p:cNvSpPr/>
          <p:nvPr/>
        </p:nvSpPr>
        <p:spPr>
          <a:xfrm>
            <a:off x="4224528" y="3246120"/>
            <a:ext cx="3703320" cy="411480"/>
          </a:xfrm>
          <a:prstGeom prst="rect">
            <a:avLst/>
          </a:prstGeom>
          <a:solidFill>
            <a:srgbClr val="F4A261"/>
          </a:solidFill>
          <a:ln w="12700">
            <a:solidFill>
              <a:srgbClr val="F4A261"/>
            </a:solidFill>
            <a:prstDash val="solid"/>
          </a:ln>
        </p:spPr>
      </p:sp>
      <p:sp>
        <p:nvSpPr>
          <p:cNvPr id="22" name="Text 20"/>
          <p:cNvSpPr/>
          <p:nvPr/>
        </p:nvSpPr>
        <p:spPr>
          <a:xfrm>
            <a:off x="4315968" y="3291840"/>
            <a:ext cx="352044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Soil Type</a:t>
            </a:r>
            <a:endParaRPr lang="en-US" sz="1300" dirty="0"/>
          </a:p>
        </p:txBody>
      </p:sp>
      <p:sp>
        <p:nvSpPr>
          <p:cNvPr id="23" name="Text 21"/>
          <p:cNvSpPr/>
          <p:nvPr/>
        </p:nvSpPr>
        <p:spPr>
          <a:xfrm>
            <a:off x="4315968" y="3749040"/>
            <a:ext cx="3520440" cy="1280160"/>
          </a:xfrm>
          <a:prstGeom prst="rect">
            <a:avLst/>
          </a:prstGeom>
          <a:noFill/>
          <a:ln/>
        </p:spPr>
        <p:txBody>
          <a:bodyPr wrap="square" rtlCol="0" anchor="ctr"/>
          <a:lstStyle/>
          <a:p>
            <a:pPr marL="0" indent="0">
              <a:spcAft>
                <a:spcPts val="300"/>
              </a:spcAft>
              <a:buNone/>
            </a:pPr>
            <a:r>
              <a:rPr lang="en-US" sz="1100" dirty="0">
                <a:solidFill>
                  <a:srgbClr val="0B1F3A"/>
                </a:solidFill>
                <a:latin typeface="Calibri" pitchFamily="34" charset="0"/>
                <a:ea typeface="Calibri" pitchFamily="34" charset="-122"/>
                <a:cs typeface="Calibri" pitchFamily="34" charset="-120"/>
              </a:rPr>
              <a:t>Soil permeability governs infiltration. Cambisols and Acrisols show higher flood risk; Fluvisols (floodplain soils) retain water more effectively.</a:t>
            </a:r>
            <a:endParaRPr lang="en-US" sz="1100" dirty="0"/>
          </a:p>
        </p:txBody>
      </p:sp>
      <p:sp>
        <p:nvSpPr>
          <p:cNvPr id="24" name="Shape 22"/>
          <p:cNvSpPr/>
          <p:nvPr/>
        </p:nvSpPr>
        <p:spPr>
          <a:xfrm>
            <a:off x="8129016" y="3246120"/>
            <a:ext cx="3703320" cy="19202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5" name="Shape 23"/>
          <p:cNvSpPr/>
          <p:nvPr/>
        </p:nvSpPr>
        <p:spPr>
          <a:xfrm>
            <a:off x="8129016" y="3246120"/>
            <a:ext cx="3703320" cy="411480"/>
          </a:xfrm>
          <a:prstGeom prst="rect">
            <a:avLst/>
          </a:prstGeom>
          <a:solidFill>
            <a:srgbClr val="0B2545"/>
          </a:solidFill>
          <a:ln w="12700">
            <a:solidFill>
              <a:srgbClr val="0B2545"/>
            </a:solidFill>
            <a:prstDash val="solid"/>
          </a:ln>
        </p:spPr>
      </p:sp>
      <p:sp>
        <p:nvSpPr>
          <p:cNvPr id="26" name="Text 24"/>
          <p:cNvSpPr/>
          <p:nvPr/>
        </p:nvSpPr>
        <p:spPr>
          <a:xfrm>
            <a:off x="8220456" y="3291840"/>
            <a:ext cx="352044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Population Risk Level</a:t>
            </a:r>
            <a:endParaRPr lang="en-US" sz="1300" dirty="0"/>
          </a:p>
        </p:txBody>
      </p:sp>
      <p:sp>
        <p:nvSpPr>
          <p:cNvPr id="27" name="Text 25"/>
          <p:cNvSpPr/>
          <p:nvPr/>
        </p:nvSpPr>
        <p:spPr>
          <a:xfrm>
            <a:off x="8220456" y="3749040"/>
            <a:ext cx="3520440" cy="1280160"/>
          </a:xfrm>
          <a:prstGeom prst="rect">
            <a:avLst/>
          </a:prstGeom>
          <a:noFill/>
          <a:ln/>
        </p:spPr>
        <p:txBody>
          <a:bodyPr wrap="square" rtlCol="0" anchor="ctr"/>
          <a:lstStyle/>
          <a:p>
            <a:pPr marL="0" indent="0">
              <a:spcAft>
                <a:spcPts val="300"/>
              </a:spcAft>
              <a:buNone/>
            </a:pPr>
            <a:r>
              <a:rPr lang="en-US" sz="1100" dirty="0">
                <a:solidFill>
                  <a:srgbClr val="0B1F3A"/>
                </a:solidFill>
                <a:latin typeface="Calibri" pitchFamily="34" charset="0"/>
                <a:ea typeface="Calibri" pitchFamily="34" charset="-122"/>
                <a:cs typeface="Calibri" pitchFamily="34" charset="-120"/>
              </a:rPr>
              <a:t>Categorical classification (Low / Medium / High) combining population density, basin characteristics, and flood risk index into a risk tier.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545"/>
          </a:solidFill>
          <a:ln w="12700">
            <a:solidFill>
              <a:srgbClr val="0B2545"/>
            </a:solidFill>
            <a:prstDash val="solid"/>
          </a:ln>
        </p:spPr>
      </p:sp>
      <p:sp>
        <p:nvSpPr>
          <p:cNvPr id="3" name="Shape 1"/>
          <p:cNvSpPr/>
          <p:nvPr/>
        </p:nvSpPr>
        <p:spPr>
          <a:xfrm>
            <a:off x="0" y="0"/>
            <a:ext cx="4114800" cy="6858000"/>
          </a:xfrm>
          <a:prstGeom prst="rect">
            <a:avLst/>
          </a:prstGeom>
          <a:solidFill>
            <a:srgbClr val="0B1F3A"/>
          </a:solidFill>
          <a:ln w="12700">
            <a:solidFill>
              <a:srgbClr val="0B1F3A"/>
            </a:solidFill>
            <a:prstDash val="solid"/>
          </a:ln>
        </p:spPr>
      </p:sp>
      <p:sp>
        <p:nvSpPr>
          <p:cNvPr id="4" name="Text 2"/>
          <p:cNvSpPr/>
          <p:nvPr/>
        </p:nvSpPr>
        <p:spPr>
          <a:xfrm>
            <a:off x="274320" y="1371600"/>
            <a:ext cx="3474720" cy="1828800"/>
          </a:xfrm>
          <a:prstGeom prst="rect">
            <a:avLst/>
          </a:prstGeom>
          <a:noFill/>
          <a:ln/>
        </p:spPr>
        <p:txBody>
          <a:bodyPr wrap="square" rtlCol="0" anchor="ctr"/>
          <a:lstStyle/>
          <a:p>
            <a:pPr marL="0" indent="0" algn="ctr">
              <a:buNone/>
            </a:pPr>
            <a:r>
              <a:rPr lang="en-US" sz="3200" b="1" kern="0" spc="200" dirty="0">
                <a:solidFill>
                  <a:srgbClr val="32E0C4"/>
                </a:solidFill>
                <a:latin typeface="Calibri" pitchFamily="34" charset="0"/>
                <a:ea typeface="Calibri" pitchFamily="34" charset="-122"/>
                <a:cs typeface="Calibri" pitchFamily="34" charset="-120"/>
              </a:rPr>
              <a:t>PROBLEM</a:t>
            </a:r>
            <a:endParaRPr lang="en-US" sz="3200" dirty="0"/>
          </a:p>
          <a:p>
            <a:pPr marL="0" indent="0" algn="ctr">
              <a:buNone/>
            </a:pPr>
            <a:r>
              <a:rPr lang="en-US" sz="3200" b="1" kern="0" spc="200" dirty="0">
                <a:solidFill>
                  <a:srgbClr val="32E0C4"/>
                </a:solidFill>
                <a:latin typeface="Calibri" pitchFamily="34" charset="0"/>
                <a:ea typeface="Calibri" pitchFamily="34" charset="-122"/>
                <a:cs typeface="Calibri" pitchFamily="34" charset="-120"/>
              </a:rPr>
              <a:t>STATEMENT</a:t>
            </a:r>
            <a:endParaRPr lang="en-US" sz="3200" dirty="0"/>
          </a:p>
        </p:txBody>
      </p:sp>
      <p:sp>
        <p:nvSpPr>
          <p:cNvPr id="5" name="Shape 3"/>
          <p:cNvSpPr/>
          <p:nvPr/>
        </p:nvSpPr>
        <p:spPr>
          <a:xfrm>
            <a:off x="548640" y="3566160"/>
            <a:ext cx="2926080" cy="2926080"/>
          </a:xfrm>
          <a:prstGeom prst="ellipse">
            <a:avLst/>
          </a:prstGeom>
          <a:solidFill>
            <a:srgbClr val="1363DF">
              <a:alpha val="20000"/>
            </a:srgbClr>
          </a:solidFill>
          <a:ln w="12700">
            <a:solidFill>
              <a:srgbClr val="4A9DF8"/>
            </a:solidFill>
            <a:prstDash val="solid"/>
          </a:ln>
        </p:spPr>
      </p:sp>
      <p:sp>
        <p:nvSpPr>
          <p:cNvPr id="6" name="Text 4"/>
          <p:cNvSpPr/>
          <p:nvPr/>
        </p:nvSpPr>
        <p:spPr>
          <a:xfrm>
            <a:off x="548640" y="3840480"/>
            <a:ext cx="2926080" cy="219456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155</a:t>
            </a:r>
            <a:endParaRPr lang="en-US" sz="2800" dirty="0"/>
          </a:p>
          <a:p>
            <a:pPr marL="0" indent="0" algn="ctr">
              <a:buNone/>
            </a:pPr>
            <a:r>
              <a:rPr lang="en-US" sz="2800" b="1" dirty="0">
                <a:solidFill>
                  <a:srgbClr val="FFFFFF"/>
                </a:solidFill>
                <a:latin typeface="Calibri" pitchFamily="34" charset="0"/>
                <a:ea typeface="Calibri" pitchFamily="34" charset="-122"/>
                <a:cs typeface="Calibri" pitchFamily="34" charset="-120"/>
              </a:rPr>
              <a:t>Catchments</a:t>
            </a:r>
            <a:endParaRPr lang="en-US" sz="2800" dirty="0"/>
          </a:p>
        </p:txBody>
      </p:sp>
      <p:sp>
        <p:nvSpPr>
          <p:cNvPr id="7" name="Shape 5"/>
          <p:cNvSpPr/>
          <p:nvPr/>
        </p:nvSpPr>
        <p:spPr>
          <a:xfrm>
            <a:off x="4389120" y="1097280"/>
            <a:ext cx="7498080" cy="1143000"/>
          </a:xfrm>
          <a:prstGeom prst="rect">
            <a:avLst/>
          </a:prstGeom>
          <a:solidFill>
            <a:srgbClr val="112244"/>
          </a:solidFill>
          <a:ln w="6350">
            <a:solidFill>
              <a:srgbClr val="4A9DF8"/>
            </a:solidFill>
            <a:prstDash val="solid"/>
          </a:ln>
        </p:spPr>
      </p:sp>
      <p:sp>
        <p:nvSpPr>
          <p:cNvPr id="8" name="Shape 6"/>
          <p:cNvSpPr/>
          <p:nvPr/>
        </p:nvSpPr>
        <p:spPr>
          <a:xfrm>
            <a:off x="4389120" y="1097280"/>
            <a:ext cx="73152" cy="1143000"/>
          </a:xfrm>
          <a:prstGeom prst="rect">
            <a:avLst/>
          </a:prstGeom>
          <a:solidFill>
            <a:srgbClr val="32E0C4"/>
          </a:solidFill>
          <a:ln w="12700">
            <a:solidFill>
              <a:srgbClr val="32E0C4"/>
            </a:solidFill>
            <a:prstDash val="solid"/>
          </a:ln>
        </p:spPr>
      </p:sp>
      <p:sp>
        <p:nvSpPr>
          <p:cNvPr id="9" name="Text 7"/>
          <p:cNvSpPr/>
          <p:nvPr/>
        </p:nvSpPr>
        <p:spPr>
          <a:xfrm>
            <a:off x="4572000" y="1170432"/>
            <a:ext cx="7132320" cy="274320"/>
          </a:xfrm>
          <a:prstGeom prst="rect">
            <a:avLst/>
          </a:prstGeom>
          <a:noFill/>
          <a:ln/>
        </p:spPr>
        <p:txBody>
          <a:bodyPr wrap="square" rtlCol="0" anchor="ctr"/>
          <a:lstStyle/>
          <a:p>
            <a:pPr marL="0" indent="0">
              <a:buNone/>
            </a:pPr>
            <a:r>
              <a:rPr lang="en-US" sz="1300" b="1" dirty="0">
                <a:solidFill>
                  <a:srgbClr val="32E0C4"/>
                </a:solidFill>
                <a:latin typeface="Calibri" pitchFamily="34" charset="0"/>
                <a:ea typeface="Calibri" pitchFamily="34" charset="-122"/>
                <a:cs typeface="Calibri" pitchFamily="34" charset="-120"/>
              </a:rPr>
              <a:t>Unclear Risk Prioritization</a:t>
            </a:r>
            <a:endParaRPr lang="en-US" sz="1300" dirty="0"/>
          </a:p>
        </p:txBody>
      </p:sp>
      <p:sp>
        <p:nvSpPr>
          <p:cNvPr id="10" name="Text 8"/>
          <p:cNvSpPr/>
          <p:nvPr/>
        </p:nvSpPr>
        <p:spPr>
          <a:xfrm>
            <a:off x="4572000" y="1463040"/>
            <a:ext cx="7132320" cy="6400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With 155 diverse catchments, decision-makers lack a clear framework to identify and prioritize the highest-risk zones for intervention.</a:t>
            </a:r>
            <a:endParaRPr lang="en-US" sz="1100" dirty="0"/>
          </a:p>
        </p:txBody>
      </p:sp>
      <p:sp>
        <p:nvSpPr>
          <p:cNvPr id="11" name="Shape 9"/>
          <p:cNvSpPr/>
          <p:nvPr/>
        </p:nvSpPr>
        <p:spPr>
          <a:xfrm>
            <a:off x="4389120" y="2423160"/>
            <a:ext cx="7498080" cy="1143000"/>
          </a:xfrm>
          <a:prstGeom prst="rect">
            <a:avLst/>
          </a:prstGeom>
          <a:solidFill>
            <a:srgbClr val="112244"/>
          </a:solidFill>
          <a:ln w="6350">
            <a:solidFill>
              <a:srgbClr val="4A9DF8"/>
            </a:solidFill>
            <a:prstDash val="solid"/>
          </a:ln>
        </p:spPr>
      </p:sp>
      <p:sp>
        <p:nvSpPr>
          <p:cNvPr id="12" name="Shape 10"/>
          <p:cNvSpPr/>
          <p:nvPr/>
        </p:nvSpPr>
        <p:spPr>
          <a:xfrm>
            <a:off x="4389120" y="2423160"/>
            <a:ext cx="73152" cy="1143000"/>
          </a:xfrm>
          <a:prstGeom prst="rect">
            <a:avLst/>
          </a:prstGeom>
          <a:solidFill>
            <a:srgbClr val="32E0C4"/>
          </a:solidFill>
          <a:ln w="12700">
            <a:solidFill>
              <a:srgbClr val="32E0C4"/>
            </a:solidFill>
            <a:prstDash val="solid"/>
          </a:ln>
        </p:spPr>
      </p:sp>
      <p:sp>
        <p:nvSpPr>
          <p:cNvPr id="13" name="Text 11"/>
          <p:cNvSpPr/>
          <p:nvPr/>
        </p:nvSpPr>
        <p:spPr>
          <a:xfrm>
            <a:off x="4572000" y="2496312"/>
            <a:ext cx="7132320" cy="274320"/>
          </a:xfrm>
          <a:prstGeom prst="rect">
            <a:avLst/>
          </a:prstGeom>
          <a:noFill/>
          <a:ln/>
        </p:spPr>
        <p:txBody>
          <a:bodyPr wrap="square" rtlCol="0" anchor="ctr"/>
          <a:lstStyle/>
          <a:p>
            <a:pPr marL="0" indent="0">
              <a:buNone/>
            </a:pPr>
            <a:r>
              <a:rPr lang="en-US" sz="1300" b="1" dirty="0">
                <a:solidFill>
                  <a:srgbClr val="32E0C4"/>
                </a:solidFill>
                <a:latin typeface="Calibri" pitchFamily="34" charset="0"/>
                <a:ea typeface="Calibri" pitchFamily="34" charset="-122"/>
                <a:cs typeface="Calibri" pitchFamily="34" charset="-120"/>
              </a:rPr>
              <a:t>Environmental Vulnerability Gaps</a:t>
            </a:r>
            <a:endParaRPr lang="en-US" sz="1300" dirty="0"/>
          </a:p>
        </p:txBody>
      </p:sp>
      <p:sp>
        <p:nvSpPr>
          <p:cNvPr id="14" name="Text 12"/>
          <p:cNvSpPr/>
          <p:nvPr/>
        </p:nvSpPr>
        <p:spPr>
          <a:xfrm>
            <a:off x="4572000" y="2788920"/>
            <a:ext cx="7132320" cy="6400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Factors such as soil permeability, land cover type, and basin size are known to influence flood risk, but their relative contributions are rarely quantified together.</a:t>
            </a:r>
            <a:endParaRPr lang="en-US" sz="1100" dirty="0"/>
          </a:p>
        </p:txBody>
      </p:sp>
      <p:sp>
        <p:nvSpPr>
          <p:cNvPr id="15" name="Shape 13"/>
          <p:cNvSpPr/>
          <p:nvPr/>
        </p:nvSpPr>
        <p:spPr>
          <a:xfrm>
            <a:off x="4389120" y="3749040"/>
            <a:ext cx="7498080" cy="1143000"/>
          </a:xfrm>
          <a:prstGeom prst="rect">
            <a:avLst/>
          </a:prstGeom>
          <a:solidFill>
            <a:srgbClr val="112244"/>
          </a:solidFill>
          <a:ln w="6350">
            <a:solidFill>
              <a:srgbClr val="4A9DF8"/>
            </a:solidFill>
            <a:prstDash val="solid"/>
          </a:ln>
        </p:spPr>
      </p:sp>
      <p:sp>
        <p:nvSpPr>
          <p:cNvPr id="16" name="Shape 14"/>
          <p:cNvSpPr/>
          <p:nvPr/>
        </p:nvSpPr>
        <p:spPr>
          <a:xfrm>
            <a:off x="4389120" y="3749040"/>
            <a:ext cx="73152" cy="1143000"/>
          </a:xfrm>
          <a:prstGeom prst="rect">
            <a:avLst/>
          </a:prstGeom>
          <a:solidFill>
            <a:srgbClr val="32E0C4"/>
          </a:solidFill>
          <a:ln w="12700">
            <a:solidFill>
              <a:srgbClr val="32E0C4"/>
            </a:solidFill>
            <a:prstDash val="solid"/>
          </a:ln>
        </p:spPr>
      </p:sp>
      <p:sp>
        <p:nvSpPr>
          <p:cNvPr id="17" name="Text 15"/>
          <p:cNvSpPr/>
          <p:nvPr/>
        </p:nvSpPr>
        <p:spPr>
          <a:xfrm>
            <a:off x="4572000" y="3822192"/>
            <a:ext cx="7132320" cy="274320"/>
          </a:xfrm>
          <a:prstGeom prst="rect">
            <a:avLst/>
          </a:prstGeom>
          <a:noFill/>
          <a:ln/>
        </p:spPr>
        <p:txBody>
          <a:bodyPr wrap="square" rtlCol="0" anchor="ctr"/>
          <a:lstStyle/>
          <a:p>
            <a:pPr marL="0" indent="0">
              <a:buNone/>
            </a:pPr>
            <a:r>
              <a:rPr lang="en-US" sz="1300" b="1" dirty="0">
                <a:solidFill>
                  <a:srgbClr val="32E0C4"/>
                </a:solidFill>
                <a:latin typeface="Calibri" pitchFamily="34" charset="0"/>
                <a:ea typeface="Calibri" pitchFamily="34" charset="-122"/>
                <a:cs typeface="Calibri" pitchFamily="34" charset="-120"/>
              </a:rPr>
              <a:t>Population Exposure Mismatch</a:t>
            </a:r>
            <a:endParaRPr lang="en-US" sz="1300" dirty="0"/>
          </a:p>
        </p:txBody>
      </p:sp>
      <p:sp>
        <p:nvSpPr>
          <p:cNvPr id="18" name="Text 16"/>
          <p:cNvSpPr/>
          <p:nvPr/>
        </p:nvSpPr>
        <p:spPr>
          <a:xfrm>
            <a:off x="4572000" y="4114800"/>
            <a:ext cx="7132320" cy="6400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High population density does not always align with high flood risk scores, making it difficult to target evacuation plans and infrastructure spending.</a:t>
            </a:r>
            <a:endParaRPr lang="en-US" sz="1100" dirty="0"/>
          </a:p>
        </p:txBody>
      </p:sp>
      <p:sp>
        <p:nvSpPr>
          <p:cNvPr id="19" name="Shape 17"/>
          <p:cNvSpPr/>
          <p:nvPr/>
        </p:nvSpPr>
        <p:spPr>
          <a:xfrm>
            <a:off x="4389120" y="5074920"/>
            <a:ext cx="7498080" cy="1143000"/>
          </a:xfrm>
          <a:prstGeom prst="rect">
            <a:avLst/>
          </a:prstGeom>
          <a:solidFill>
            <a:srgbClr val="112244"/>
          </a:solidFill>
          <a:ln w="6350">
            <a:solidFill>
              <a:srgbClr val="4A9DF8"/>
            </a:solidFill>
            <a:prstDash val="solid"/>
          </a:ln>
        </p:spPr>
      </p:sp>
      <p:sp>
        <p:nvSpPr>
          <p:cNvPr id="20" name="Shape 18"/>
          <p:cNvSpPr/>
          <p:nvPr/>
        </p:nvSpPr>
        <p:spPr>
          <a:xfrm>
            <a:off x="4389120" y="5074920"/>
            <a:ext cx="73152" cy="1143000"/>
          </a:xfrm>
          <a:prstGeom prst="rect">
            <a:avLst/>
          </a:prstGeom>
          <a:solidFill>
            <a:srgbClr val="32E0C4"/>
          </a:solidFill>
          <a:ln w="12700">
            <a:solidFill>
              <a:srgbClr val="32E0C4"/>
            </a:solidFill>
            <a:prstDash val="solid"/>
          </a:ln>
        </p:spPr>
      </p:sp>
      <p:sp>
        <p:nvSpPr>
          <p:cNvPr id="21" name="Text 19"/>
          <p:cNvSpPr/>
          <p:nvPr/>
        </p:nvSpPr>
        <p:spPr>
          <a:xfrm>
            <a:off x="4572000" y="5148072"/>
            <a:ext cx="7132320" cy="274320"/>
          </a:xfrm>
          <a:prstGeom prst="rect">
            <a:avLst/>
          </a:prstGeom>
          <a:noFill/>
          <a:ln/>
        </p:spPr>
        <p:txBody>
          <a:bodyPr wrap="square" rtlCol="0" anchor="ctr"/>
          <a:lstStyle/>
          <a:p>
            <a:pPr marL="0" indent="0">
              <a:buNone/>
            </a:pPr>
            <a:r>
              <a:rPr lang="en-US" sz="1300" b="1" dirty="0">
                <a:solidFill>
                  <a:srgbClr val="32E0C4"/>
                </a:solidFill>
                <a:latin typeface="Calibri" pitchFamily="34" charset="0"/>
                <a:ea typeface="Calibri" pitchFamily="34" charset="-122"/>
                <a:cs typeface="Calibri" pitchFamily="34" charset="-120"/>
              </a:rPr>
              <a:t>Limited Comparative Analysis</a:t>
            </a:r>
            <a:endParaRPr lang="en-US" sz="1300" dirty="0"/>
          </a:p>
        </p:txBody>
      </p:sp>
      <p:sp>
        <p:nvSpPr>
          <p:cNvPr id="22" name="Text 20"/>
          <p:cNvSpPr/>
          <p:nvPr/>
        </p:nvSpPr>
        <p:spPr>
          <a:xfrm>
            <a:off x="4572000" y="5440680"/>
            <a:ext cx="7132320" cy="6400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Historical data on GDP, HDI, and road density exist but are rarely correlated with flood risk, missing key socioeconomic vulnerability dimensions.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Project Objectives</a:t>
            </a:r>
            <a:endParaRPr lang="en-US" sz="3000" dirty="0"/>
          </a:p>
        </p:txBody>
      </p:sp>
      <p:sp>
        <p:nvSpPr>
          <p:cNvPr id="4" name="Shape 2"/>
          <p:cNvSpPr/>
          <p:nvPr/>
        </p:nvSpPr>
        <p:spPr>
          <a:xfrm>
            <a:off x="320040" y="1143000"/>
            <a:ext cx="11521440" cy="155448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20040" y="1143000"/>
            <a:ext cx="1097280" cy="1554480"/>
          </a:xfrm>
          <a:prstGeom prst="rect">
            <a:avLst/>
          </a:prstGeom>
          <a:solidFill>
            <a:srgbClr val="1363DF"/>
          </a:solidFill>
          <a:ln w="12700">
            <a:solidFill>
              <a:srgbClr val="1363DF"/>
            </a:solidFill>
            <a:prstDash val="solid"/>
          </a:ln>
        </p:spPr>
      </p:sp>
      <p:sp>
        <p:nvSpPr>
          <p:cNvPr id="6" name="Text 4"/>
          <p:cNvSpPr/>
          <p:nvPr/>
        </p:nvSpPr>
        <p:spPr>
          <a:xfrm>
            <a:off x="347472" y="1325880"/>
            <a:ext cx="1005840" cy="10972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Business Goal</a:t>
            </a:r>
            <a:endParaRPr lang="en-US" sz="1200" dirty="0"/>
          </a:p>
        </p:txBody>
      </p:sp>
      <p:sp>
        <p:nvSpPr>
          <p:cNvPr id="7" name="Text 5"/>
          <p:cNvSpPr/>
          <p:nvPr/>
        </p:nvSpPr>
        <p:spPr>
          <a:xfrm>
            <a:off x="1554480" y="1371600"/>
            <a:ext cx="10058400" cy="347472"/>
          </a:xfrm>
          <a:prstGeom prst="rect">
            <a:avLst/>
          </a:prstGeom>
          <a:noFill/>
          <a:ln/>
        </p:spPr>
        <p:txBody>
          <a:bodyPr wrap="square" rtlCol="0" anchor="ctr"/>
          <a:lstStyle/>
          <a:p>
            <a:pPr marL="342900" indent="-342900">
              <a:buSzPct val="100000"/>
              <a:buChar char="•"/>
            </a:pPr>
            <a:r>
              <a:rPr lang="en-US" sz="1200" dirty="0">
                <a:solidFill>
                  <a:srgbClr val="0B1F3A"/>
                </a:solidFill>
                <a:latin typeface="Calibri" pitchFamily="34" charset="0"/>
                <a:ea typeface="Calibri" pitchFamily="34" charset="-122"/>
                <a:cs typeface="Calibri" pitchFamily="34" charset="-120"/>
              </a:rPr>
              <a:t>Identify catchments with the highest composite flood risk across Indonesia</a:t>
            </a:r>
            <a:endParaRPr lang="en-US" sz="1200" dirty="0"/>
          </a:p>
        </p:txBody>
      </p:sp>
      <p:sp>
        <p:nvSpPr>
          <p:cNvPr id="8" name="Text 6"/>
          <p:cNvSpPr/>
          <p:nvPr/>
        </p:nvSpPr>
        <p:spPr>
          <a:xfrm>
            <a:off x="1554480" y="1755648"/>
            <a:ext cx="10058400" cy="347472"/>
          </a:xfrm>
          <a:prstGeom prst="rect">
            <a:avLst/>
          </a:prstGeom>
          <a:noFill/>
          <a:ln/>
        </p:spPr>
        <p:txBody>
          <a:bodyPr wrap="square" rtlCol="0" anchor="ctr"/>
          <a:lstStyle/>
          <a:p>
            <a:pPr marL="342900" indent="-342900">
              <a:buSzPct val="100000"/>
              <a:buChar char="•"/>
            </a:pPr>
            <a:r>
              <a:rPr lang="en-US" sz="1200" dirty="0">
                <a:solidFill>
                  <a:srgbClr val="0B1F3A"/>
                </a:solidFill>
                <a:latin typeface="Calibri" pitchFamily="34" charset="0"/>
                <a:ea typeface="Calibri" pitchFamily="34" charset="-122"/>
                <a:cs typeface="Calibri" pitchFamily="34" charset="-120"/>
              </a:rPr>
              <a:t>Determine which environmental and social factors most strongly drive flood vulnerability</a:t>
            </a:r>
            <a:endParaRPr lang="en-US" sz="1200" dirty="0"/>
          </a:p>
        </p:txBody>
      </p:sp>
      <p:sp>
        <p:nvSpPr>
          <p:cNvPr id="9" name="Text 7"/>
          <p:cNvSpPr/>
          <p:nvPr/>
        </p:nvSpPr>
        <p:spPr>
          <a:xfrm>
            <a:off x="1554480" y="2139696"/>
            <a:ext cx="10058400" cy="347472"/>
          </a:xfrm>
          <a:prstGeom prst="rect">
            <a:avLst/>
          </a:prstGeom>
          <a:noFill/>
          <a:ln/>
        </p:spPr>
        <p:txBody>
          <a:bodyPr wrap="square" rtlCol="0" anchor="ctr"/>
          <a:lstStyle/>
          <a:p>
            <a:pPr marL="342900" indent="-342900">
              <a:buSzPct val="100000"/>
              <a:buChar char="•"/>
            </a:pPr>
            <a:r>
              <a:rPr lang="en-US" sz="1200" dirty="0">
                <a:solidFill>
                  <a:srgbClr val="0B1F3A"/>
                </a:solidFill>
                <a:latin typeface="Calibri" pitchFamily="34" charset="0"/>
                <a:ea typeface="Calibri" pitchFamily="34" charset="-122"/>
                <a:cs typeface="Calibri" pitchFamily="34" charset="-120"/>
              </a:rPr>
              <a:t>Enable evidence-based prioritization of flood mitigation investments</a:t>
            </a:r>
            <a:endParaRPr lang="en-US" sz="1200" dirty="0"/>
          </a:p>
        </p:txBody>
      </p:sp>
      <p:sp>
        <p:nvSpPr>
          <p:cNvPr id="10" name="Shape 8"/>
          <p:cNvSpPr/>
          <p:nvPr/>
        </p:nvSpPr>
        <p:spPr>
          <a:xfrm>
            <a:off x="320040" y="2880360"/>
            <a:ext cx="11521440" cy="155448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1" name="Shape 9"/>
          <p:cNvSpPr/>
          <p:nvPr/>
        </p:nvSpPr>
        <p:spPr>
          <a:xfrm>
            <a:off x="320040" y="2880360"/>
            <a:ext cx="1097280" cy="1554480"/>
          </a:xfrm>
          <a:prstGeom prst="rect">
            <a:avLst/>
          </a:prstGeom>
          <a:solidFill>
            <a:srgbClr val="0D7377"/>
          </a:solidFill>
          <a:ln w="12700">
            <a:solidFill>
              <a:srgbClr val="0D7377"/>
            </a:solidFill>
            <a:prstDash val="solid"/>
          </a:ln>
        </p:spPr>
      </p:sp>
      <p:sp>
        <p:nvSpPr>
          <p:cNvPr id="12" name="Text 10"/>
          <p:cNvSpPr/>
          <p:nvPr/>
        </p:nvSpPr>
        <p:spPr>
          <a:xfrm>
            <a:off x="347472" y="3063240"/>
            <a:ext cx="1005840" cy="10972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End Goal (Expected Outcome)</a:t>
            </a:r>
            <a:endParaRPr lang="en-US" sz="1200" dirty="0"/>
          </a:p>
        </p:txBody>
      </p:sp>
      <p:sp>
        <p:nvSpPr>
          <p:cNvPr id="13" name="Text 11"/>
          <p:cNvSpPr/>
          <p:nvPr/>
        </p:nvSpPr>
        <p:spPr>
          <a:xfrm>
            <a:off x="1554480" y="3108960"/>
            <a:ext cx="10058400" cy="347472"/>
          </a:xfrm>
          <a:prstGeom prst="rect">
            <a:avLst/>
          </a:prstGeom>
          <a:noFill/>
          <a:ln/>
        </p:spPr>
        <p:txBody>
          <a:bodyPr wrap="square" rtlCol="0" anchor="ctr"/>
          <a:lstStyle/>
          <a:p>
            <a:pPr marL="342900" indent="-342900">
              <a:buSzPct val="100000"/>
              <a:buChar char="•"/>
            </a:pPr>
            <a:r>
              <a:rPr lang="en-US" sz="1200" dirty="0">
                <a:solidFill>
                  <a:srgbClr val="0B1F3A"/>
                </a:solidFill>
                <a:latin typeface="Calibri" pitchFamily="34" charset="0"/>
                <a:ea typeface="Calibri" pitchFamily="34" charset="-122"/>
                <a:cs typeface="Calibri" pitchFamily="34" charset="-120"/>
              </a:rPr>
              <a:t>A ranked risk map of 155 catchments with Low / Medium / High classification</a:t>
            </a:r>
            <a:endParaRPr lang="en-US" sz="1200" dirty="0"/>
          </a:p>
        </p:txBody>
      </p:sp>
      <p:sp>
        <p:nvSpPr>
          <p:cNvPr id="14" name="Text 12"/>
          <p:cNvSpPr/>
          <p:nvPr/>
        </p:nvSpPr>
        <p:spPr>
          <a:xfrm>
            <a:off x="1554480" y="3493008"/>
            <a:ext cx="10058400" cy="347472"/>
          </a:xfrm>
          <a:prstGeom prst="rect">
            <a:avLst/>
          </a:prstGeom>
          <a:noFill/>
          <a:ln/>
        </p:spPr>
        <p:txBody>
          <a:bodyPr wrap="square" rtlCol="0" anchor="ctr"/>
          <a:lstStyle/>
          <a:p>
            <a:pPr marL="342900" indent="-342900">
              <a:buSzPct val="100000"/>
              <a:buChar char="•"/>
            </a:pPr>
            <a:r>
              <a:rPr lang="en-US" sz="1200" dirty="0">
                <a:solidFill>
                  <a:srgbClr val="0B1F3A"/>
                </a:solidFill>
                <a:latin typeface="Calibri" pitchFamily="34" charset="0"/>
                <a:ea typeface="Calibri" pitchFamily="34" charset="-122"/>
                <a:cs typeface="Calibri" pitchFamily="34" charset="-120"/>
              </a:rPr>
              <a:t>Quantified contribution of soil type, land cover, and basin size to flood risk</a:t>
            </a:r>
            <a:endParaRPr lang="en-US" sz="1200" dirty="0"/>
          </a:p>
        </p:txBody>
      </p:sp>
      <p:sp>
        <p:nvSpPr>
          <p:cNvPr id="15" name="Text 13"/>
          <p:cNvSpPr/>
          <p:nvPr/>
        </p:nvSpPr>
        <p:spPr>
          <a:xfrm>
            <a:off x="1554480" y="3877056"/>
            <a:ext cx="10058400" cy="347472"/>
          </a:xfrm>
          <a:prstGeom prst="rect">
            <a:avLst/>
          </a:prstGeom>
          <a:noFill/>
          <a:ln/>
        </p:spPr>
        <p:txBody>
          <a:bodyPr wrap="square" rtlCol="0" anchor="ctr"/>
          <a:lstStyle/>
          <a:p>
            <a:pPr marL="342900" indent="-342900">
              <a:buSzPct val="100000"/>
              <a:buChar char="•"/>
            </a:pPr>
            <a:r>
              <a:rPr lang="en-US" sz="1200" dirty="0">
                <a:solidFill>
                  <a:srgbClr val="0B1F3A"/>
                </a:solidFill>
                <a:latin typeface="Calibri" pitchFamily="34" charset="0"/>
                <a:ea typeface="Calibri" pitchFamily="34" charset="-122"/>
                <a:cs typeface="Calibri" pitchFamily="34" charset="-120"/>
              </a:rPr>
              <a:t>Actionable policy recommendations for the 33 high-risk catchments</a:t>
            </a:r>
            <a:endParaRPr lang="en-US" sz="1200" dirty="0"/>
          </a:p>
        </p:txBody>
      </p:sp>
      <p:sp>
        <p:nvSpPr>
          <p:cNvPr id="16" name="Shape 14"/>
          <p:cNvSpPr/>
          <p:nvPr/>
        </p:nvSpPr>
        <p:spPr>
          <a:xfrm>
            <a:off x="320040" y="4617720"/>
            <a:ext cx="11521440" cy="155448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7" name="Shape 15"/>
          <p:cNvSpPr/>
          <p:nvPr/>
        </p:nvSpPr>
        <p:spPr>
          <a:xfrm>
            <a:off x="320040" y="4617720"/>
            <a:ext cx="1097280" cy="1554480"/>
          </a:xfrm>
          <a:prstGeom prst="rect">
            <a:avLst/>
          </a:prstGeom>
          <a:solidFill>
            <a:srgbClr val="2B4B8C"/>
          </a:solidFill>
          <a:ln w="12700">
            <a:solidFill>
              <a:srgbClr val="2B4B8C"/>
            </a:solidFill>
            <a:prstDash val="solid"/>
          </a:ln>
        </p:spPr>
      </p:sp>
      <p:sp>
        <p:nvSpPr>
          <p:cNvPr id="18" name="Text 16"/>
          <p:cNvSpPr/>
          <p:nvPr/>
        </p:nvSpPr>
        <p:spPr>
          <a:xfrm>
            <a:off x="347472" y="4800600"/>
            <a:ext cx="1005840" cy="10972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Analytical Goal</a:t>
            </a:r>
            <a:endParaRPr lang="en-US" sz="1200" dirty="0"/>
          </a:p>
        </p:txBody>
      </p:sp>
      <p:sp>
        <p:nvSpPr>
          <p:cNvPr id="19" name="Text 17"/>
          <p:cNvSpPr/>
          <p:nvPr/>
        </p:nvSpPr>
        <p:spPr>
          <a:xfrm>
            <a:off x="1554480" y="4846320"/>
            <a:ext cx="10058400" cy="347472"/>
          </a:xfrm>
          <a:prstGeom prst="rect">
            <a:avLst/>
          </a:prstGeom>
          <a:noFill/>
          <a:ln/>
        </p:spPr>
        <p:txBody>
          <a:bodyPr wrap="square" rtlCol="0" anchor="ctr"/>
          <a:lstStyle/>
          <a:p>
            <a:pPr marL="342900" indent="-342900">
              <a:buSzPct val="100000"/>
              <a:buChar char="•"/>
            </a:pPr>
            <a:r>
              <a:rPr lang="en-US" sz="1200" dirty="0">
                <a:solidFill>
                  <a:srgbClr val="0B1F3A"/>
                </a:solidFill>
                <a:latin typeface="Calibri" pitchFamily="34" charset="0"/>
                <a:ea typeface="Calibri" pitchFamily="34" charset="-122"/>
                <a:cs typeface="Calibri" pitchFamily="34" charset="-120"/>
              </a:rPr>
              <a:t>Perform end-to-end EDA: univariate, bivariate, and multivariate analysis</a:t>
            </a:r>
            <a:endParaRPr lang="en-US" sz="1200" dirty="0"/>
          </a:p>
        </p:txBody>
      </p:sp>
      <p:sp>
        <p:nvSpPr>
          <p:cNvPr id="20" name="Text 18"/>
          <p:cNvSpPr/>
          <p:nvPr/>
        </p:nvSpPr>
        <p:spPr>
          <a:xfrm>
            <a:off x="1554480" y="5230368"/>
            <a:ext cx="10058400" cy="347472"/>
          </a:xfrm>
          <a:prstGeom prst="rect">
            <a:avLst/>
          </a:prstGeom>
          <a:noFill/>
          <a:ln/>
        </p:spPr>
        <p:txBody>
          <a:bodyPr wrap="square" rtlCol="0" anchor="ctr"/>
          <a:lstStyle/>
          <a:p>
            <a:pPr marL="342900" indent="-342900">
              <a:buSzPct val="100000"/>
              <a:buChar char="•"/>
            </a:pPr>
            <a:r>
              <a:rPr lang="en-US" sz="1200" dirty="0">
                <a:solidFill>
                  <a:srgbClr val="0B1F3A"/>
                </a:solidFill>
                <a:latin typeface="Calibri" pitchFamily="34" charset="0"/>
                <a:ea typeface="Calibri" pitchFamily="34" charset="-122"/>
                <a:cs typeface="Calibri" pitchFamily="34" charset="-120"/>
              </a:rPr>
              <a:t>Build clear visualizations — bar, pie, scatter, and trend charts — from raw data</a:t>
            </a:r>
            <a:endParaRPr lang="en-US" sz="1200" dirty="0"/>
          </a:p>
        </p:txBody>
      </p:sp>
      <p:sp>
        <p:nvSpPr>
          <p:cNvPr id="21" name="Text 19"/>
          <p:cNvSpPr/>
          <p:nvPr/>
        </p:nvSpPr>
        <p:spPr>
          <a:xfrm>
            <a:off x="1554480" y="5614416"/>
            <a:ext cx="10058400" cy="347472"/>
          </a:xfrm>
          <a:prstGeom prst="rect">
            <a:avLst/>
          </a:prstGeom>
          <a:noFill/>
          <a:ln/>
        </p:spPr>
        <p:txBody>
          <a:bodyPr wrap="square" rtlCol="0" anchor="ctr"/>
          <a:lstStyle/>
          <a:p>
            <a:pPr marL="342900" indent="-342900">
              <a:buSzPct val="100000"/>
              <a:buChar char="•"/>
            </a:pPr>
            <a:r>
              <a:rPr lang="en-US" sz="1200" dirty="0">
                <a:solidFill>
                  <a:srgbClr val="0B1F3A"/>
                </a:solidFill>
                <a:latin typeface="Calibri" pitchFamily="34" charset="0"/>
                <a:ea typeface="Calibri" pitchFamily="34" charset="-122"/>
                <a:cs typeface="Calibri" pitchFamily="34" charset="-120"/>
              </a:rPr>
              <a:t>Translate index values into human-readable insights via an interactive dashboard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Dataset Overview</a:t>
            </a:r>
            <a:endParaRPr lang="en-US" sz="3000" dirty="0"/>
          </a:p>
        </p:txBody>
      </p:sp>
      <p:sp>
        <p:nvSpPr>
          <p:cNvPr id="4" name="Shape 2"/>
          <p:cNvSpPr/>
          <p:nvPr/>
        </p:nvSpPr>
        <p:spPr>
          <a:xfrm>
            <a:off x="320040" y="1097280"/>
            <a:ext cx="2651760" cy="12801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Text 3"/>
          <p:cNvSpPr/>
          <p:nvPr/>
        </p:nvSpPr>
        <p:spPr>
          <a:xfrm>
            <a:off x="411480" y="1207008"/>
            <a:ext cx="2468880" cy="640080"/>
          </a:xfrm>
          <a:prstGeom prst="rect">
            <a:avLst/>
          </a:prstGeom>
          <a:noFill/>
          <a:ln/>
        </p:spPr>
        <p:txBody>
          <a:bodyPr wrap="square" rtlCol="0" anchor="ctr"/>
          <a:lstStyle/>
          <a:p>
            <a:pPr marL="0" indent="0" algn="ctr">
              <a:buNone/>
            </a:pPr>
            <a:r>
              <a:rPr lang="en-US" sz="2800" b="1" dirty="0">
                <a:solidFill>
                  <a:srgbClr val="1363DF"/>
                </a:solidFill>
                <a:latin typeface="Calibri" pitchFamily="34" charset="0"/>
                <a:ea typeface="Calibri" pitchFamily="34" charset="-122"/>
                <a:cs typeface="Calibri" pitchFamily="34" charset="-120"/>
              </a:rPr>
              <a:t>155</a:t>
            </a:r>
            <a:endParaRPr lang="en-US" sz="2800" dirty="0"/>
          </a:p>
        </p:txBody>
      </p:sp>
      <p:sp>
        <p:nvSpPr>
          <p:cNvPr id="6" name="Text 4"/>
          <p:cNvSpPr/>
          <p:nvPr/>
        </p:nvSpPr>
        <p:spPr>
          <a:xfrm>
            <a:off x="411480" y="1839773"/>
            <a:ext cx="2468880" cy="32004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Total Catchments</a:t>
            </a:r>
            <a:endParaRPr lang="en-US" sz="1100" dirty="0"/>
          </a:p>
        </p:txBody>
      </p:sp>
      <p:sp>
        <p:nvSpPr>
          <p:cNvPr id="7" name="Text 5"/>
          <p:cNvSpPr/>
          <p:nvPr/>
        </p:nvSpPr>
        <p:spPr>
          <a:xfrm>
            <a:off x="411480" y="2095805"/>
            <a:ext cx="2468880" cy="228600"/>
          </a:xfrm>
          <a:prstGeom prst="rect">
            <a:avLst/>
          </a:prstGeom>
          <a:no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Gauge Stations</a:t>
            </a:r>
            <a:endParaRPr lang="en-US" sz="900" dirty="0"/>
          </a:p>
        </p:txBody>
      </p:sp>
      <p:sp>
        <p:nvSpPr>
          <p:cNvPr id="8" name="Shape 6"/>
          <p:cNvSpPr/>
          <p:nvPr/>
        </p:nvSpPr>
        <p:spPr>
          <a:xfrm>
            <a:off x="3218688" y="1097280"/>
            <a:ext cx="2651760" cy="12801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9" name="Text 7"/>
          <p:cNvSpPr/>
          <p:nvPr/>
        </p:nvSpPr>
        <p:spPr>
          <a:xfrm>
            <a:off x="3310128" y="1207008"/>
            <a:ext cx="2468880" cy="640080"/>
          </a:xfrm>
          <a:prstGeom prst="rect">
            <a:avLst/>
          </a:prstGeom>
          <a:noFill/>
          <a:ln/>
        </p:spPr>
        <p:txBody>
          <a:bodyPr wrap="square" rtlCol="0" anchor="ctr"/>
          <a:lstStyle/>
          <a:p>
            <a:pPr marL="0" indent="0" algn="ctr">
              <a:buNone/>
            </a:pPr>
            <a:r>
              <a:rPr lang="en-US" sz="2800" b="1" dirty="0">
                <a:solidFill>
                  <a:srgbClr val="1363DF"/>
                </a:solidFill>
                <a:latin typeface="Calibri" pitchFamily="34" charset="0"/>
                <a:ea typeface="Calibri" pitchFamily="34" charset="-122"/>
                <a:cs typeface="Calibri" pitchFamily="34" charset="-120"/>
              </a:rPr>
              <a:t>111</a:t>
            </a:r>
            <a:endParaRPr lang="en-US" sz="2800" dirty="0"/>
          </a:p>
        </p:txBody>
      </p:sp>
      <p:sp>
        <p:nvSpPr>
          <p:cNvPr id="10" name="Text 8"/>
          <p:cNvSpPr/>
          <p:nvPr/>
        </p:nvSpPr>
        <p:spPr>
          <a:xfrm>
            <a:off x="3310128" y="1839773"/>
            <a:ext cx="2468880" cy="32004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Total Columns</a:t>
            </a:r>
            <a:endParaRPr lang="en-US" sz="1100" dirty="0"/>
          </a:p>
        </p:txBody>
      </p:sp>
      <p:sp>
        <p:nvSpPr>
          <p:cNvPr id="11" name="Text 9"/>
          <p:cNvSpPr/>
          <p:nvPr/>
        </p:nvSpPr>
        <p:spPr>
          <a:xfrm>
            <a:off x="3310128" y="2095805"/>
            <a:ext cx="2468880" cy="228600"/>
          </a:xfrm>
          <a:prstGeom prst="rect">
            <a:avLst/>
          </a:prstGeom>
          <a:no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Features / Variables</a:t>
            </a:r>
            <a:endParaRPr lang="en-US" sz="900" dirty="0"/>
          </a:p>
        </p:txBody>
      </p:sp>
      <p:sp>
        <p:nvSpPr>
          <p:cNvPr id="12" name="Shape 10"/>
          <p:cNvSpPr/>
          <p:nvPr/>
        </p:nvSpPr>
        <p:spPr>
          <a:xfrm>
            <a:off x="6117336" y="1097280"/>
            <a:ext cx="2651760" cy="12801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3" name="Text 11"/>
          <p:cNvSpPr/>
          <p:nvPr/>
        </p:nvSpPr>
        <p:spPr>
          <a:xfrm>
            <a:off x="6208776" y="1207008"/>
            <a:ext cx="2468880" cy="640080"/>
          </a:xfrm>
          <a:prstGeom prst="rect">
            <a:avLst/>
          </a:prstGeom>
          <a:noFill/>
          <a:ln/>
        </p:spPr>
        <p:txBody>
          <a:bodyPr wrap="square" rtlCol="0" anchor="ctr"/>
          <a:lstStyle/>
          <a:p>
            <a:pPr marL="0" indent="0" algn="ctr">
              <a:buNone/>
            </a:pPr>
            <a:r>
              <a:rPr lang="en-US" sz="2800" b="1" dirty="0">
                <a:solidFill>
                  <a:srgbClr val="1363DF"/>
                </a:solidFill>
                <a:latin typeface="Calibri" pitchFamily="34" charset="0"/>
                <a:ea typeface="Calibri" pitchFamily="34" charset="-122"/>
                <a:cs typeface="Calibri" pitchFamily="34" charset="-120"/>
              </a:rPr>
              <a:t>~1.05B</a:t>
            </a:r>
            <a:endParaRPr lang="en-US" sz="2800" dirty="0"/>
          </a:p>
        </p:txBody>
      </p:sp>
      <p:sp>
        <p:nvSpPr>
          <p:cNvPr id="14" name="Text 12"/>
          <p:cNvSpPr/>
          <p:nvPr/>
        </p:nvSpPr>
        <p:spPr>
          <a:xfrm>
            <a:off x="6208776" y="1839773"/>
            <a:ext cx="2468880" cy="32004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Population Count</a:t>
            </a:r>
            <a:endParaRPr lang="en-US" sz="1100" dirty="0"/>
          </a:p>
        </p:txBody>
      </p:sp>
      <p:sp>
        <p:nvSpPr>
          <p:cNvPr id="15" name="Text 13"/>
          <p:cNvSpPr/>
          <p:nvPr/>
        </p:nvSpPr>
        <p:spPr>
          <a:xfrm>
            <a:off x="6208776" y="2095805"/>
            <a:ext cx="2468880" cy="228600"/>
          </a:xfrm>
          <a:prstGeom prst="rect">
            <a:avLst/>
          </a:prstGeom>
          <a:no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Cumulative</a:t>
            </a:r>
            <a:endParaRPr lang="en-US" sz="900" dirty="0"/>
          </a:p>
        </p:txBody>
      </p:sp>
      <p:sp>
        <p:nvSpPr>
          <p:cNvPr id="16" name="Shape 14"/>
          <p:cNvSpPr/>
          <p:nvPr/>
        </p:nvSpPr>
        <p:spPr>
          <a:xfrm>
            <a:off x="9015984" y="1097280"/>
            <a:ext cx="2651760" cy="12801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7" name="Text 15"/>
          <p:cNvSpPr/>
          <p:nvPr/>
        </p:nvSpPr>
        <p:spPr>
          <a:xfrm>
            <a:off x="9107424" y="1207008"/>
            <a:ext cx="2468880" cy="640080"/>
          </a:xfrm>
          <a:prstGeom prst="rect">
            <a:avLst/>
          </a:prstGeom>
          <a:noFill/>
          <a:ln/>
        </p:spPr>
        <p:txBody>
          <a:bodyPr wrap="square" rtlCol="0" anchor="ctr"/>
          <a:lstStyle/>
          <a:p>
            <a:pPr marL="0" indent="0" algn="ctr">
              <a:buNone/>
            </a:pPr>
            <a:r>
              <a:rPr lang="en-US" sz="2800" b="1" dirty="0">
                <a:solidFill>
                  <a:srgbClr val="1363DF"/>
                </a:solidFill>
                <a:latin typeface="Calibri" pitchFamily="34" charset="0"/>
                <a:ea typeface="Calibri" pitchFamily="34" charset="-122"/>
                <a:cs typeface="Calibri" pitchFamily="34" charset="-120"/>
              </a:rPr>
              <a:t>INDOFLOODS</a:t>
            </a:r>
            <a:endParaRPr lang="en-US" sz="2800" dirty="0"/>
          </a:p>
        </p:txBody>
      </p:sp>
      <p:sp>
        <p:nvSpPr>
          <p:cNvPr id="18" name="Text 16"/>
          <p:cNvSpPr/>
          <p:nvPr/>
        </p:nvSpPr>
        <p:spPr>
          <a:xfrm>
            <a:off x="9107424" y="1839773"/>
            <a:ext cx="2468880" cy="32004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Source</a:t>
            </a:r>
            <a:endParaRPr lang="en-US" sz="1100" dirty="0"/>
          </a:p>
        </p:txBody>
      </p:sp>
      <p:sp>
        <p:nvSpPr>
          <p:cNvPr id="19" name="Text 17"/>
          <p:cNvSpPr/>
          <p:nvPr/>
        </p:nvSpPr>
        <p:spPr>
          <a:xfrm>
            <a:off x="9107424" y="2095805"/>
            <a:ext cx="2468880" cy="228600"/>
          </a:xfrm>
          <a:prstGeom prst="rect">
            <a:avLst/>
          </a:prstGeom>
          <a:no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Indonesia</a:t>
            </a:r>
            <a:endParaRPr lang="en-US" sz="900" dirty="0"/>
          </a:p>
        </p:txBody>
      </p:sp>
      <p:sp>
        <p:nvSpPr>
          <p:cNvPr id="20" name="Shape 18"/>
          <p:cNvSpPr/>
          <p:nvPr/>
        </p:nvSpPr>
        <p:spPr>
          <a:xfrm>
            <a:off x="320040" y="2514600"/>
            <a:ext cx="11521440" cy="39776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1" name="Text 19"/>
          <p:cNvSpPr/>
          <p:nvPr/>
        </p:nvSpPr>
        <p:spPr>
          <a:xfrm>
            <a:off x="457200" y="2606040"/>
            <a:ext cx="1097280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Key Variable Categories</a:t>
            </a:r>
            <a:endParaRPr lang="en-US" sz="1400" dirty="0"/>
          </a:p>
        </p:txBody>
      </p:sp>
      <p:sp>
        <p:nvSpPr>
          <p:cNvPr id="22" name="Shape 20"/>
          <p:cNvSpPr/>
          <p:nvPr/>
        </p:nvSpPr>
        <p:spPr>
          <a:xfrm>
            <a:off x="457200" y="2944368"/>
            <a:ext cx="11155680" cy="0"/>
          </a:xfrm>
          <a:prstGeom prst="line">
            <a:avLst/>
          </a:prstGeom>
          <a:noFill/>
          <a:ln w="6350">
            <a:solidFill>
              <a:srgbClr val="CBD5E1"/>
            </a:solidFill>
            <a:prstDash val="solid"/>
          </a:ln>
        </p:spPr>
      </p:sp>
      <p:sp>
        <p:nvSpPr>
          <p:cNvPr id="23" name="Shape 21"/>
          <p:cNvSpPr/>
          <p:nvPr/>
        </p:nvSpPr>
        <p:spPr>
          <a:xfrm>
            <a:off x="457200" y="3017520"/>
            <a:ext cx="2926080" cy="420624"/>
          </a:xfrm>
          <a:prstGeom prst="rect">
            <a:avLst/>
          </a:prstGeom>
          <a:solidFill>
            <a:srgbClr val="0B2545"/>
          </a:solidFill>
          <a:ln w="12700">
            <a:solidFill>
              <a:srgbClr val="0B2545"/>
            </a:solidFill>
            <a:prstDash val="solid"/>
          </a:ln>
        </p:spPr>
      </p:sp>
      <p:sp>
        <p:nvSpPr>
          <p:cNvPr id="24" name="Text 22"/>
          <p:cNvSpPr/>
          <p:nvPr/>
        </p:nvSpPr>
        <p:spPr>
          <a:xfrm>
            <a:off x="502920" y="3063240"/>
            <a:ext cx="283464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Morphometric Variables</a:t>
            </a:r>
            <a:endParaRPr lang="en-US" sz="1100" dirty="0"/>
          </a:p>
        </p:txBody>
      </p:sp>
      <p:sp>
        <p:nvSpPr>
          <p:cNvPr id="25" name="Shape 23"/>
          <p:cNvSpPr/>
          <p:nvPr/>
        </p:nvSpPr>
        <p:spPr>
          <a:xfrm>
            <a:off x="3383280" y="3017520"/>
            <a:ext cx="8321040" cy="420624"/>
          </a:xfrm>
          <a:prstGeom prst="rect">
            <a:avLst/>
          </a:prstGeom>
          <a:solidFill>
            <a:srgbClr val="EEF2FA"/>
          </a:solidFill>
          <a:ln w="12700">
            <a:solidFill>
              <a:srgbClr val="CBD5E1"/>
            </a:solidFill>
            <a:prstDash val="solid"/>
          </a:ln>
        </p:spPr>
      </p:sp>
      <p:sp>
        <p:nvSpPr>
          <p:cNvPr id="26" name="Text 24"/>
          <p:cNvSpPr/>
          <p:nvPr/>
        </p:nvSpPr>
        <p:spPr>
          <a:xfrm>
            <a:off x="3474720" y="3063240"/>
            <a:ext cx="8138160" cy="329184"/>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Stream order, drainage area, catchment relief, perimeter, form factor, elongation ratio, circularity ratio, ruggedness number</a:t>
            </a:r>
            <a:endParaRPr lang="en-US" sz="1100" dirty="0"/>
          </a:p>
        </p:txBody>
      </p:sp>
      <p:sp>
        <p:nvSpPr>
          <p:cNvPr id="27" name="Shape 25"/>
          <p:cNvSpPr/>
          <p:nvPr/>
        </p:nvSpPr>
        <p:spPr>
          <a:xfrm>
            <a:off x="457200" y="3547872"/>
            <a:ext cx="2926080" cy="420624"/>
          </a:xfrm>
          <a:prstGeom prst="rect">
            <a:avLst/>
          </a:prstGeom>
          <a:solidFill>
            <a:srgbClr val="2B4B8C"/>
          </a:solidFill>
          <a:ln w="12700">
            <a:solidFill>
              <a:srgbClr val="0B2545"/>
            </a:solidFill>
            <a:prstDash val="solid"/>
          </a:ln>
        </p:spPr>
      </p:sp>
      <p:sp>
        <p:nvSpPr>
          <p:cNvPr id="28" name="Text 26"/>
          <p:cNvSpPr/>
          <p:nvPr/>
        </p:nvSpPr>
        <p:spPr>
          <a:xfrm>
            <a:off x="502920" y="3593592"/>
            <a:ext cx="283464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Drainage Variables</a:t>
            </a:r>
            <a:endParaRPr lang="en-US" sz="1100" dirty="0"/>
          </a:p>
        </p:txBody>
      </p:sp>
      <p:sp>
        <p:nvSpPr>
          <p:cNvPr id="29" name="Shape 27"/>
          <p:cNvSpPr/>
          <p:nvPr/>
        </p:nvSpPr>
        <p:spPr>
          <a:xfrm>
            <a:off x="3383280" y="3547872"/>
            <a:ext cx="8321040" cy="420624"/>
          </a:xfrm>
          <a:prstGeom prst="rect">
            <a:avLst/>
          </a:prstGeom>
          <a:solidFill>
            <a:srgbClr val="FFFFFF"/>
          </a:solidFill>
          <a:ln w="12700">
            <a:solidFill>
              <a:srgbClr val="CBD5E1"/>
            </a:solidFill>
            <a:prstDash val="solid"/>
          </a:ln>
        </p:spPr>
      </p:sp>
      <p:sp>
        <p:nvSpPr>
          <p:cNvPr id="30" name="Text 28"/>
          <p:cNvSpPr/>
          <p:nvPr/>
        </p:nvSpPr>
        <p:spPr>
          <a:xfrm>
            <a:off x="3474720" y="3593592"/>
            <a:ext cx="8138160" cy="329184"/>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Drainage density, drainage texture, compactness coefficient, drainage intensity, infiltration number</a:t>
            </a:r>
            <a:endParaRPr lang="en-US" sz="1100" dirty="0"/>
          </a:p>
        </p:txBody>
      </p:sp>
      <p:sp>
        <p:nvSpPr>
          <p:cNvPr id="31" name="Shape 29"/>
          <p:cNvSpPr/>
          <p:nvPr/>
        </p:nvSpPr>
        <p:spPr>
          <a:xfrm>
            <a:off x="457200" y="4078224"/>
            <a:ext cx="2926080" cy="420624"/>
          </a:xfrm>
          <a:prstGeom prst="rect">
            <a:avLst/>
          </a:prstGeom>
          <a:solidFill>
            <a:srgbClr val="0B2545"/>
          </a:solidFill>
          <a:ln w="12700">
            <a:solidFill>
              <a:srgbClr val="0B2545"/>
            </a:solidFill>
            <a:prstDash val="solid"/>
          </a:ln>
        </p:spPr>
      </p:sp>
      <p:sp>
        <p:nvSpPr>
          <p:cNvPr id="32" name="Text 30"/>
          <p:cNvSpPr/>
          <p:nvPr/>
        </p:nvSpPr>
        <p:spPr>
          <a:xfrm>
            <a:off x="502920" y="4123944"/>
            <a:ext cx="283464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Climate Variables</a:t>
            </a:r>
            <a:endParaRPr lang="en-US" sz="1100" dirty="0"/>
          </a:p>
        </p:txBody>
      </p:sp>
      <p:sp>
        <p:nvSpPr>
          <p:cNvPr id="33" name="Shape 31"/>
          <p:cNvSpPr/>
          <p:nvPr/>
        </p:nvSpPr>
        <p:spPr>
          <a:xfrm>
            <a:off x="3383280" y="4078224"/>
            <a:ext cx="8321040" cy="420624"/>
          </a:xfrm>
          <a:prstGeom prst="rect">
            <a:avLst/>
          </a:prstGeom>
          <a:solidFill>
            <a:srgbClr val="EEF2FA"/>
          </a:solidFill>
          <a:ln w="12700">
            <a:solidFill>
              <a:srgbClr val="CBD5E1"/>
            </a:solidFill>
            <a:prstDash val="solid"/>
          </a:ln>
        </p:spPr>
      </p:sp>
      <p:sp>
        <p:nvSpPr>
          <p:cNvPr id="34" name="Text 32"/>
          <p:cNvSpPr/>
          <p:nvPr/>
        </p:nvSpPr>
        <p:spPr>
          <a:xfrm>
            <a:off x="3474720" y="4123944"/>
            <a:ext cx="8138160" cy="329184"/>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Annual precipitation, temperature seasonality, KoppenGeiger climate classification (Tropical, Arid, Temperate)</a:t>
            </a:r>
            <a:endParaRPr lang="en-US" sz="1100" dirty="0"/>
          </a:p>
        </p:txBody>
      </p:sp>
      <p:sp>
        <p:nvSpPr>
          <p:cNvPr id="35" name="Shape 33"/>
          <p:cNvSpPr/>
          <p:nvPr/>
        </p:nvSpPr>
        <p:spPr>
          <a:xfrm>
            <a:off x="457200" y="4608576"/>
            <a:ext cx="2926080" cy="420624"/>
          </a:xfrm>
          <a:prstGeom prst="rect">
            <a:avLst/>
          </a:prstGeom>
          <a:solidFill>
            <a:srgbClr val="2B4B8C"/>
          </a:solidFill>
          <a:ln w="12700">
            <a:solidFill>
              <a:srgbClr val="0B2545"/>
            </a:solidFill>
            <a:prstDash val="solid"/>
          </a:ln>
        </p:spPr>
      </p:sp>
      <p:sp>
        <p:nvSpPr>
          <p:cNvPr id="36" name="Text 34"/>
          <p:cNvSpPr/>
          <p:nvPr/>
        </p:nvSpPr>
        <p:spPr>
          <a:xfrm>
            <a:off x="502920" y="4654296"/>
            <a:ext cx="283464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Socioeconomic Variables</a:t>
            </a:r>
            <a:endParaRPr lang="en-US" sz="1100" dirty="0"/>
          </a:p>
        </p:txBody>
      </p:sp>
      <p:sp>
        <p:nvSpPr>
          <p:cNvPr id="37" name="Shape 35"/>
          <p:cNvSpPr/>
          <p:nvPr/>
        </p:nvSpPr>
        <p:spPr>
          <a:xfrm>
            <a:off x="3383280" y="4608576"/>
            <a:ext cx="8321040" cy="420624"/>
          </a:xfrm>
          <a:prstGeom prst="rect">
            <a:avLst/>
          </a:prstGeom>
          <a:solidFill>
            <a:srgbClr val="FFFFFF"/>
          </a:solidFill>
          <a:ln w="12700">
            <a:solidFill>
              <a:srgbClr val="CBD5E1"/>
            </a:solidFill>
            <a:prstDash val="solid"/>
          </a:ln>
        </p:spPr>
      </p:sp>
      <p:sp>
        <p:nvSpPr>
          <p:cNvPr id="38" name="Text 36"/>
          <p:cNvSpPr/>
          <p:nvPr/>
        </p:nvSpPr>
        <p:spPr>
          <a:xfrm>
            <a:off x="3474720" y="4654296"/>
            <a:ext cx="8138160" cy="329184"/>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GDP (PPP), GDP per capita, Night Light index, Road density, Urban percentage, HDI (1990–2015)</a:t>
            </a:r>
            <a:endParaRPr lang="en-US" sz="1100" dirty="0"/>
          </a:p>
        </p:txBody>
      </p:sp>
      <p:sp>
        <p:nvSpPr>
          <p:cNvPr id="39" name="Shape 37"/>
          <p:cNvSpPr/>
          <p:nvPr/>
        </p:nvSpPr>
        <p:spPr>
          <a:xfrm>
            <a:off x="457200" y="5138928"/>
            <a:ext cx="2926080" cy="420624"/>
          </a:xfrm>
          <a:prstGeom prst="rect">
            <a:avLst/>
          </a:prstGeom>
          <a:solidFill>
            <a:srgbClr val="0B2545"/>
          </a:solidFill>
          <a:ln w="12700">
            <a:solidFill>
              <a:srgbClr val="0B2545"/>
            </a:solidFill>
            <a:prstDash val="solid"/>
          </a:ln>
        </p:spPr>
      </p:sp>
      <p:sp>
        <p:nvSpPr>
          <p:cNvPr id="40" name="Text 38"/>
          <p:cNvSpPr/>
          <p:nvPr/>
        </p:nvSpPr>
        <p:spPr>
          <a:xfrm>
            <a:off x="502920" y="5184648"/>
            <a:ext cx="283464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Land Use &amp; Geology</a:t>
            </a:r>
            <a:endParaRPr lang="en-US" sz="1100" dirty="0"/>
          </a:p>
        </p:txBody>
      </p:sp>
      <p:sp>
        <p:nvSpPr>
          <p:cNvPr id="41" name="Shape 39"/>
          <p:cNvSpPr/>
          <p:nvPr/>
        </p:nvSpPr>
        <p:spPr>
          <a:xfrm>
            <a:off x="3383280" y="5138928"/>
            <a:ext cx="8321040" cy="420624"/>
          </a:xfrm>
          <a:prstGeom prst="rect">
            <a:avLst/>
          </a:prstGeom>
          <a:solidFill>
            <a:srgbClr val="EEF2FA"/>
          </a:solidFill>
          <a:ln w="12700">
            <a:solidFill>
              <a:srgbClr val="CBD5E1"/>
            </a:solidFill>
            <a:prstDash val="solid"/>
          </a:ln>
        </p:spPr>
      </p:sp>
      <p:sp>
        <p:nvSpPr>
          <p:cNvPr id="42" name="Text 40"/>
          <p:cNvSpPr/>
          <p:nvPr/>
        </p:nvSpPr>
        <p:spPr>
          <a:xfrm>
            <a:off x="3474720" y="5184648"/>
            <a:ext cx="8138160" cy="329184"/>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Land cover type (Cropland, Forest, Mosaic vegetation), Soil type (Cambisols, Acrisols, Leptosols etc.), Lithology</a:t>
            </a:r>
            <a:endParaRPr lang="en-US" sz="1100" dirty="0"/>
          </a:p>
        </p:txBody>
      </p:sp>
      <p:sp>
        <p:nvSpPr>
          <p:cNvPr id="43" name="Shape 41"/>
          <p:cNvSpPr/>
          <p:nvPr/>
        </p:nvSpPr>
        <p:spPr>
          <a:xfrm>
            <a:off x="457200" y="5669280"/>
            <a:ext cx="2926080" cy="420624"/>
          </a:xfrm>
          <a:prstGeom prst="rect">
            <a:avLst/>
          </a:prstGeom>
          <a:solidFill>
            <a:srgbClr val="2B4B8C"/>
          </a:solidFill>
          <a:ln w="12700">
            <a:solidFill>
              <a:srgbClr val="0B2545"/>
            </a:solidFill>
            <a:prstDash val="solid"/>
          </a:ln>
        </p:spPr>
      </p:sp>
      <p:sp>
        <p:nvSpPr>
          <p:cNvPr id="44" name="Text 42"/>
          <p:cNvSpPr/>
          <p:nvPr/>
        </p:nvSpPr>
        <p:spPr>
          <a:xfrm>
            <a:off x="502920" y="5715000"/>
            <a:ext cx="283464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Risk Variables</a:t>
            </a:r>
            <a:endParaRPr lang="en-US" sz="1100" dirty="0"/>
          </a:p>
        </p:txBody>
      </p:sp>
      <p:sp>
        <p:nvSpPr>
          <p:cNvPr id="45" name="Shape 43"/>
          <p:cNvSpPr/>
          <p:nvPr/>
        </p:nvSpPr>
        <p:spPr>
          <a:xfrm>
            <a:off x="3383280" y="5669280"/>
            <a:ext cx="8321040" cy="420624"/>
          </a:xfrm>
          <a:prstGeom prst="rect">
            <a:avLst/>
          </a:prstGeom>
          <a:solidFill>
            <a:srgbClr val="FFFFFF"/>
          </a:solidFill>
          <a:ln w="12700">
            <a:solidFill>
              <a:srgbClr val="CBD5E1"/>
            </a:solidFill>
            <a:prstDash val="solid"/>
          </a:ln>
        </p:spPr>
      </p:sp>
      <p:sp>
        <p:nvSpPr>
          <p:cNvPr id="46" name="Text 44"/>
          <p:cNvSpPr/>
          <p:nvPr/>
        </p:nvSpPr>
        <p:spPr>
          <a:xfrm>
            <a:off x="3474720" y="5715000"/>
            <a:ext cx="8138160" cy="329184"/>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Population Risk Level, Terrain Type, Runoff Potential, Flood Risk Index, Flood Risk Level (target)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Data Summary — Statistical Overview</a:t>
            </a:r>
            <a:endParaRPr lang="en-US" sz="3000" dirty="0"/>
          </a:p>
        </p:txBody>
      </p:sp>
      <p:sp>
        <p:nvSpPr>
          <p:cNvPr id="4" name="Shape 2"/>
          <p:cNvSpPr/>
          <p:nvPr/>
        </p:nvSpPr>
        <p:spPr>
          <a:xfrm>
            <a:off x="320040" y="1097280"/>
            <a:ext cx="11521440" cy="53035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65760" y="1143000"/>
            <a:ext cx="2286000" cy="621792"/>
          </a:xfrm>
          <a:prstGeom prst="rect">
            <a:avLst/>
          </a:prstGeom>
          <a:solidFill>
            <a:srgbClr val="0B2545"/>
          </a:solidFill>
          <a:ln w="6350">
            <a:solidFill>
              <a:srgbClr val="CBD5E1"/>
            </a:solidFill>
            <a:prstDash val="solid"/>
          </a:ln>
        </p:spPr>
      </p:sp>
      <p:sp>
        <p:nvSpPr>
          <p:cNvPr id="6" name="Text 4"/>
          <p:cNvSpPr/>
          <p:nvPr/>
        </p:nvSpPr>
        <p:spPr>
          <a:xfrm>
            <a:off x="438912" y="1252728"/>
            <a:ext cx="2194560" cy="40233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p>
        </p:txBody>
      </p:sp>
      <p:sp>
        <p:nvSpPr>
          <p:cNvPr id="7" name="Shape 5"/>
          <p:cNvSpPr/>
          <p:nvPr/>
        </p:nvSpPr>
        <p:spPr>
          <a:xfrm>
            <a:off x="2743200" y="1143000"/>
            <a:ext cx="1828800" cy="621792"/>
          </a:xfrm>
          <a:prstGeom prst="rect">
            <a:avLst/>
          </a:prstGeom>
          <a:solidFill>
            <a:srgbClr val="0B2545"/>
          </a:solidFill>
          <a:ln w="6350">
            <a:solidFill>
              <a:srgbClr val="CBD5E1"/>
            </a:solidFill>
            <a:prstDash val="solid"/>
          </a:ln>
        </p:spPr>
      </p:sp>
      <p:sp>
        <p:nvSpPr>
          <p:cNvPr id="8" name="Text 6"/>
          <p:cNvSpPr/>
          <p:nvPr/>
        </p:nvSpPr>
        <p:spPr>
          <a:xfrm>
            <a:off x="2816352" y="1252728"/>
            <a:ext cx="1737360" cy="40233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Min</a:t>
            </a:r>
            <a:endParaRPr lang="en-US" sz="1200" dirty="0"/>
          </a:p>
        </p:txBody>
      </p:sp>
      <p:sp>
        <p:nvSpPr>
          <p:cNvPr id="9" name="Shape 7"/>
          <p:cNvSpPr/>
          <p:nvPr/>
        </p:nvSpPr>
        <p:spPr>
          <a:xfrm>
            <a:off x="4663440" y="1143000"/>
            <a:ext cx="1828800" cy="621792"/>
          </a:xfrm>
          <a:prstGeom prst="rect">
            <a:avLst/>
          </a:prstGeom>
          <a:solidFill>
            <a:srgbClr val="0B2545"/>
          </a:solidFill>
          <a:ln w="6350">
            <a:solidFill>
              <a:srgbClr val="CBD5E1"/>
            </a:solidFill>
            <a:prstDash val="solid"/>
          </a:ln>
        </p:spPr>
      </p:sp>
      <p:sp>
        <p:nvSpPr>
          <p:cNvPr id="10" name="Text 8"/>
          <p:cNvSpPr/>
          <p:nvPr/>
        </p:nvSpPr>
        <p:spPr>
          <a:xfrm>
            <a:off x="4736592" y="1252728"/>
            <a:ext cx="1737360" cy="40233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Mean</a:t>
            </a:r>
            <a:endParaRPr lang="en-US" sz="1200" dirty="0"/>
          </a:p>
        </p:txBody>
      </p:sp>
      <p:sp>
        <p:nvSpPr>
          <p:cNvPr id="11" name="Shape 9"/>
          <p:cNvSpPr/>
          <p:nvPr/>
        </p:nvSpPr>
        <p:spPr>
          <a:xfrm>
            <a:off x="6583680" y="1143000"/>
            <a:ext cx="1828800" cy="621792"/>
          </a:xfrm>
          <a:prstGeom prst="rect">
            <a:avLst/>
          </a:prstGeom>
          <a:solidFill>
            <a:srgbClr val="0B2545"/>
          </a:solidFill>
          <a:ln w="6350">
            <a:solidFill>
              <a:srgbClr val="CBD5E1"/>
            </a:solidFill>
            <a:prstDash val="solid"/>
          </a:ln>
        </p:spPr>
      </p:sp>
      <p:sp>
        <p:nvSpPr>
          <p:cNvPr id="12" name="Text 10"/>
          <p:cNvSpPr/>
          <p:nvPr/>
        </p:nvSpPr>
        <p:spPr>
          <a:xfrm>
            <a:off x="6656832" y="1252728"/>
            <a:ext cx="1737360" cy="40233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Max</a:t>
            </a:r>
            <a:endParaRPr lang="en-US" sz="1200" dirty="0"/>
          </a:p>
        </p:txBody>
      </p:sp>
      <p:sp>
        <p:nvSpPr>
          <p:cNvPr id="13" name="Shape 11"/>
          <p:cNvSpPr/>
          <p:nvPr/>
        </p:nvSpPr>
        <p:spPr>
          <a:xfrm>
            <a:off x="8503920" y="1143000"/>
            <a:ext cx="3383280" cy="621792"/>
          </a:xfrm>
          <a:prstGeom prst="rect">
            <a:avLst/>
          </a:prstGeom>
          <a:solidFill>
            <a:srgbClr val="0B2545"/>
          </a:solidFill>
          <a:ln w="6350">
            <a:solidFill>
              <a:srgbClr val="CBD5E1"/>
            </a:solidFill>
            <a:prstDash val="solid"/>
          </a:ln>
        </p:spPr>
      </p:sp>
      <p:sp>
        <p:nvSpPr>
          <p:cNvPr id="14" name="Text 12"/>
          <p:cNvSpPr/>
          <p:nvPr/>
        </p:nvSpPr>
        <p:spPr>
          <a:xfrm>
            <a:off x="8577072" y="1252728"/>
            <a:ext cx="3291840" cy="40233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Notes</a:t>
            </a:r>
            <a:endParaRPr lang="en-US" sz="1200" dirty="0"/>
          </a:p>
        </p:txBody>
      </p:sp>
      <p:sp>
        <p:nvSpPr>
          <p:cNvPr id="15" name="Shape 13"/>
          <p:cNvSpPr/>
          <p:nvPr/>
        </p:nvSpPr>
        <p:spPr>
          <a:xfrm>
            <a:off x="365760" y="1810512"/>
            <a:ext cx="2286000" cy="621792"/>
          </a:xfrm>
          <a:prstGeom prst="rect">
            <a:avLst/>
          </a:prstGeom>
          <a:solidFill>
            <a:srgbClr val="EEF2FA"/>
          </a:solidFill>
          <a:ln w="6350">
            <a:solidFill>
              <a:srgbClr val="CBD5E1"/>
            </a:solidFill>
            <a:prstDash val="solid"/>
          </a:ln>
        </p:spPr>
      </p:sp>
      <p:sp>
        <p:nvSpPr>
          <p:cNvPr id="16" name="Text 14"/>
          <p:cNvSpPr/>
          <p:nvPr/>
        </p:nvSpPr>
        <p:spPr>
          <a:xfrm>
            <a:off x="438912" y="1920240"/>
            <a:ext cx="2194560" cy="402336"/>
          </a:xfrm>
          <a:prstGeom prst="rect">
            <a:avLst/>
          </a:prstGeom>
          <a:noFill/>
          <a:ln/>
        </p:spPr>
        <p:txBody>
          <a:bodyPr wrap="square" rtlCol="0" anchor="ctr"/>
          <a:lstStyle/>
          <a:p>
            <a:pPr marL="0" indent="0">
              <a:buNone/>
            </a:pPr>
            <a:r>
              <a:rPr lang="en-US" sz="1100" dirty="0">
                <a:solidFill>
                  <a:srgbClr val="0B2545"/>
                </a:solidFill>
                <a:latin typeface="Calibri" pitchFamily="34" charset="0"/>
                <a:ea typeface="Calibri" pitchFamily="34" charset="-122"/>
                <a:cs typeface="Calibri" pitchFamily="34" charset="-120"/>
              </a:rPr>
              <a:t>Flood Risk Index</a:t>
            </a:r>
            <a:endParaRPr lang="en-US" sz="1100" dirty="0"/>
          </a:p>
        </p:txBody>
      </p:sp>
      <p:sp>
        <p:nvSpPr>
          <p:cNvPr id="17" name="Shape 15"/>
          <p:cNvSpPr/>
          <p:nvPr/>
        </p:nvSpPr>
        <p:spPr>
          <a:xfrm>
            <a:off x="2743200" y="1810512"/>
            <a:ext cx="1828800" cy="621792"/>
          </a:xfrm>
          <a:prstGeom prst="rect">
            <a:avLst/>
          </a:prstGeom>
          <a:solidFill>
            <a:srgbClr val="EEF2FA"/>
          </a:solidFill>
          <a:ln w="6350">
            <a:solidFill>
              <a:srgbClr val="CBD5E1"/>
            </a:solidFill>
            <a:prstDash val="solid"/>
          </a:ln>
        </p:spPr>
      </p:sp>
      <p:sp>
        <p:nvSpPr>
          <p:cNvPr id="18" name="Text 16"/>
          <p:cNvSpPr/>
          <p:nvPr/>
        </p:nvSpPr>
        <p:spPr>
          <a:xfrm>
            <a:off x="2816352" y="1920240"/>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0.000000</a:t>
            </a:r>
            <a:endParaRPr lang="en-US" sz="1100" dirty="0"/>
          </a:p>
        </p:txBody>
      </p:sp>
      <p:sp>
        <p:nvSpPr>
          <p:cNvPr id="19" name="Shape 17"/>
          <p:cNvSpPr/>
          <p:nvPr/>
        </p:nvSpPr>
        <p:spPr>
          <a:xfrm>
            <a:off x="4663440" y="1810512"/>
            <a:ext cx="1828800" cy="621792"/>
          </a:xfrm>
          <a:prstGeom prst="rect">
            <a:avLst/>
          </a:prstGeom>
          <a:solidFill>
            <a:srgbClr val="EEF2FA"/>
          </a:solidFill>
          <a:ln w="6350">
            <a:solidFill>
              <a:srgbClr val="CBD5E1"/>
            </a:solidFill>
            <a:prstDash val="solid"/>
          </a:ln>
        </p:spPr>
      </p:sp>
      <p:sp>
        <p:nvSpPr>
          <p:cNvPr id="20" name="Text 18"/>
          <p:cNvSpPr/>
          <p:nvPr/>
        </p:nvSpPr>
        <p:spPr>
          <a:xfrm>
            <a:off x="4736592" y="1920240"/>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0.0000026437</a:t>
            </a:r>
            <a:endParaRPr lang="en-US" sz="1100" dirty="0"/>
          </a:p>
        </p:txBody>
      </p:sp>
      <p:sp>
        <p:nvSpPr>
          <p:cNvPr id="21" name="Shape 19"/>
          <p:cNvSpPr/>
          <p:nvPr/>
        </p:nvSpPr>
        <p:spPr>
          <a:xfrm>
            <a:off x="6583680" y="1810512"/>
            <a:ext cx="1828800" cy="621792"/>
          </a:xfrm>
          <a:prstGeom prst="rect">
            <a:avLst/>
          </a:prstGeom>
          <a:solidFill>
            <a:srgbClr val="EEF2FA"/>
          </a:solidFill>
          <a:ln w="6350">
            <a:solidFill>
              <a:srgbClr val="CBD5E1"/>
            </a:solidFill>
            <a:prstDash val="solid"/>
          </a:ln>
        </p:spPr>
      </p:sp>
      <p:sp>
        <p:nvSpPr>
          <p:cNvPr id="22" name="Text 20"/>
          <p:cNvSpPr/>
          <p:nvPr/>
        </p:nvSpPr>
        <p:spPr>
          <a:xfrm>
            <a:off x="6656832" y="1920240"/>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0.000017</a:t>
            </a:r>
            <a:endParaRPr lang="en-US" sz="1100" dirty="0"/>
          </a:p>
        </p:txBody>
      </p:sp>
      <p:sp>
        <p:nvSpPr>
          <p:cNvPr id="23" name="Shape 21"/>
          <p:cNvSpPr/>
          <p:nvPr/>
        </p:nvSpPr>
        <p:spPr>
          <a:xfrm>
            <a:off x="8503920" y="1810512"/>
            <a:ext cx="3383280" cy="621792"/>
          </a:xfrm>
          <a:prstGeom prst="rect">
            <a:avLst/>
          </a:prstGeom>
          <a:solidFill>
            <a:srgbClr val="EEF2FA"/>
          </a:solidFill>
          <a:ln w="6350">
            <a:solidFill>
              <a:srgbClr val="CBD5E1"/>
            </a:solidFill>
            <a:prstDash val="solid"/>
          </a:ln>
        </p:spPr>
      </p:sp>
      <p:sp>
        <p:nvSpPr>
          <p:cNvPr id="24" name="Text 22"/>
          <p:cNvSpPr/>
          <p:nvPr/>
        </p:nvSpPr>
        <p:spPr>
          <a:xfrm>
            <a:off x="8577072" y="1920240"/>
            <a:ext cx="329184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Right-skewed; small basins drive max values</a:t>
            </a:r>
            <a:endParaRPr lang="en-US" sz="1100" dirty="0"/>
          </a:p>
        </p:txBody>
      </p:sp>
      <p:sp>
        <p:nvSpPr>
          <p:cNvPr id="25" name="Shape 23"/>
          <p:cNvSpPr/>
          <p:nvPr/>
        </p:nvSpPr>
        <p:spPr>
          <a:xfrm>
            <a:off x="365760" y="2478024"/>
            <a:ext cx="2286000" cy="621792"/>
          </a:xfrm>
          <a:prstGeom prst="rect">
            <a:avLst/>
          </a:prstGeom>
          <a:solidFill>
            <a:srgbClr val="FFFFFF"/>
          </a:solidFill>
          <a:ln w="6350">
            <a:solidFill>
              <a:srgbClr val="CBD5E1"/>
            </a:solidFill>
            <a:prstDash val="solid"/>
          </a:ln>
        </p:spPr>
      </p:sp>
      <p:sp>
        <p:nvSpPr>
          <p:cNvPr id="26" name="Text 24"/>
          <p:cNvSpPr/>
          <p:nvPr/>
        </p:nvSpPr>
        <p:spPr>
          <a:xfrm>
            <a:off x="438912" y="2587752"/>
            <a:ext cx="2194560" cy="402336"/>
          </a:xfrm>
          <a:prstGeom prst="rect">
            <a:avLst/>
          </a:prstGeom>
          <a:noFill/>
          <a:ln/>
        </p:spPr>
        <p:txBody>
          <a:bodyPr wrap="square" rtlCol="0" anchor="ctr"/>
          <a:lstStyle/>
          <a:p>
            <a:pPr marL="0" indent="0">
              <a:buNone/>
            </a:pPr>
            <a:r>
              <a:rPr lang="en-US" sz="1100" dirty="0">
                <a:solidFill>
                  <a:srgbClr val="0B2545"/>
                </a:solidFill>
                <a:latin typeface="Calibri" pitchFamily="34" charset="0"/>
                <a:ea typeface="Calibri" pitchFamily="34" charset="-122"/>
                <a:cs typeface="Calibri" pitchFamily="34" charset="-120"/>
              </a:rPr>
              <a:t>Drainage Density</a:t>
            </a:r>
            <a:endParaRPr lang="en-US" sz="1100" dirty="0"/>
          </a:p>
        </p:txBody>
      </p:sp>
      <p:sp>
        <p:nvSpPr>
          <p:cNvPr id="27" name="Shape 25"/>
          <p:cNvSpPr/>
          <p:nvPr/>
        </p:nvSpPr>
        <p:spPr>
          <a:xfrm>
            <a:off x="2743200" y="2478024"/>
            <a:ext cx="1828800" cy="621792"/>
          </a:xfrm>
          <a:prstGeom prst="rect">
            <a:avLst/>
          </a:prstGeom>
          <a:solidFill>
            <a:srgbClr val="FFFFFF"/>
          </a:solidFill>
          <a:ln w="6350">
            <a:solidFill>
              <a:srgbClr val="CBD5E1"/>
            </a:solidFill>
            <a:prstDash val="solid"/>
          </a:ln>
        </p:spPr>
      </p:sp>
      <p:sp>
        <p:nvSpPr>
          <p:cNvPr id="28" name="Text 26"/>
          <p:cNvSpPr/>
          <p:nvPr/>
        </p:nvSpPr>
        <p:spPr>
          <a:xfrm>
            <a:off x="2816352" y="2587752"/>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0.000073</a:t>
            </a:r>
            <a:endParaRPr lang="en-US" sz="1100" dirty="0"/>
          </a:p>
        </p:txBody>
      </p:sp>
      <p:sp>
        <p:nvSpPr>
          <p:cNvPr id="29" name="Shape 27"/>
          <p:cNvSpPr/>
          <p:nvPr/>
        </p:nvSpPr>
        <p:spPr>
          <a:xfrm>
            <a:off x="4663440" y="2478024"/>
            <a:ext cx="1828800" cy="621792"/>
          </a:xfrm>
          <a:prstGeom prst="rect">
            <a:avLst/>
          </a:prstGeom>
          <a:solidFill>
            <a:srgbClr val="FFFFFF"/>
          </a:solidFill>
          <a:ln w="6350">
            <a:solidFill>
              <a:srgbClr val="CBD5E1"/>
            </a:solidFill>
            <a:prstDash val="solid"/>
          </a:ln>
        </p:spPr>
      </p:sp>
      <p:sp>
        <p:nvSpPr>
          <p:cNvPr id="30" name="Text 28"/>
          <p:cNvSpPr/>
          <p:nvPr/>
        </p:nvSpPr>
        <p:spPr>
          <a:xfrm>
            <a:off x="4736592" y="2587752"/>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0.000158</a:t>
            </a:r>
            <a:endParaRPr lang="en-US" sz="1100" dirty="0"/>
          </a:p>
        </p:txBody>
      </p:sp>
      <p:sp>
        <p:nvSpPr>
          <p:cNvPr id="31" name="Shape 29"/>
          <p:cNvSpPr/>
          <p:nvPr/>
        </p:nvSpPr>
        <p:spPr>
          <a:xfrm>
            <a:off x="6583680" y="2478024"/>
            <a:ext cx="1828800" cy="621792"/>
          </a:xfrm>
          <a:prstGeom prst="rect">
            <a:avLst/>
          </a:prstGeom>
          <a:solidFill>
            <a:srgbClr val="FFFFFF"/>
          </a:solidFill>
          <a:ln w="6350">
            <a:solidFill>
              <a:srgbClr val="CBD5E1"/>
            </a:solidFill>
            <a:prstDash val="solid"/>
          </a:ln>
        </p:spPr>
      </p:sp>
      <p:sp>
        <p:nvSpPr>
          <p:cNvPr id="32" name="Text 30"/>
          <p:cNvSpPr/>
          <p:nvPr/>
        </p:nvSpPr>
        <p:spPr>
          <a:xfrm>
            <a:off x="6656832" y="2587752"/>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0.000394</a:t>
            </a:r>
            <a:endParaRPr lang="en-US" sz="1100" dirty="0"/>
          </a:p>
        </p:txBody>
      </p:sp>
      <p:sp>
        <p:nvSpPr>
          <p:cNvPr id="33" name="Shape 31"/>
          <p:cNvSpPr/>
          <p:nvPr/>
        </p:nvSpPr>
        <p:spPr>
          <a:xfrm>
            <a:off x="8503920" y="2478024"/>
            <a:ext cx="3383280" cy="621792"/>
          </a:xfrm>
          <a:prstGeom prst="rect">
            <a:avLst/>
          </a:prstGeom>
          <a:solidFill>
            <a:srgbClr val="FFFFFF"/>
          </a:solidFill>
          <a:ln w="6350">
            <a:solidFill>
              <a:srgbClr val="CBD5E1"/>
            </a:solidFill>
            <a:prstDash val="solid"/>
          </a:ln>
        </p:spPr>
      </p:sp>
      <p:sp>
        <p:nvSpPr>
          <p:cNvPr id="34" name="Text 32"/>
          <p:cNvSpPr/>
          <p:nvPr/>
        </p:nvSpPr>
        <p:spPr>
          <a:xfrm>
            <a:off x="8577072" y="2587752"/>
            <a:ext cx="329184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Cropland shows highest average (0.000162)</a:t>
            </a:r>
            <a:endParaRPr lang="en-US" sz="1100" dirty="0"/>
          </a:p>
        </p:txBody>
      </p:sp>
      <p:sp>
        <p:nvSpPr>
          <p:cNvPr id="35" name="Shape 33"/>
          <p:cNvSpPr/>
          <p:nvPr/>
        </p:nvSpPr>
        <p:spPr>
          <a:xfrm>
            <a:off x="365760" y="3145536"/>
            <a:ext cx="2286000" cy="621792"/>
          </a:xfrm>
          <a:prstGeom prst="rect">
            <a:avLst/>
          </a:prstGeom>
          <a:solidFill>
            <a:srgbClr val="EEF2FA"/>
          </a:solidFill>
          <a:ln w="6350">
            <a:solidFill>
              <a:srgbClr val="CBD5E1"/>
            </a:solidFill>
            <a:prstDash val="solid"/>
          </a:ln>
        </p:spPr>
      </p:sp>
      <p:sp>
        <p:nvSpPr>
          <p:cNvPr id="36" name="Text 34"/>
          <p:cNvSpPr/>
          <p:nvPr/>
        </p:nvSpPr>
        <p:spPr>
          <a:xfrm>
            <a:off x="438912" y="3255264"/>
            <a:ext cx="2194560" cy="402336"/>
          </a:xfrm>
          <a:prstGeom prst="rect">
            <a:avLst/>
          </a:prstGeom>
          <a:noFill/>
          <a:ln/>
        </p:spPr>
        <p:txBody>
          <a:bodyPr wrap="square" rtlCol="0" anchor="ctr"/>
          <a:lstStyle/>
          <a:p>
            <a:pPr marL="0" indent="0">
              <a:buNone/>
            </a:pPr>
            <a:r>
              <a:rPr lang="en-US" sz="1100" dirty="0">
                <a:solidFill>
                  <a:srgbClr val="0B2545"/>
                </a:solidFill>
                <a:latin typeface="Calibri" pitchFamily="34" charset="0"/>
                <a:ea typeface="Calibri" pitchFamily="34" charset="-122"/>
                <a:cs typeface="Calibri" pitchFamily="34" charset="-120"/>
              </a:rPr>
              <a:t>Relief Ratio</a:t>
            </a:r>
            <a:endParaRPr lang="en-US" sz="1100" dirty="0"/>
          </a:p>
        </p:txBody>
      </p:sp>
      <p:sp>
        <p:nvSpPr>
          <p:cNvPr id="37" name="Shape 35"/>
          <p:cNvSpPr/>
          <p:nvPr/>
        </p:nvSpPr>
        <p:spPr>
          <a:xfrm>
            <a:off x="2743200" y="3145536"/>
            <a:ext cx="1828800" cy="621792"/>
          </a:xfrm>
          <a:prstGeom prst="rect">
            <a:avLst/>
          </a:prstGeom>
          <a:solidFill>
            <a:srgbClr val="EEF2FA"/>
          </a:solidFill>
          <a:ln w="6350">
            <a:solidFill>
              <a:srgbClr val="CBD5E1"/>
            </a:solidFill>
            <a:prstDash val="solid"/>
          </a:ln>
        </p:spPr>
      </p:sp>
      <p:sp>
        <p:nvSpPr>
          <p:cNvPr id="38" name="Text 36"/>
          <p:cNvSpPr/>
          <p:nvPr/>
        </p:nvSpPr>
        <p:spPr>
          <a:xfrm>
            <a:off x="2816352" y="3255264"/>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0.000297</a:t>
            </a:r>
            <a:endParaRPr lang="en-US" sz="1100" dirty="0"/>
          </a:p>
        </p:txBody>
      </p:sp>
      <p:sp>
        <p:nvSpPr>
          <p:cNvPr id="39" name="Shape 37"/>
          <p:cNvSpPr/>
          <p:nvPr/>
        </p:nvSpPr>
        <p:spPr>
          <a:xfrm>
            <a:off x="4663440" y="3145536"/>
            <a:ext cx="1828800" cy="621792"/>
          </a:xfrm>
          <a:prstGeom prst="rect">
            <a:avLst/>
          </a:prstGeom>
          <a:solidFill>
            <a:srgbClr val="EEF2FA"/>
          </a:solidFill>
          <a:ln w="6350">
            <a:solidFill>
              <a:srgbClr val="CBD5E1"/>
            </a:solidFill>
            <a:prstDash val="solid"/>
          </a:ln>
        </p:spPr>
      </p:sp>
      <p:sp>
        <p:nvSpPr>
          <p:cNvPr id="40" name="Text 38"/>
          <p:cNvSpPr/>
          <p:nvPr/>
        </p:nvSpPr>
        <p:spPr>
          <a:xfrm>
            <a:off x="4736592" y="3255264"/>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0.017778</a:t>
            </a:r>
            <a:endParaRPr lang="en-US" sz="1100" dirty="0"/>
          </a:p>
        </p:txBody>
      </p:sp>
      <p:sp>
        <p:nvSpPr>
          <p:cNvPr id="41" name="Shape 39"/>
          <p:cNvSpPr/>
          <p:nvPr/>
        </p:nvSpPr>
        <p:spPr>
          <a:xfrm>
            <a:off x="6583680" y="3145536"/>
            <a:ext cx="1828800" cy="621792"/>
          </a:xfrm>
          <a:prstGeom prst="rect">
            <a:avLst/>
          </a:prstGeom>
          <a:solidFill>
            <a:srgbClr val="EEF2FA"/>
          </a:solidFill>
          <a:ln w="6350">
            <a:solidFill>
              <a:srgbClr val="CBD5E1"/>
            </a:solidFill>
            <a:prstDash val="solid"/>
          </a:ln>
        </p:spPr>
      </p:sp>
      <p:sp>
        <p:nvSpPr>
          <p:cNvPr id="42" name="Text 40"/>
          <p:cNvSpPr/>
          <p:nvPr/>
        </p:nvSpPr>
        <p:spPr>
          <a:xfrm>
            <a:off x="6656832" y="3255264"/>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0.115150</a:t>
            </a:r>
            <a:endParaRPr lang="en-US" sz="1100" dirty="0"/>
          </a:p>
        </p:txBody>
      </p:sp>
      <p:sp>
        <p:nvSpPr>
          <p:cNvPr id="43" name="Shape 41"/>
          <p:cNvSpPr/>
          <p:nvPr/>
        </p:nvSpPr>
        <p:spPr>
          <a:xfrm>
            <a:off x="8503920" y="3145536"/>
            <a:ext cx="3383280" cy="621792"/>
          </a:xfrm>
          <a:prstGeom prst="rect">
            <a:avLst/>
          </a:prstGeom>
          <a:solidFill>
            <a:srgbClr val="EEF2FA"/>
          </a:solidFill>
          <a:ln w="6350">
            <a:solidFill>
              <a:srgbClr val="CBD5E1"/>
            </a:solidFill>
            <a:prstDash val="solid"/>
          </a:ln>
        </p:spPr>
      </p:sp>
      <p:sp>
        <p:nvSpPr>
          <p:cNvPr id="44" name="Text 42"/>
          <p:cNvSpPr/>
          <p:nvPr/>
        </p:nvSpPr>
        <p:spPr>
          <a:xfrm>
            <a:off x="8577072" y="3255264"/>
            <a:ext cx="329184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Higher in steep/small catchments</a:t>
            </a:r>
            <a:endParaRPr lang="en-US" sz="1100" dirty="0"/>
          </a:p>
        </p:txBody>
      </p:sp>
      <p:sp>
        <p:nvSpPr>
          <p:cNvPr id="45" name="Shape 43"/>
          <p:cNvSpPr/>
          <p:nvPr/>
        </p:nvSpPr>
        <p:spPr>
          <a:xfrm>
            <a:off x="365760" y="3813048"/>
            <a:ext cx="2286000" cy="621792"/>
          </a:xfrm>
          <a:prstGeom prst="rect">
            <a:avLst/>
          </a:prstGeom>
          <a:solidFill>
            <a:srgbClr val="FFFFFF"/>
          </a:solidFill>
          <a:ln w="6350">
            <a:solidFill>
              <a:srgbClr val="CBD5E1"/>
            </a:solidFill>
            <a:prstDash val="solid"/>
          </a:ln>
        </p:spPr>
      </p:sp>
      <p:sp>
        <p:nvSpPr>
          <p:cNvPr id="46" name="Text 44"/>
          <p:cNvSpPr/>
          <p:nvPr/>
        </p:nvSpPr>
        <p:spPr>
          <a:xfrm>
            <a:off x="438912" y="3922776"/>
            <a:ext cx="2194560" cy="402336"/>
          </a:xfrm>
          <a:prstGeom prst="rect">
            <a:avLst/>
          </a:prstGeom>
          <a:noFill/>
          <a:ln/>
        </p:spPr>
        <p:txBody>
          <a:bodyPr wrap="square" rtlCol="0" anchor="ctr"/>
          <a:lstStyle/>
          <a:p>
            <a:pPr marL="0" indent="0">
              <a:buNone/>
            </a:pPr>
            <a:r>
              <a:rPr lang="en-US" sz="1100" dirty="0">
                <a:solidFill>
                  <a:srgbClr val="0B2545"/>
                </a:solidFill>
                <a:latin typeface="Calibri" pitchFamily="34" charset="0"/>
                <a:ea typeface="Calibri" pitchFamily="34" charset="-122"/>
                <a:cs typeface="Calibri" pitchFamily="34" charset="-120"/>
              </a:rPr>
              <a:t>Population Count</a:t>
            </a:r>
            <a:endParaRPr lang="en-US" sz="1100" dirty="0"/>
          </a:p>
        </p:txBody>
      </p:sp>
      <p:sp>
        <p:nvSpPr>
          <p:cNvPr id="47" name="Shape 45"/>
          <p:cNvSpPr/>
          <p:nvPr/>
        </p:nvSpPr>
        <p:spPr>
          <a:xfrm>
            <a:off x="2743200" y="3813048"/>
            <a:ext cx="1828800" cy="621792"/>
          </a:xfrm>
          <a:prstGeom prst="rect">
            <a:avLst/>
          </a:prstGeom>
          <a:solidFill>
            <a:srgbClr val="FFFFFF"/>
          </a:solidFill>
          <a:ln w="6350">
            <a:solidFill>
              <a:srgbClr val="CBD5E1"/>
            </a:solidFill>
            <a:prstDash val="solid"/>
          </a:ln>
        </p:spPr>
      </p:sp>
      <p:sp>
        <p:nvSpPr>
          <p:cNvPr id="48" name="Text 46"/>
          <p:cNvSpPr/>
          <p:nvPr/>
        </p:nvSpPr>
        <p:spPr>
          <a:xfrm>
            <a:off x="2816352" y="3922776"/>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2,177</a:t>
            </a:r>
            <a:endParaRPr lang="en-US" sz="1100" dirty="0"/>
          </a:p>
        </p:txBody>
      </p:sp>
      <p:sp>
        <p:nvSpPr>
          <p:cNvPr id="49" name="Shape 47"/>
          <p:cNvSpPr/>
          <p:nvPr/>
        </p:nvSpPr>
        <p:spPr>
          <a:xfrm>
            <a:off x="4663440" y="3813048"/>
            <a:ext cx="1828800" cy="621792"/>
          </a:xfrm>
          <a:prstGeom prst="rect">
            <a:avLst/>
          </a:prstGeom>
          <a:solidFill>
            <a:srgbClr val="FFFFFF"/>
          </a:solidFill>
          <a:ln w="6350">
            <a:solidFill>
              <a:srgbClr val="CBD5E1"/>
            </a:solidFill>
            <a:prstDash val="solid"/>
          </a:ln>
        </p:spPr>
      </p:sp>
      <p:sp>
        <p:nvSpPr>
          <p:cNvPr id="50" name="Text 48"/>
          <p:cNvSpPr/>
          <p:nvPr/>
        </p:nvSpPr>
        <p:spPr>
          <a:xfrm>
            <a:off x="4736592" y="3922776"/>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6,756,400</a:t>
            </a:r>
            <a:endParaRPr lang="en-US" sz="1100" dirty="0"/>
          </a:p>
        </p:txBody>
      </p:sp>
      <p:sp>
        <p:nvSpPr>
          <p:cNvPr id="51" name="Shape 49"/>
          <p:cNvSpPr/>
          <p:nvPr/>
        </p:nvSpPr>
        <p:spPr>
          <a:xfrm>
            <a:off x="6583680" y="3813048"/>
            <a:ext cx="1828800" cy="621792"/>
          </a:xfrm>
          <a:prstGeom prst="rect">
            <a:avLst/>
          </a:prstGeom>
          <a:solidFill>
            <a:srgbClr val="FFFFFF"/>
          </a:solidFill>
          <a:ln w="6350">
            <a:solidFill>
              <a:srgbClr val="CBD5E1"/>
            </a:solidFill>
            <a:prstDash val="solid"/>
          </a:ln>
        </p:spPr>
      </p:sp>
      <p:sp>
        <p:nvSpPr>
          <p:cNvPr id="52" name="Text 50"/>
          <p:cNvSpPr/>
          <p:nvPr/>
        </p:nvSpPr>
        <p:spPr>
          <a:xfrm>
            <a:off x="6656832" y="3922776"/>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69,173,810</a:t>
            </a:r>
            <a:endParaRPr lang="en-US" sz="1100" dirty="0"/>
          </a:p>
        </p:txBody>
      </p:sp>
      <p:sp>
        <p:nvSpPr>
          <p:cNvPr id="53" name="Shape 51"/>
          <p:cNvSpPr/>
          <p:nvPr/>
        </p:nvSpPr>
        <p:spPr>
          <a:xfrm>
            <a:off x="8503920" y="3813048"/>
            <a:ext cx="3383280" cy="621792"/>
          </a:xfrm>
          <a:prstGeom prst="rect">
            <a:avLst/>
          </a:prstGeom>
          <a:solidFill>
            <a:srgbClr val="FFFFFF"/>
          </a:solidFill>
          <a:ln w="6350">
            <a:solidFill>
              <a:srgbClr val="CBD5E1"/>
            </a:solidFill>
            <a:prstDash val="solid"/>
          </a:ln>
        </p:spPr>
      </p:sp>
      <p:sp>
        <p:nvSpPr>
          <p:cNvPr id="54" name="Text 52"/>
          <p:cNvSpPr/>
          <p:nvPr/>
        </p:nvSpPr>
        <p:spPr>
          <a:xfrm>
            <a:off x="8577072" y="3922776"/>
            <a:ext cx="329184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Extremely right-skewed distribution</a:t>
            </a:r>
            <a:endParaRPr lang="en-US" sz="1100" dirty="0"/>
          </a:p>
        </p:txBody>
      </p:sp>
      <p:sp>
        <p:nvSpPr>
          <p:cNvPr id="55" name="Shape 53"/>
          <p:cNvSpPr/>
          <p:nvPr/>
        </p:nvSpPr>
        <p:spPr>
          <a:xfrm>
            <a:off x="365760" y="4480560"/>
            <a:ext cx="2286000" cy="621792"/>
          </a:xfrm>
          <a:prstGeom prst="rect">
            <a:avLst/>
          </a:prstGeom>
          <a:solidFill>
            <a:srgbClr val="EEF2FA"/>
          </a:solidFill>
          <a:ln w="6350">
            <a:solidFill>
              <a:srgbClr val="CBD5E1"/>
            </a:solidFill>
            <a:prstDash val="solid"/>
          </a:ln>
        </p:spPr>
      </p:sp>
      <p:sp>
        <p:nvSpPr>
          <p:cNvPr id="56" name="Text 54"/>
          <p:cNvSpPr/>
          <p:nvPr/>
        </p:nvSpPr>
        <p:spPr>
          <a:xfrm>
            <a:off x="438912" y="4590288"/>
            <a:ext cx="2194560" cy="402336"/>
          </a:xfrm>
          <a:prstGeom prst="rect">
            <a:avLst/>
          </a:prstGeom>
          <a:noFill/>
          <a:ln/>
        </p:spPr>
        <p:txBody>
          <a:bodyPr wrap="square" rtlCol="0" anchor="ctr"/>
          <a:lstStyle/>
          <a:p>
            <a:pPr marL="0" indent="0">
              <a:buNone/>
            </a:pPr>
            <a:r>
              <a:rPr lang="en-US" sz="1100" dirty="0">
                <a:solidFill>
                  <a:srgbClr val="0B2545"/>
                </a:solidFill>
                <a:latin typeface="Calibri" pitchFamily="34" charset="0"/>
                <a:ea typeface="Calibri" pitchFamily="34" charset="-122"/>
                <a:cs typeface="Calibri" pitchFamily="34" charset="-120"/>
              </a:rPr>
              <a:t>Population Density</a:t>
            </a:r>
            <a:endParaRPr lang="en-US" sz="1100" dirty="0"/>
          </a:p>
        </p:txBody>
      </p:sp>
      <p:sp>
        <p:nvSpPr>
          <p:cNvPr id="57" name="Shape 55"/>
          <p:cNvSpPr/>
          <p:nvPr/>
        </p:nvSpPr>
        <p:spPr>
          <a:xfrm>
            <a:off x="2743200" y="4480560"/>
            <a:ext cx="1828800" cy="621792"/>
          </a:xfrm>
          <a:prstGeom prst="rect">
            <a:avLst/>
          </a:prstGeom>
          <a:solidFill>
            <a:srgbClr val="EEF2FA"/>
          </a:solidFill>
          <a:ln w="6350">
            <a:solidFill>
              <a:srgbClr val="CBD5E1"/>
            </a:solidFill>
            <a:prstDash val="solid"/>
          </a:ln>
        </p:spPr>
      </p:sp>
      <p:sp>
        <p:nvSpPr>
          <p:cNvPr id="58" name="Text 56"/>
          <p:cNvSpPr/>
          <p:nvPr/>
        </p:nvSpPr>
        <p:spPr>
          <a:xfrm>
            <a:off x="2816352" y="4590288"/>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20.6</a:t>
            </a:r>
            <a:endParaRPr lang="en-US" sz="1100" dirty="0"/>
          </a:p>
        </p:txBody>
      </p:sp>
      <p:sp>
        <p:nvSpPr>
          <p:cNvPr id="59" name="Shape 57"/>
          <p:cNvSpPr/>
          <p:nvPr/>
        </p:nvSpPr>
        <p:spPr>
          <a:xfrm>
            <a:off x="4663440" y="4480560"/>
            <a:ext cx="1828800" cy="621792"/>
          </a:xfrm>
          <a:prstGeom prst="rect">
            <a:avLst/>
          </a:prstGeom>
          <a:solidFill>
            <a:srgbClr val="EEF2FA"/>
          </a:solidFill>
          <a:ln w="6350">
            <a:solidFill>
              <a:srgbClr val="CBD5E1"/>
            </a:solidFill>
            <a:prstDash val="solid"/>
          </a:ln>
        </p:spPr>
      </p:sp>
      <p:sp>
        <p:nvSpPr>
          <p:cNvPr id="60" name="Text 58"/>
          <p:cNvSpPr/>
          <p:nvPr/>
        </p:nvSpPr>
        <p:spPr>
          <a:xfrm>
            <a:off x="4736592" y="4590288"/>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385.5</a:t>
            </a:r>
            <a:endParaRPr lang="en-US" sz="1100" dirty="0"/>
          </a:p>
        </p:txBody>
      </p:sp>
      <p:sp>
        <p:nvSpPr>
          <p:cNvPr id="61" name="Shape 59"/>
          <p:cNvSpPr/>
          <p:nvPr/>
        </p:nvSpPr>
        <p:spPr>
          <a:xfrm>
            <a:off x="6583680" y="4480560"/>
            <a:ext cx="1828800" cy="621792"/>
          </a:xfrm>
          <a:prstGeom prst="rect">
            <a:avLst/>
          </a:prstGeom>
          <a:solidFill>
            <a:srgbClr val="EEF2FA"/>
          </a:solidFill>
          <a:ln w="6350">
            <a:solidFill>
              <a:srgbClr val="CBD5E1"/>
            </a:solidFill>
            <a:prstDash val="solid"/>
          </a:ln>
        </p:spPr>
      </p:sp>
      <p:sp>
        <p:nvSpPr>
          <p:cNvPr id="62" name="Text 60"/>
          <p:cNvSpPr/>
          <p:nvPr/>
        </p:nvSpPr>
        <p:spPr>
          <a:xfrm>
            <a:off x="6656832" y="4590288"/>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1,913.9</a:t>
            </a:r>
            <a:endParaRPr lang="en-US" sz="1100" dirty="0"/>
          </a:p>
        </p:txBody>
      </p:sp>
      <p:sp>
        <p:nvSpPr>
          <p:cNvPr id="63" name="Shape 61"/>
          <p:cNvSpPr/>
          <p:nvPr/>
        </p:nvSpPr>
        <p:spPr>
          <a:xfrm>
            <a:off x="8503920" y="4480560"/>
            <a:ext cx="3383280" cy="621792"/>
          </a:xfrm>
          <a:prstGeom prst="rect">
            <a:avLst/>
          </a:prstGeom>
          <a:solidFill>
            <a:srgbClr val="EEF2FA"/>
          </a:solidFill>
          <a:ln w="6350">
            <a:solidFill>
              <a:srgbClr val="CBD5E1"/>
            </a:solidFill>
            <a:prstDash val="solid"/>
          </a:ln>
        </p:spPr>
      </p:sp>
      <p:sp>
        <p:nvSpPr>
          <p:cNvPr id="64" name="Text 62"/>
          <p:cNvSpPr/>
          <p:nvPr/>
        </p:nvSpPr>
        <p:spPr>
          <a:xfrm>
            <a:off x="8577072" y="4590288"/>
            <a:ext cx="329184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Per sq km; high in Java-adjacent catchments</a:t>
            </a:r>
            <a:endParaRPr lang="en-US" sz="1100" dirty="0"/>
          </a:p>
        </p:txBody>
      </p:sp>
      <p:sp>
        <p:nvSpPr>
          <p:cNvPr id="65" name="Shape 63"/>
          <p:cNvSpPr/>
          <p:nvPr/>
        </p:nvSpPr>
        <p:spPr>
          <a:xfrm>
            <a:off x="365760" y="5148072"/>
            <a:ext cx="2286000" cy="621792"/>
          </a:xfrm>
          <a:prstGeom prst="rect">
            <a:avLst/>
          </a:prstGeom>
          <a:solidFill>
            <a:srgbClr val="FFFFFF"/>
          </a:solidFill>
          <a:ln w="6350">
            <a:solidFill>
              <a:srgbClr val="CBD5E1"/>
            </a:solidFill>
            <a:prstDash val="solid"/>
          </a:ln>
        </p:spPr>
      </p:sp>
      <p:sp>
        <p:nvSpPr>
          <p:cNvPr id="66" name="Text 64"/>
          <p:cNvSpPr/>
          <p:nvPr/>
        </p:nvSpPr>
        <p:spPr>
          <a:xfrm>
            <a:off x="438912" y="5257800"/>
            <a:ext cx="2194560" cy="402336"/>
          </a:xfrm>
          <a:prstGeom prst="rect">
            <a:avLst/>
          </a:prstGeom>
          <a:noFill/>
          <a:ln/>
        </p:spPr>
        <p:txBody>
          <a:bodyPr wrap="square" rtlCol="0" anchor="ctr"/>
          <a:lstStyle/>
          <a:p>
            <a:pPr marL="0" indent="0">
              <a:buNone/>
            </a:pPr>
            <a:r>
              <a:rPr lang="en-US" sz="1100" dirty="0">
                <a:solidFill>
                  <a:srgbClr val="0B2545"/>
                </a:solidFill>
                <a:latin typeface="Calibri" pitchFamily="34" charset="0"/>
                <a:ea typeface="Calibri" pitchFamily="34" charset="-122"/>
                <a:cs typeface="Calibri" pitchFamily="34" charset="-120"/>
              </a:rPr>
              <a:t>Drainage Area</a:t>
            </a:r>
            <a:endParaRPr lang="en-US" sz="1100" dirty="0"/>
          </a:p>
        </p:txBody>
      </p:sp>
      <p:sp>
        <p:nvSpPr>
          <p:cNvPr id="67" name="Shape 65"/>
          <p:cNvSpPr/>
          <p:nvPr/>
        </p:nvSpPr>
        <p:spPr>
          <a:xfrm>
            <a:off x="2743200" y="5148072"/>
            <a:ext cx="1828800" cy="621792"/>
          </a:xfrm>
          <a:prstGeom prst="rect">
            <a:avLst/>
          </a:prstGeom>
          <a:solidFill>
            <a:srgbClr val="FFFFFF"/>
          </a:solidFill>
          <a:ln w="6350">
            <a:solidFill>
              <a:srgbClr val="CBD5E1"/>
            </a:solidFill>
            <a:prstDash val="solid"/>
          </a:ln>
        </p:spPr>
      </p:sp>
      <p:sp>
        <p:nvSpPr>
          <p:cNvPr id="68" name="Text 66"/>
          <p:cNvSpPr/>
          <p:nvPr/>
        </p:nvSpPr>
        <p:spPr>
          <a:xfrm>
            <a:off x="2816352" y="5257800"/>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24.7 km²</a:t>
            </a:r>
            <a:endParaRPr lang="en-US" sz="1100" dirty="0"/>
          </a:p>
        </p:txBody>
      </p:sp>
      <p:sp>
        <p:nvSpPr>
          <p:cNvPr id="69" name="Shape 67"/>
          <p:cNvSpPr/>
          <p:nvPr/>
        </p:nvSpPr>
        <p:spPr>
          <a:xfrm>
            <a:off x="4663440" y="5148072"/>
            <a:ext cx="1828800" cy="621792"/>
          </a:xfrm>
          <a:prstGeom prst="rect">
            <a:avLst/>
          </a:prstGeom>
          <a:solidFill>
            <a:srgbClr val="FFFFFF"/>
          </a:solidFill>
          <a:ln w="6350">
            <a:solidFill>
              <a:srgbClr val="CBD5E1"/>
            </a:solidFill>
            <a:prstDash val="solid"/>
          </a:ln>
        </p:spPr>
      </p:sp>
      <p:sp>
        <p:nvSpPr>
          <p:cNvPr id="70" name="Text 68"/>
          <p:cNvSpPr/>
          <p:nvPr/>
        </p:nvSpPr>
        <p:spPr>
          <a:xfrm>
            <a:off x="4736592" y="5257800"/>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24,090 km²</a:t>
            </a:r>
            <a:endParaRPr lang="en-US" sz="1100" dirty="0"/>
          </a:p>
        </p:txBody>
      </p:sp>
      <p:sp>
        <p:nvSpPr>
          <p:cNvPr id="71" name="Shape 69"/>
          <p:cNvSpPr/>
          <p:nvPr/>
        </p:nvSpPr>
        <p:spPr>
          <a:xfrm>
            <a:off x="6583680" y="5148072"/>
            <a:ext cx="1828800" cy="621792"/>
          </a:xfrm>
          <a:prstGeom prst="rect">
            <a:avLst/>
          </a:prstGeom>
          <a:solidFill>
            <a:srgbClr val="FFFFFF"/>
          </a:solidFill>
          <a:ln w="6350">
            <a:solidFill>
              <a:srgbClr val="CBD5E1"/>
            </a:solidFill>
            <a:prstDash val="solid"/>
          </a:ln>
        </p:spPr>
      </p:sp>
      <p:sp>
        <p:nvSpPr>
          <p:cNvPr id="72" name="Text 70"/>
          <p:cNvSpPr/>
          <p:nvPr/>
        </p:nvSpPr>
        <p:spPr>
          <a:xfrm>
            <a:off x="6656832" y="5257800"/>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305,684 km²</a:t>
            </a:r>
            <a:endParaRPr lang="en-US" sz="1100" dirty="0"/>
          </a:p>
        </p:txBody>
      </p:sp>
      <p:sp>
        <p:nvSpPr>
          <p:cNvPr id="73" name="Shape 71"/>
          <p:cNvSpPr/>
          <p:nvPr/>
        </p:nvSpPr>
        <p:spPr>
          <a:xfrm>
            <a:off x="8503920" y="5148072"/>
            <a:ext cx="3383280" cy="621792"/>
          </a:xfrm>
          <a:prstGeom prst="rect">
            <a:avLst/>
          </a:prstGeom>
          <a:solidFill>
            <a:srgbClr val="FFFFFF"/>
          </a:solidFill>
          <a:ln w="6350">
            <a:solidFill>
              <a:srgbClr val="CBD5E1"/>
            </a:solidFill>
            <a:prstDash val="solid"/>
          </a:ln>
        </p:spPr>
      </p:sp>
      <p:sp>
        <p:nvSpPr>
          <p:cNvPr id="74" name="Text 72"/>
          <p:cNvSpPr/>
          <p:nvPr/>
        </p:nvSpPr>
        <p:spPr>
          <a:xfrm>
            <a:off x="8577072" y="5257800"/>
            <a:ext cx="329184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Covers small streams to major river systems</a:t>
            </a:r>
            <a:endParaRPr lang="en-US" sz="1100" dirty="0"/>
          </a:p>
        </p:txBody>
      </p:sp>
      <p:sp>
        <p:nvSpPr>
          <p:cNvPr id="75" name="Shape 73"/>
          <p:cNvSpPr/>
          <p:nvPr/>
        </p:nvSpPr>
        <p:spPr>
          <a:xfrm>
            <a:off x="365760" y="5815584"/>
            <a:ext cx="2286000" cy="621792"/>
          </a:xfrm>
          <a:prstGeom prst="rect">
            <a:avLst/>
          </a:prstGeom>
          <a:solidFill>
            <a:srgbClr val="EEF2FA"/>
          </a:solidFill>
          <a:ln w="6350">
            <a:solidFill>
              <a:srgbClr val="CBD5E1"/>
            </a:solidFill>
            <a:prstDash val="solid"/>
          </a:ln>
        </p:spPr>
      </p:sp>
      <p:sp>
        <p:nvSpPr>
          <p:cNvPr id="76" name="Text 74"/>
          <p:cNvSpPr/>
          <p:nvPr/>
        </p:nvSpPr>
        <p:spPr>
          <a:xfrm>
            <a:off x="438912" y="5925312"/>
            <a:ext cx="2194560" cy="402336"/>
          </a:xfrm>
          <a:prstGeom prst="rect">
            <a:avLst/>
          </a:prstGeom>
          <a:noFill/>
          <a:ln/>
        </p:spPr>
        <p:txBody>
          <a:bodyPr wrap="square" rtlCol="0" anchor="ctr"/>
          <a:lstStyle/>
          <a:p>
            <a:pPr marL="0" indent="0">
              <a:buNone/>
            </a:pPr>
            <a:r>
              <a:rPr lang="en-US" sz="1100" dirty="0">
                <a:solidFill>
                  <a:srgbClr val="0B2545"/>
                </a:solidFill>
                <a:latin typeface="Calibri" pitchFamily="34" charset="0"/>
                <a:ea typeface="Calibri" pitchFamily="34" charset="-122"/>
                <a:cs typeface="Calibri" pitchFamily="34" charset="-120"/>
              </a:rPr>
              <a:t>Annual Precipitation</a:t>
            </a:r>
            <a:endParaRPr lang="en-US" sz="1100" dirty="0"/>
          </a:p>
        </p:txBody>
      </p:sp>
      <p:sp>
        <p:nvSpPr>
          <p:cNvPr id="77" name="Shape 75"/>
          <p:cNvSpPr/>
          <p:nvPr/>
        </p:nvSpPr>
        <p:spPr>
          <a:xfrm>
            <a:off x="2743200" y="5815584"/>
            <a:ext cx="1828800" cy="621792"/>
          </a:xfrm>
          <a:prstGeom prst="rect">
            <a:avLst/>
          </a:prstGeom>
          <a:solidFill>
            <a:srgbClr val="EEF2FA"/>
          </a:solidFill>
          <a:ln w="6350">
            <a:solidFill>
              <a:srgbClr val="CBD5E1"/>
            </a:solidFill>
            <a:prstDash val="solid"/>
          </a:ln>
        </p:spPr>
      </p:sp>
      <p:sp>
        <p:nvSpPr>
          <p:cNvPr id="78" name="Text 76"/>
          <p:cNvSpPr/>
          <p:nvPr/>
        </p:nvSpPr>
        <p:spPr>
          <a:xfrm>
            <a:off x="2816352" y="5925312"/>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627 mm</a:t>
            </a:r>
            <a:endParaRPr lang="en-US" sz="1100" dirty="0"/>
          </a:p>
        </p:txBody>
      </p:sp>
      <p:sp>
        <p:nvSpPr>
          <p:cNvPr id="79" name="Shape 77"/>
          <p:cNvSpPr/>
          <p:nvPr/>
        </p:nvSpPr>
        <p:spPr>
          <a:xfrm>
            <a:off x="4663440" y="5815584"/>
            <a:ext cx="1828800" cy="621792"/>
          </a:xfrm>
          <a:prstGeom prst="rect">
            <a:avLst/>
          </a:prstGeom>
          <a:solidFill>
            <a:srgbClr val="EEF2FA"/>
          </a:solidFill>
          <a:ln w="6350">
            <a:solidFill>
              <a:srgbClr val="CBD5E1"/>
            </a:solidFill>
            <a:prstDash val="solid"/>
          </a:ln>
        </p:spPr>
      </p:sp>
      <p:sp>
        <p:nvSpPr>
          <p:cNvPr id="80" name="Text 78"/>
          <p:cNvSpPr/>
          <p:nvPr/>
        </p:nvSpPr>
        <p:spPr>
          <a:xfrm>
            <a:off x="4736592" y="5925312"/>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1,604 mm</a:t>
            </a:r>
            <a:endParaRPr lang="en-US" sz="1100" dirty="0"/>
          </a:p>
        </p:txBody>
      </p:sp>
      <p:sp>
        <p:nvSpPr>
          <p:cNvPr id="81" name="Shape 79"/>
          <p:cNvSpPr/>
          <p:nvPr/>
        </p:nvSpPr>
        <p:spPr>
          <a:xfrm>
            <a:off x="6583680" y="5815584"/>
            <a:ext cx="1828800" cy="621792"/>
          </a:xfrm>
          <a:prstGeom prst="rect">
            <a:avLst/>
          </a:prstGeom>
          <a:solidFill>
            <a:srgbClr val="EEF2FA"/>
          </a:solidFill>
          <a:ln w="6350">
            <a:solidFill>
              <a:srgbClr val="CBD5E1"/>
            </a:solidFill>
            <a:prstDash val="solid"/>
          </a:ln>
        </p:spPr>
      </p:sp>
      <p:sp>
        <p:nvSpPr>
          <p:cNvPr id="82" name="Text 80"/>
          <p:cNvSpPr/>
          <p:nvPr/>
        </p:nvSpPr>
        <p:spPr>
          <a:xfrm>
            <a:off x="6656832" y="5925312"/>
            <a:ext cx="173736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5,887 mm</a:t>
            </a:r>
            <a:endParaRPr lang="en-US" sz="1100" dirty="0"/>
          </a:p>
        </p:txBody>
      </p:sp>
      <p:sp>
        <p:nvSpPr>
          <p:cNvPr id="83" name="Shape 81"/>
          <p:cNvSpPr/>
          <p:nvPr/>
        </p:nvSpPr>
        <p:spPr>
          <a:xfrm>
            <a:off x="8503920" y="5815584"/>
            <a:ext cx="3383280" cy="621792"/>
          </a:xfrm>
          <a:prstGeom prst="rect">
            <a:avLst/>
          </a:prstGeom>
          <a:solidFill>
            <a:srgbClr val="EEF2FA"/>
          </a:solidFill>
          <a:ln w="6350">
            <a:solidFill>
              <a:srgbClr val="CBD5E1"/>
            </a:solidFill>
            <a:prstDash val="solid"/>
          </a:ln>
        </p:spPr>
      </p:sp>
      <p:sp>
        <p:nvSpPr>
          <p:cNvPr id="84" name="Text 82"/>
          <p:cNvSpPr/>
          <p:nvPr/>
        </p:nvSpPr>
        <p:spPr>
          <a:xfrm>
            <a:off x="8577072" y="5925312"/>
            <a:ext cx="3291840" cy="402336"/>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Tropical dominance with Temperate &amp; Arid zones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Data Understanding — Key Variables</a:t>
            </a:r>
            <a:endParaRPr lang="en-US" sz="3000" dirty="0"/>
          </a:p>
        </p:txBody>
      </p:sp>
      <p:sp>
        <p:nvSpPr>
          <p:cNvPr id="4" name="Shape 2"/>
          <p:cNvSpPr/>
          <p:nvPr/>
        </p:nvSpPr>
        <p:spPr>
          <a:xfrm>
            <a:off x="320040" y="1143000"/>
            <a:ext cx="566928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20040" y="1143000"/>
            <a:ext cx="5669280" cy="347472"/>
          </a:xfrm>
          <a:prstGeom prst="rect">
            <a:avLst/>
          </a:prstGeom>
          <a:solidFill>
            <a:srgbClr val="2B4B8C"/>
          </a:solidFill>
          <a:ln w="12700">
            <a:solidFill>
              <a:srgbClr val="2B4B8C"/>
            </a:solidFill>
            <a:prstDash val="solid"/>
          </a:ln>
        </p:spPr>
      </p:sp>
      <p:sp>
        <p:nvSpPr>
          <p:cNvPr id="6" name="Text 4"/>
          <p:cNvSpPr/>
          <p:nvPr/>
        </p:nvSpPr>
        <p:spPr>
          <a:xfrm>
            <a:off x="411480" y="1179576"/>
            <a:ext cx="411480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GaugeID</a:t>
            </a:r>
            <a:endParaRPr lang="en-US" sz="1200" dirty="0"/>
          </a:p>
        </p:txBody>
      </p:sp>
      <p:sp>
        <p:nvSpPr>
          <p:cNvPr id="7" name="Shape 5"/>
          <p:cNvSpPr/>
          <p:nvPr/>
        </p:nvSpPr>
        <p:spPr>
          <a:xfrm>
            <a:off x="4526280" y="1179576"/>
            <a:ext cx="1371600" cy="256032"/>
          </a:xfrm>
          <a:prstGeom prst="rect">
            <a:avLst/>
          </a:prstGeom>
          <a:solidFill>
            <a:srgbClr val="32E0C4">
              <a:alpha val="80000"/>
            </a:srgbClr>
          </a:solidFill>
          <a:ln w="12700">
            <a:solidFill>
              <a:srgbClr val="32E0C4"/>
            </a:solidFill>
            <a:prstDash val="solid"/>
          </a:ln>
        </p:spPr>
      </p:sp>
      <p:sp>
        <p:nvSpPr>
          <p:cNvPr id="8" name="Text 6"/>
          <p:cNvSpPr/>
          <p:nvPr/>
        </p:nvSpPr>
        <p:spPr>
          <a:xfrm>
            <a:off x="4526280" y="1188720"/>
            <a:ext cx="1371600" cy="237744"/>
          </a:xfrm>
          <a:prstGeom prst="rect">
            <a:avLst/>
          </a:prstGeom>
          <a:noFill/>
          <a:ln/>
        </p:spPr>
        <p:txBody>
          <a:bodyPr wrap="square" rtlCol="0" anchor="ctr"/>
          <a:lstStyle/>
          <a:p>
            <a:pPr marL="0" indent="0" algn="ctr">
              <a:buNone/>
            </a:pPr>
            <a:r>
              <a:rPr lang="en-US" sz="900" b="1" dirty="0">
                <a:solidFill>
                  <a:srgbClr val="0B1F3A"/>
                </a:solidFill>
                <a:latin typeface="Calibri" pitchFamily="34" charset="0"/>
                <a:ea typeface="Calibri" pitchFamily="34" charset="-122"/>
                <a:cs typeface="Calibri" pitchFamily="34" charset="-120"/>
              </a:rPr>
              <a:t>Primary key</a:t>
            </a:r>
            <a:endParaRPr lang="en-US" sz="900" dirty="0"/>
          </a:p>
        </p:txBody>
      </p:sp>
      <p:sp>
        <p:nvSpPr>
          <p:cNvPr id="9" name="Text 7"/>
          <p:cNvSpPr/>
          <p:nvPr/>
        </p:nvSpPr>
        <p:spPr>
          <a:xfrm>
            <a:off x="411480" y="1554480"/>
            <a:ext cx="5394960" cy="713232"/>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Unique identifier for each catchment/gauge station. Format: INDOFLOODS-gauge-XXXX.</a:t>
            </a:r>
            <a:endParaRPr lang="en-US" sz="1100" dirty="0"/>
          </a:p>
        </p:txBody>
      </p:sp>
      <p:sp>
        <p:nvSpPr>
          <p:cNvPr id="10" name="Shape 8"/>
          <p:cNvSpPr/>
          <p:nvPr/>
        </p:nvSpPr>
        <p:spPr>
          <a:xfrm>
            <a:off x="6263640" y="1143000"/>
            <a:ext cx="566928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1" name="Shape 9"/>
          <p:cNvSpPr/>
          <p:nvPr/>
        </p:nvSpPr>
        <p:spPr>
          <a:xfrm>
            <a:off x="6263640" y="1143000"/>
            <a:ext cx="5669280" cy="347472"/>
          </a:xfrm>
          <a:prstGeom prst="rect">
            <a:avLst/>
          </a:prstGeom>
          <a:solidFill>
            <a:srgbClr val="2B4B8C"/>
          </a:solidFill>
          <a:ln w="12700">
            <a:solidFill>
              <a:srgbClr val="2B4B8C"/>
            </a:solidFill>
            <a:prstDash val="solid"/>
          </a:ln>
        </p:spPr>
      </p:sp>
      <p:sp>
        <p:nvSpPr>
          <p:cNvPr id="12" name="Text 10"/>
          <p:cNvSpPr/>
          <p:nvPr/>
        </p:nvSpPr>
        <p:spPr>
          <a:xfrm>
            <a:off x="6355080" y="1179576"/>
            <a:ext cx="411480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Flood Risk Index</a:t>
            </a:r>
            <a:endParaRPr lang="en-US" sz="1200" dirty="0"/>
          </a:p>
        </p:txBody>
      </p:sp>
      <p:sp>
        <p:nvSpPr>
          <p:cNvPr id="13" name="Shape 11"/>
          <p:cNvSpPr/>
          <p:nvPr/>
        </p:nvSpPr>
        <p:spPr>
          <a:xfrm>
            <a:off x="10469880" y="1179576"/>
            <a:ext cx="1371600" cy="256032"/>
          </a:xfrm>
          <a:prstGeom prst="rect">
            <a:avLst/>
          </a:prstGeom>
          <a:solidFill>
            <a:srgbClr val="32E0C4">
              <a:alpha val="80000"/>
            </a:srgbClr>
          </a:solidFill>
          <a:ln w="12700">
            <a:solidFill>
              <a:srgbClr val="32E0C4"/>
            </a:solidFill>
            <a:prstDash val="solid"/>
          </a:ln>
        </p:spPr>
      </p:sp>
      <p:sp>
        <p:nvSpPr>
          <p:cNvPr id="14" name="Text 12"/>
          <p:cNvSpPr/>
          <p:nvPr/>
        </p:nvSpPr>
        <p:spPr>
          <a:xfrm>
            <a:off x="10469880" y="1188720"/>
            <a:ext cx="1371600" cy="237744"/>
          </a:xfrm>
          <a:prstGeom prst="rect">
            <a:avLst/>
          </a:prstGeom>
          <a:noFill/>
          <a:ln/>
        </p:spPr>
        <p:txBody>
          <a:bodyPr wrap="square" rtlCol="0" anchor="ctr"/>
          <a:lstStyle/>
          <a:p>
            <a:pPr marL="0" indent="0" algn="ctr">
              <a:buNone/>
            </a:pPr>
            <a:r>
              <a:rPr lang="en-US" sz="900" b="1" dirty="0">
                <a:solidFill>
                  <a:srgbClr val="0B1F3A"/>
                </a:solidFill>
                <a:latin typeface="Calibri" pitchFamily="34" charset="0"/>
                <a:ea typeface="Calibri" pitchFamily="34" charset="-122"/>
                <a:cs typeface="Calibri" pitchFamily="34" charset="-120"/>
              </a:rPr>
              <a:t>Target Variable</a:t>
            </a:r>
            <a:endParaRPr lang="en-US" sz="900" dirty="0"/>
          </a:p>
        </p:txBody>
      </p:sp>
      <p:sp>
        <p:nvSpPr>
          <p:cNvPr id="15" name="Text 13"/>
          <p:cNvSpPr/>
          <p:nvPr/>
        </p:nvSpPr>
        <p:spPr>
          <a:xfrm>
            <a:off x="6355080" y="1554480"/>
            <a:ext cx="5394960" cy="713232"/>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Composite flood vulnerability score derived from morphometric, climatic, and land-use features.</a:t>
            </a:r>
            <a:endParaRPr lang="en-US" sz="1100" dirty="0"/>
          </a:p>
        </p:txBody>
      </p:sp>
      <p:sp>
        <p:nvSpPr>
          <p:cNvPr id="16" name="Shape 14"/>
          <p:cNvSpPr/>
          <p:nvPr/>
        </p:nvSpPr>
        <p:spPr>
          <a:xfrm>
            <a:off x="320040" y="2532888"/>
            <a:ext cx="566928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7" name="Shape 15"/>
          <p:cNvSpPr/>
          <p:nvPr/>
        </p:nvSpPr>
        <p:spPr>
          <a:xfrm>
            <a:off x="320040" y="2532888"/>
            <a:ext cx="5669280" cy="347472"/>
          </a:xfrm>
          <a:prstGeom prst="rect">
            <a:avLst/>
          </a:prstGeom>
          <a:solidFill>
            <a:srgbClr val="2B4B8C"/>
          </a:solidFill>
          <a:ln w="12700">
            <a:solidFill>
              <a:srgbClr val="2B4B8C"/>
            </a:solidFill>
            <a:prstDash val="solid"/>
          </a:ln>
        </p:spPr>
      </p:sp>
      <p:sp>
        <p:nvSpPr>
          <p:cNvPr id="18" name="Text 16"/>
          <p:cNvSpPr/>
          <p:nvPr/>
        </p:nvSpPr>
        <p:spPr>
          <a:xfrm>
            <a:off x="411480" y="2569464"/>
            <a:ext cx="411480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Basin Size</a:t>
            </a:r>
            <a:endParaRPr lang="en-US" sz="1200" dirty="0"/>
          </a:p>
        </p:txBody>
      </p:sp>
      <p:sp>
        <p:nvSpPr>
          <p:cNvPr id="19" name="Shape 17"/>
          <p:cNvSpPr/>
          <p:nvPr/>
        </p:nvSpPr>
        <p:spPr>
          <a:xfrm>
            <a:off x="4526280" y="2569464"/>
            <a:ext cx="1371600" cy="256032"/>
          </a:xfrm>
          <a:prstGeom prst="rect">
            <a:avLst/>
          </a:prstGeom>
          <a:solidFill>
            <a:srgbClr val="32E0C4">
              <a:alpha val="80000"/>
            </a:srgbClr>
          </a:solidFill>
          <a:ln w="12700">
            <a:solidFill>
              <a:srgbClr val="32E0C4"/>
            </a:solidFill>
            <a:prstDash val="solid"/>
          </a:ln>
        </p:spPr>
      </p:sp>
      <p:sp>
        <p:nvSpPr>
          <p:cNvPr id="20" name="Text 18"/>
          <p:cNvSpPr/>
          <p:nvPr/>
        </p:nvSpPr>
        <p:spPr>
          <a:xfrm>
            <a:off x="4526280" y="2578608"/>
            <a:ext cx="1371600" cy="237744"/>
          </a:xfrm>
          <a:prstGeom prst="rect">
            <a:avLst/>
          </a:prstGeom>
          <a:noFill/>
          <a:ln/>
        </p:spPr>
        <p:txBody>
          <a:bodyPr wrap="square" rtlCol="0" anchor="ctr"/>
          <a:lstStyle/>
          <a:p>
            <a:pPr marL="0" indent="0" algn="ctr">
              <a:buNone/>
            </a:pPr>
            <a:r>
              <a:rPr lang="en-US" sz="900" b="1" dirty="0">
                <a:solidFill>
                  <a:srgbClr val="0B1F3A"/>
                </a:solidFill>
                <a:latin typeface="Calibri" pitchFamily="34" charset="0"/>
                <a:ea typeface="Calibri" pitchFamily="34" charset="-122"/>
                <a:cs typeface="Calibri" pitchFamily="34" charset="-120"/>
              </a:rPr>
              <a:t>Critical Predictor</a:t>
            </a:r>
            <a:endParaRPr lang="en-US" sz="900" dirty="0"/>
          </a:p>
        </p:txBody>
      </p:sp>
      <p:sp>
        <p:nvSpPr>
          <p:cNvPr id="21" name="Text 19"/>
          <p:cNvSpPr/>
          <p:nvPr/>
        </p:nvSpPr>
        <p:spPr>
          <a:xfrm>
            <a:off x="411480" y="2944368"/>
            <a:ext cx="5394960" cy="713232"/>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Categorical: Small (&lt;5,000 km²), Medium (5,000–50,000 km²), Large (&gt;50,000 km²). Small basins show highest risk.</a:t>
            </a:r>
            <a:endParaRPr lang="en-US" sz="1100" dirty="0"/>
          </a:p>
        </p:txBody>
      </p:sp>
      <p:sp>
        <p:nvSpPr>
          <p:cNvPr id="22" name="Shape 20"/>
          <p:cNvSpPr/>
          <p:nvPr/>
        </p:nvSpPr>
        <p:spPr>
          <a:xfrm>
            <a:off x="6263640" y="2532888"/>
            <a:ext cx="566928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3" name="Shape 21"/>
          <p:cNvSpPr/>
          <p:nvPr/>
        </p:nvSpPr>
        <p:spPr>
          <a:xfrm>
            <a:off x="6263640" y="2532888"/>
            <a:ext cx="5669280" cy="347472"/>
          </a:xfrm>
          <a:prstGeom prst="rect">
            <a:avLst/>
          </a:prstGeom>
          <a:solidFill>
            <a:srgbClr val="2B4B8C"/>
          </a:solidFill>
          <a:ln w="12700">
            <a:solidFill>
              <a:srgbClr val="2B4B8C"/>
            </a:solidFill>
            <a:prstDash val="solid"/>
          </a:ln>
        </p:spPr>
      </p:sp>
      <p:sp>
        <p:nvSpPr>
          <p:cNvPr id="24" name="Text 22"/>
          <p:cNvSpPr/>
          <p:nvPr/>
        </p:nvSpPr>
        <p:spPr>
          <a:xfrm>
            <a:off x="6355080" y="2569464"/>
            <a:ext cx="411480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Soil Type</a:t>
            </a:r>
            <a:endParaRPr lang="en-US" sz="1200" dirty="0"/>
          </a:p>
        </p:txBody>
      </p:sp>
      <p:sp>
        <p:nvSpPr>
          <p:cNvPr id="25" name="Shape 23"/>
          <p:cNvSpPr/>
          <p:nvPr/>
        </p:nvSpPr>
        <p:spPr>
          <a:xfrm>
            <a:off x="10469880" y="2569464"/>
            <a:ext cx="1371600" cy="256032"/>
          </a:xfrm>
          <a:prstGeom prst="rect">
            <a:avLst/>
          </a:prstGeom>
          <a:solidFill>
            <a:srgbClr val="32E0C4">
              <a:alpha val="80000"/>
            </a:srgbClr>
          </a:solidFill>
          <a:ln w="12700">
            <a:solidFill>
              <a:srgbClr val="32E0C4"/>
            </a:solidFill>
            <a:prstDash val="solid"/>
          </a:ln>
        </p:spPr>
      </p:sp>
      <p:sp>
        <p:nvSpPr>
          <p:cNvPr id="26" name="Text 24"/>
          <p:cNvSpPr/>
          <p:nvPr/>
        </p:nvSpPr>
        <p:spPr>
          <a:xfrm>
            <a:off x="10469880" y="2578608"/>
            <a:ext cx="1371600" cy="237744"/>
          </a:xfrm>
          <a:prstGeom prst="rect">
            <a:avLst/>
          </a:prstGeom>
          <a:noFill/>
          <a:ln/>
        </p:spPr>
        <p:txBody>
          <a:bodyPr wrap="square" rtlCol="0" anchor="ctr"/>
          <a:lstStyle/>
          <a:p>
            <a:pPr marL="0" indent="0" algn="ctr">
              <a:buNone/>
            </a:pPr>
            <a:r>
              <a:rPr lang="en-US" sz="900" b="1" dirty="0">
                <a:solidFill>
                  <a:srgbClr val="0B1F3A"/>
                </a:solidFill>
                <a:latin typeface="Calibri" pitchFamily="34" charset="0"/>
                <a:ea typeface="Calibri" pitchFamily="34" charset="-122"/>
                <a:cs typeface="Calibri" pitchFamily="34" charset="-120"/>
              </a:rPr>
              <a:t>Environmental Factor</a:t>
            </a:r>
            <a:endParaRPr lang="en-US" sz="900" dirty="0"/>
          </a:p>
        </p:txBody>
      </p:sp>
      <p:sp>
        <p:nvSpPr>
          <p:cNvPr id="27" name="Text 25"/>
          <p:cNvSpPr/>
          <p:nvPr/>
        </p:nvSpPr>
        <p:spPr>
          <a:xfrm>
            <a:off x="6355080" y="2944368"/>
            <a:ext cx="5394960" cy="713232"/>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8 classes including Cambisols, Acrisols, Leptosols, Fluvisols etc. Governs infiltration capacity.</a:t>
            </a:r>
            <a:endParaRPr lang="en-US" sz="1100" dirty="0"/>
          </a:p>
        </p:txBody>
      </p:sp>
      <p:sp>
        <p:nvSpPr>
          <p:cNvPr id="28" name="Shape 26"/>
          <p:cNvSpPr/>
          <p:nvPr/>
        </p:nvSpPr>
        <p:spPr>
          <a:xfrm>
            <a:off x="320040" y="3922776"/>
            <a:ext cx="566928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9" name="Shape 27"/>
          <p:cNvSpPr/>
          <p:nvPr/>
        </p:nvSpPr>
        <p:spPr>
          <a:xfrm>
            <a:off x="320040" y="3922776"/>
            <a:ext cx="5669280" cy="347472"/>
          </a:xfrm>
          <a:prstGeom prst="rect">
            <a:avLst/>
          </a:prstGeom>
          <a:solidFill>
            <a:srgbClr val="2B4B8C"/>
          </a:solidFill>
          <a:ln w="12700">
            <a:solidFill>
              <a:srgbClr val="2B4B8C"/>
            </a:solidFill>
            <a:prstDash val="solid"/>
          </a:ln>
        </p:spPr>
      </p:sp>
      <p:sp>
        <p:nvSpPr>
          <p:cNvPr id="30" name="Text 28"/>
          <p:cNvSpPr/>
          <p:nvPr/>
        </p:nvSpPr>
        <p:spPr>
          <a:xfrm>
            <a:off x="411480" y="3959352"/>
            <a:ext cx="411480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Land Cover</a:t>
            </a:r>
            <a:endParaRPr lang="en-US" sz="1200" dirty="0"/>
          </a:p>
        </p:txBody>
      </p:sp>
      <p:sp>
        <p:nvSpPr>
          <p:cNvPr id="31" name="Shape 29"/>
          <p:cNvSpPr/>
          <p:nvPr/>
        </p:nvSpPr>
        <p:spPr>
          <a:xfrm>
            <a:off x="4526280" y="3959352"/>
            <a:ext cx="1371600" cy="256032"/>
          </a:xfrm>
          <a:prstGeom prst="rect">
            <a:avLst/>
          </a:prstGeom>
          <a:solidFill>
            <a:srgbClr val="32E0C4">
              <a:alpha val="80000"/>
            </a:srgbClr>
          </a:solidFill>
          <a:ln w="12700">
            <a:solidFill>
              <a:srgbClr val="32E0C4"/>
            </a:solidFill>
            <a:prstDash val="solid"/>
          </a:ln>
        </p:spPr>
      </p:sp>
      <p:sp>
        <p:nvSpPr>
          <p:cNvPr id="32" name="Text 30"/>
          <p:cNvSpPr/>
          <p:nvPr/>
        </p:nvSpPr>
        <p:spPr>
          <a:xfrm>
            <a:off x="4526280" y="3968496"/>
            <a:ext cx="1371600" cy="237744"/>
          </a:xfrm>
          <a:prstGeom prst="rect">
            <a:avLst/>
          </a:prstGeom>
          <a:noFill/>
          <a:ln/>
        </p:spPr>
        <p:txBody>
          <a:bodyPr wrap="square" rtlCol="0" anchor="ctr"/>
          <a:lstStyle/>
          <a:p>
            <a:pPr marL="0" indent="0" algn="ctr">
              <a:buNone/>
            </a:pPr>
            <a:r>
              <a:rPr lang="en-US" sz="900" b="1" dirty="0">
                <a:solidFill>
                  <a:srgbClr val="0B1F3A"/>
                </a:solidFill>
                <a:latin typeface="Calibri" pitchFamily="34" charset="0"/>
                <a:ea typeface="Calibri" pitchFamily="34" charset="-122"/>
                <a:cs typeface="Calibri" pitchFamily="34" charset="-120"/>
              </a:rPr>
              <a:t>Land-Use Factor</a:t>
            </a:r>
            <a:endParaRPr lang="en-US" sz="900" dirty="0"/>
          </a:p>
        </p:txBody>
      </p:sp>
      <p:sp>
        <p:nvSpPr>
          <p:cNvPr id="33" name="Text 31"/>
          <p:cNvSpPr/>
          <p:nvPr/>
        </p:nvSpPr>
        <p:spPr>
          <a:xfrm>
            <a:off x="411480" y="4334256"/>
            <a:ext cx="5394960" cy="713232"/>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Cropland, Forest, Mosaic Vegetation, No Dominant Class. Cropland has highest drainage density → higher runoff.</a:t>
            </a:r>
            <a:endParaRPr lang="en-US" sz="1100" dirty="0"/>
          </a:p>
        </p:txBody>
      </p:sp>
      <p:sp>
        <p:nvSpPr>
          <p:cNvPr id="34" name="Shape 32"/>
          <p:cNvSpPr/>
          <p:nvPr/>
        </p:nvSpPr>
        <p:spPr>
          <a:xfrm>
            <a:off x="6263640" y="3922776"/>
            <a:ext cx="566928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35" name="Shape 33"/>
          <p:cNvSpPr/>
          <p:nvPr/>
        </p:nvSpPr>
        <p:spPr>
          <a:xfrm>
            <a:off x="6263640" y="3922776"/>
            <a:ext cx="5669280" cy="347472"/>
          </a:xfrm>
          <a:prstGeom prst="rect">
            <a:avLst/>
          </a:prstGeom>
          <a:solidFill>
            <a:srgbClr val="2B4B8C"/>
          </a:solidFill>
          <a:ln w="12700">
            <a:solidFill>
              <a:srgbClr val="2B4B8C"/>
            </a:solidFill>
            <a:prstDash val="solid"/>
          </a:ln>
        </p:spPr>
      </p:sp>
      <p:sp>
        <p:nvSpPr>
          <p:cNvPr id="36" name="Text 34"/>
          <p:cNvSpPr/>
          <p:nvPr/>
        </p:nvSpPr>
        <p:spPr>
          <a:xfrm>
            <a:off x="6355080" y="3959352"/>
            <a:ext cx="411480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Population Risk Level</a:t>
            </a:r>
            <a:endParaRPr lang="en-US" sz="1200" dirty="0"/>
          </a:p>
        </p:txBody>
      </p:sp>
      <p:sp>
        <p:nvSpPr>
          <p:cNvPr id="37" name="Shape 35"/>
          <p:cNvSpPr/>
          <p:nvPr/>
        </p:nvSpPr>
        <p:spPr>
          <a:xfrm>
            <a:off x="10469880" y="3959352"/>
            <a:ext cx="1371600" cy="256032"/>
          </a:xfrm>
          <a:prstGeom prst="rect">
            <a:avLst/>
          </a:prstGeom>
          <a:solidFill>
            <a:srgbClr val="32E0C4">
              <a:alpha val="80000"/>
            </a:srgbClr>
          </a:solidFill>
          <a:ln w="12700">
            <a:solidFill>
              <a:srgbClr val="32E0C4"/>
            </a:solidFill>
            <a:prstDash val="solid"/>
          </a:ln>
        </p:spPr>
      </p:sp>
      <p:sp>
        <p:nvSpPr>
          <p:cNvPr id="38" name="Text 36"/>
          <p:cNvSpPr/>
          <p:nvPr/>
        </p:nvSpPr>
        <p:spPr>
          <a:xfrm>
            <a:off x="10469880" y="3968496"/>
            <a:ext cx="1371600" cy="237744"/>
          </a:xfrm>
          <a:prstGeom prst="rect">
            <a:avLst/>
          </a:prstGeom>
          <a:noFill/>
          <a:ln/>
        </p:spPr>
        <p:txBody>
          <a:bodyPr wrap="square" rtlCol="0" anchor="ctr"/>
          <a:lstStyle/>
          <a:p>
            <a:pPr marL="0" indent="0" algn="ctr">
              <a:buNone/>
            </a:pPr>
            <a:r>
              <a:rPr lang="en-US" sz="900" b="1" dirty="0">
                <a:solidFill>
                  <a:srgbClr val="0B1F3A"/>
                </a:solidFill>
                <a:latin typeface="Calibri" pitchFamily="34" charset="0"/>
                <a:ea typeface="Calibri" pitchFamily="34" charset="-122"/>
                <a:cs typeface="Calibri" pitchFamily="34" charset="-120"/>
              </a:rPr>
              <a:t>Risk Tier</a:t>
            </a:r>
            <a:endParaRPr lang="en-US" sz="900" dirty="0"/>
          </a:p>
        </p:txBody>
      </p:sp>
      <p:sp>
        <p:nvSpPr>
          <p:cNvPr id="39" name="Text 37"/>
          <p:cNvSpPr/>
          <p:nvPr/>
        </p:nvSpPr>
        <p:spPr>
          <a:xfrm>
            <a:off x="6355080" y="4334256"/>
            <a:ext cx="5394960" cy="713232"/>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Low (93 catchments), Medium (29), High (33). Combines flood index with population exposure.</a:t>
            </a:r>
            <a:endParaRPr lang="en-US" sz="1100" dirty="0"/>
          </a:p>
        </p:txBody>
      </p:sp>
      <p:sp>
        <p:nvSpPr>
          <p:cNvPr id="40" name="Shape 38"/>
          <p:cNvSpPr/>
          <p:nvPr/>
        </p:nvSpPr>
        <p:spPr>
          <a:xfrm>
            <a:off x="320040" y="5312664"/>
            <a:ext cx="566928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41" name="Shape 39"/>
          <p:cNvSpPr/>
          <p:nvPr/>
        </p:nvSpPr>
        <p:spPr>
          <a:xfrm>
            <a:off x="320040" y="5312664"/>
            <a:ext cx="5669280" cy="347472"/>
          </a:xfrm>
          <a:prstGeom prst="rect">
            <a:avLst/>
          </a:prstGeom>
          <a:solidFill>
            <a:srgbClr val="2B4B8C"/>
          </a:solidFill>
          <a:ln w="12700">
            <a:solidFill>
              <a:srgbClr val="2B4B8C"/>
            </a:solidFill>
            <a:prstDash val="solid"/>
          </a:ln>
        </p:spPr>
      </p:sp>
      <p:sp>
        <p:nvSpPr>
          <p:cNvPr id="42" name="Text 40"/>
          <p:cNvSpPr/>
          <p:nvPr/>
        </p:nvSpPr>
        <p:spPr>
          <a:xfrm>
            <a:off x="411480" y="5349240"/>
            <a:ext cx="411480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Drainage Density</a:t>
            </a:r>
            <a:endParaRPr lang="en-US" sz="1200" dirty="0"/>
          </a:p>
        </p:txBody>
      </p:sp>
      <p:sp>
        <p:nvSpPr>
          <p:cNvPr id="43" name="Shape 41"/>
          <p:cNvSpPr/>
          <p:nvPr/>
        </p:nvSpPr>
        <p:spPr>
          <a:xfrm>
            <a:off x="4526280" y="5349240"/>
            <a:ext cx="1371600" cy="256032"/>
          </a:xfrm>
          <a:prstGeom prst="rect">
            <a:avLst/>
          </a:prstGeom>
          <a:solidFill>
            <a:srgbClr val="32E0C4">
              <a:alpha val="80000"/>
            </a:srgbClr>
          </a:solidFill>
          <a:ln w="12700">
            <a:solidFill>
              <a:srgbClr val="32E0C4"/>
            </a:solidFill>
            <a:prstDash val="solid"/>
          </a:ln>
        </p:spPr>
      </p:sp>
      <p:sp>
        <p:nvSpPr>
          <p:cNvPr id="44" name="Text 42"/>
          <p:cNvSpPr/>
          <p:nvPr/>
        </p:nvSpPr>
        <p:spPr>
          <a:xfrm>
            <a:off x="4526280" y="5358384"/>
            <a:ext cx="1371600" cy="237744"/>
          </a:xfrm>
          <a:prstGeom prst="rect">
            <a:avLst/>
          </a:prstGeom>
          <a:noFill/>
          <a:ln/>
        </p:spPr>
        <p:txBody>
          <a:bodyPr wrap="square" rtlCol="0" anchor="ctr"/>
          <a:lstStyle/>
          <a:p>
            <a:pPr marL="0" indent="0" algn="ctr">
              <a:buNone/>
            </a:pPr>
            <a:r>
              <a:rPr lang="en-US" sz="900" b="1" dirty="0">
                <a:solidFill>
                  <a:srgbClr val="0B1F3A"/>
                </a:solidFill>
                <a:latin typeface="Calibri" pitchFamily="34" charset="0"/>
                <a:ea typeface="Calibri" pitchFamily="34" charset="-122"/>
                <a:cs typeface="Calibri" pitchFamily="34" charset="-120"/>
              </a:rPr>
              <a:t>Morphometric</a:t>
            </a:r>
            <a:endParaRPr lang="en-US" sz="900" dirty="0"/>
          </a:p>
        </p:txBody>
      </p:sp>
      <p:sp>
        <p:nvSpPr>
          <p:cNvPr id="45" name="Text 43"/>
          <p:cNvSpPr/>
          <p:nvPr/>
        </p:nvSpPr>
        <p:spPr>
          <a:xfrm>
            <a:off x="411480" y="5724144"/>
            <a:ext cx="5394960" cy="713232"/>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Stream length per unit area. Positive correlation with flood risk; cropland areas have the highest values.</a:t>
            </a:r>
            <a:endParaRPr lang="en-US" sz="1100" dirty="0"/>
          </a:p>
        </p:txBody>
      </p:sp>
      <p:sp>
        <p:nvSpPr>
          <p:cNvPr id="46" name="Shape 44"/>
          <p:cNvSpPr/>
          <p:nvPr/>
        </p:nvSpPr>
        <p:spPr>
          <a:xfrm>
            <a:off x="6263640" y="5312664"/>
            <a:ext cx="566928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47" name="Shape 45"/>
          <p:cNvSpPr/>
          <p:nvPr/>
        </p:nvSpPr>
        <p:spPr>
          <a:xfrm>
            <a:off x="6263640" y="5312664"/>
            <a:ext cx="5669280" cy="347472"/>
          </a:xfrm>
          <a:prstGeom prst="rect">
            <a:avLst/>
          </a:prstGeom>
          <a:solidFill>
            <a:srgbClr val="2B4B8C"/>
          </a:solidFill>
          <a:ln w="12700">
            <a:solidFill>
              <a:srgbClr val="2B4B8C"/>
            </a:solidFill>
            <a:prstDash val="solid"/>
          </a:ln>
        </p:spPr>
      </p:sp>
      <p:sp>
        <p:nvSpPr>
          <p:cNvPr id="48" name="Text 46"/>
          <p:cNvSpPr/>
          <p:nvPr/>
        </p:nvSpPr>
        <p:spPr>
          <a:xfrm>
            <a:off x="6355080" y="5349240"/>
            <a:ext cx="411480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Terrain Type</a:t>
            </a:r>
            <a:endParaRPr lang="en-US" sz="1200" dirty="0"/>
          </a:p>
        </p:txBody>
      </p:sp>
      <p:sp>
        <p:nvSpPr>
          <p:cNvPr id="49" name="Shape 47"/>
          <p:cNvSpPr/>
          <p:nvPr/>
        </p:nvSpPr>
        <p:spPr>
          <a:xfrm>
            <a:off x="10469880" y="5349240"/>
            <a:ext cx="1371600" cy="256032"/>
          </a:xfrm>
          <a:prstGeom prst="rect">
            <a:avLst/>
          </a:prstGeom>
          <a:solidFill>
            <a:srgbClr val="32E0C4">
              <a:alpha val="80000"/>
            </a:srgbClr>
          </a:solidFill>
          <a:ln w="12700">
            <a:solidFill>
              <a:srgbClr val="32E0C4"/>
            </a:solidFill>
            <a:prstDash val="solid"/>
          </a:ln>
        </p:spPr>
      </p:sp>
      <p:sp>
        <p:nvSpPr>
          <p:cNvPr id="50" name="Text 48"/>
          <p:cNvSpPr/>
          <p:nvPr/>
        </p:nvSpPr>
        <p:spPr>
          <a:xfrm>
            <a:off x="10469880" y="5358384"/>
            <a:ext cx="1371600" cy="237744"/>
          </a:xfrm>
          <a:prstGeom prst="rect">
            <a:avLst/>
          </a:prstGeom>
          <a:noFill/>
          <a:ln/>
        </p:spPr>
        <p:txBody>
          <a:bodyPr wrap="square" rtlCol="0" anchor="ctr"/>
          <a:lstStyle/>
          <a:p>
            <a:pPr marL="0" indent="0" algn="ctr">
              <a:buNone/>
            </a:pPr>
            <a:r>
              <a:rPr lang="en-US" sz="900" b="1" dirty="0">
                <a:solidFill>
                  <a:srgbClr val="0B1F3A"/>
                </a:solidFill>
                <a:latin typeface="Calibri" pitchFamily="34" charset="0"/>
                <a:ea typeface="Calibri" pitchFamily="34" charset="-122"/>
                <a:cs typeface="Calibri" pitchFamily="34" charset="-120"/>
              </a:rPr>
              <a:t>Topography</a:t>
            </a:r>
            <a:endParaRPr lang="en-US" sz="900" dirty="0"/>
          </a:p>
        </p:txBody>
      </p:sp>
      <p:sp>
        <p:nvSpPr>
          <p:cNvPr id="51" name="Text 49"/>
          <p:cNvSpPr/>
          <p:nvPr/>
        </p:nvSpPr>
        <p:spPr>
          <a:xfrm>
            <a:off x="6355080" y="5724144"/>
            <a:ext cx="5394960" cy="713232"/>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Flat (most), Moderate, or Steep. Flat terrain tends to experience slower drainage but larger inundation areas.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Data Cleaning — Why It Was Required</a:t>
            </a:r>
            <a:endParaRPr lang="en-US" sz="3000" dirty="0"/>
          </a:p>
        </p:txBody>
      </p:sp>
      <p:sp>
        <p:nvSpPr>
          <p:cNvPr id="4" name="Text 2"/>
          <p:cNvSpPr/>
          <p:nvPr/>
        </p:nvSpPr>
        <p:spPr>
          <a:xfrm>
            <a:off x="365760" y="1097280"/>
            <a:ext cx="11430000" cy="457200"/>
          </a:xfrm>
          <a:prstGeom prst="rect">
            <a:avLst/>
          </a:prstGeom>
          <a:noFill/>
          <a:ln/>
        </p:spPr>
        <p:txBody>
          <a:bodyPr wrap="square" rtlCol="0" anchor="ctr"/>
          <a:lstStyle/>
          <a:p>
            <a:pPr marL="0" indent="0">
              <a:buNone/>
            </a:pPr>
            <a:r>
              <a:rPr lang="en-US" sz="1300" i="1" dirty="0">
                <a:solidFill>
                  <a:srgbClr val="0B1F3A"/>
                </a:solidFill>
                <a:latin typeface="Calibri" pitchFamily="34" charset="0"/>
                <a:ea typeface="Calibri" pitchFamily="34" charset="-122"/>
                <a:cs typeface="Calibri" pitchFamily="34" charset="-120"/>
              </a:rPr>
              <a:t>Quality data is the foundation of reliable analysis. The raw INDOFLOODS dataset required cleaning before meaningful insights could be extracted.</a:t>
            </a:r>
            <a:endParaRPr lang="en-US" sz="1300" dirty="0"/>
          </a:p>
        </p:txBody>
      </p:sp>
      <p:sp>
        <p:nvSpPr>
          <p:cNvPr id="5" name="Shape 3"/>
          <p:cNvSpPr/>
          <p:nvPr/>
        </p:nvSpPr>
        <p:spPr>
          <a:xfrm>
            <a:off x="320040" y="1691640"/>
            <a:ext cx="11521440" cy="109728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6" name="Shape 4"/>
          <p:cNvSpPr/>
          <p:nvPr/>
        </p:nvSpPr>
        <p:spPr>
          <a:xfrm>
            <a:off x="320040" y="1691640"/>
            <a:ext cx="1371600" cy="1097280"/>
          </a:xfrm>
          <a:prstGeom prst="rect">
            <a:avLst/>
          </a:prstGeom>
          <a:solidFill>
            <a:srgbClr val="E63946"/>
          </a:solidFill>
          <a:ln w="12700">
            <a:solidFill>
              <a:srgbClr val="E63946"/>
            </a:solidFill>
            <a:prstDash val="solid"/>
          </a:ln>
        </p:spPr>
      </p:sp>
      <p:sp>
        <p:nvSpPr>
          <p:cNvPr id="7" name="Text 5"/>
          <p:cNvSpPr/>
          <p:nvPr/>
        </p:nvSpPr>
        <p:spPr>
          <a:xfrm>
            <a:off x="347472" y="1737360"/>
            <a:ext cx="128016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HIGH</a:t>
            </a:r>
            <a:endParaRPr lang="en-US" sz="1400" dirty="0"/>
          </a:p>
        </p:txBody>
      </p:sp>
      <p:sp>
        <p:nvSpPr>
          <p:cNvPr id="8" name="Text 6"/>
          <p:cNvSpPr/>
          <p:nvPr/>
        </p:nvSpPr>
        <p:spPr>
          <a:xfrm>
            <a:off x="347472" y="2240280"/>
            <a:ext cx="1280160" cy="3657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IMPACT</a:t>
            </a:r>
            <a:endParaRPr lang="en-US" sz="1000" dirty="0"/>
          </a:p>
        </p:txBody>
      </p:sp>
      <p:sp>
        <p:nvSpPr>
          <p:cNvPr id="9" name="Text 7"/>
          <p:cNvSpPr/>
          <p:nvPr/>
        </p:nvSpPr>
        <p:spPr>
          <a:xfrm>
            <a:off x="1828800" y="1764792"/>
            <a:ext cx="457200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Missing Values (NaN)</a:t>
            </a:r>
            <a:endParaRPr lang="en-US" sz="1300" dirty="0"/>
          </a:p>
        </p:txBody>
      </p:sp>
      <p:sp>
        <p:nvSpPr>
          <p:cNvPr id="10" name="Text 8"/>
          <p:cNvSpPr/>
          <p:nvPr/>
        </p:nvSpPr>
        <p:spPr>
          <a:xfrm>
            <a:off x="1828800" y="2103120"/>
            <a:ext cx="9784080" cy="59436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Stream length ratios and bifurcation ratios for higher-order streams were missing for smaller basins — expected due to stream network limitations, but must be handled in aggregations.</a:t>
            </a:r>
            <a:endParaRPr lang="en-US" sz="1100" dirty="0"/>
          </a:p>
        </p:txBody>
      </p:sp>
      <p:sp>
        <p:nvSpPr>
          <p:cNvPr id="11" name="Shape 9"/>
          <p:cNvSpPr/>
          <p:nvPr/>
        </p:nvSpPr>
        <p:spPr>
          <a:xfrm>
            <a:off x="320040" y="2926080"/>
            <a:ext cx="11521440" cy="109728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2" name="Shape 10"/>
          <p:cNvSpPr/>
          <p:nvPr/>
        </p:nvSpPr>
        <p:spPr>
          <a:xfrm>
            <a:off x="320040" y="2926080"/>
            <a:ext cx="1371600" cy="1097280"/>
          </a:xfrm>
          <a:prstGeom prst="rect">
            <a:avLst/>
          </a:prstGeom>
          <a:solidFill>
            <a:srgbClr val="F4A261"/>
          </a:solidFill>
          <a:ln w="12700">
            <a:solidFill>
              <a:srgbClr val="F4A261"/>
            </a:solidFill>
            <a:prstDash val="solid"/>
          </a:ln>
        </p:spPr>
      </p:sp>
      <p:sp>
        <p:nvSpPr>
          <p:cNvPr id="13" name="Text 11"/>
          <p:cNvSpPr/>
          <p:nvPr/>
        </p:nvSpPr>
        <p:spPr>
          <a:xfrm>
            <a:off x="347472" y="2971800"/>
            <a:ext cx="128016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MEDIUM</a:t>
            </a:r>
            <a:endParaRPr lang="en-US" sz="1400" dirty="0"/>
          </a:p>
        </p:txBody>
      </p:sp>
      <p:sp>
        <p:nvSpPr>
          <p:cNvPr id="14" name="Text 12"/>
          <p:cNvSpPr/>
          <p:nvPr/>
        </p:nvSpPr>
        <p:spPr>
          <a:xfrm>
            <a:off x="347472" y="3474720"/>
            <a:ext cx="1280160" cy="3657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IMPACT</a:t>
            </a:r>
            <a:endParaRPr lang="en-US" sz="1000" dirty="0"/>
          </a:p>
        </p:txBody>
      </p:sp>
      <p:sp>
        <p:nvSpPr>
          <p:cNvPr id="15" name="Text 13"/>
          <p:cNvSpPr/>
          <p:nvPr/>
        </p:nvSpPr>
        <p:spPr>
          <a:xfrm>
            <a:off x="1828800" y="2999232"/>
            <a:ext cx="457200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Outliers in Population</a:t>
            </a:r>
            <a:endParaRPr lang="en-US" sz="1300" dirty="0"/>
          </a:p>
        </p:txBody>
      </p:sp>
      <p:sp>
        <p:nvSpPr>
          <p:cNvPr id="16" name="Text 14"/>
          <p:cNvSpPr/>
          <p:nvPr/>
        </p:nvSpPr>
        <p:spPr>
          <a:xfrm>
            <a:off x="1828800" y="3337560"/>
            <a:ext cx="9784080" cy="59436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Some catchments cover major metro areas with population counts exceeding 60M, which skews averages. Logarithmic transformation or segmentation is needed for analysis.</a:t>
            </a:r>
            <a:endParaRPr lang="en-US" sz="1100" dirty="0"/>
          </a:p>
        </p:txBody>
      </p:sp>
      <p:sp>
        <p:nvSpPr>
          <p:cNvPr id="17" name="Shape 15"/>
          <p:cNvSpPr/>
          <p:nvPr/>
        </p:nvSpPr>
        <p:spPr>
          <a:xfrm>
            <a:off x="320040" y="4160520"/>
            <a:ext cx="11521440" cy="109728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8" name="Shape 16"/>
          <p:cNvSpPr/>
          <p:nvPr/>
        </p:nvSpPr>
        <p:spPr>
          <a:xfrm>
            <a:off x="320040" y="4160520"/>
            <a:ext cx="1371600" cy="1097280"/>
          </a:xfrm>
          <a:prstGeom prst="rect">
            <a:avLst/>
          </a:prstGeom>
          <a:solidFill>
            <a:srgbClr val="2DC653"/>
          </a:solidFill>
          <a:ln w="12700">
            <a:solidFill>
              <a:srgbClr val="2DC653"/>
            </a:solidFill>
            <a:prstDash val="solid"/>
          </a:ln>
        </p:spPr>
      </p:sp>
      <p:sp>
        <p:nvSpPr>
          <p:cNvPr id="19" name="Text 17"/>
          <p:cNvSpPr/>
          <p:nvPr/>
        </p:nvSpPr>
        <p:spPr>
          <a:xfrm>
            <a:off x="347472" y="4206240"/>
            <a:ext cx="128016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LOW</a:t>
            </a:r>
            <a:endParaRPr lang="en-US" sz="1400" dirty="0"/>
          </a:p>
        </p:txBody>
      </p:sp>
      <p:sp>
        <p:nvSpPr>
          <p:cNvPr id="20" name="Text 18"/>
          <p:cNvSpPr/>
          <p:nvPr/>
        </p:nvSpPr>
        <p:spPr>
          <a:xfrm>
            <a:off x="347472" y="4709160"/>
            <a:ext cx="1280160" cy="3657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IMPACT</a:t>
            </a:r>
            <a:endParaRPr lang="en-US" sz="1000" dirty="0"/>
          </a:p>
        </p:txBody>
      </p:sp>
      <p:sp>
        <p:nvSpPr>
          <p:cNvPr id="21" name="Text 19"/>
          <p:cNvSpPr/>
          <p:nvPr/>
        </p:nvSpPr>
        <p:spPr>
          <a:xfrm>
            <a:off x="1828800" y="4233672"/>
            <a:ext cx="457200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Mixed Data Types</a:t>
            </a:r>
            <a:endParaRPr lang="en-US" sz="1300" dirty="0"/>
          </a:p>
        </p:txBody>
      </p:sp>
      <p:sp>
        <p:nvSpPr>
          <p:cNvPr id="22" name="Text 20"/>
          <p:cNvSpPr/>
          <p:nvPr/>
        </p:nvSpPr>
        <p:spPr>
          <a:xfrm>
            <a:off x="1828800" y="4572000"/>
            <a:ext cx="9784080" cy="59436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Categorical fields (Soil Type, Land Cover, Basin Size, Climate Type) were stored as strings, requiring encoding for any numeric modelling.</a:t>
            </a:r>
            <a:endParaRPr lang="en-US" sz="1100" dirty="0"/>
          </a:p>
        </p:txBody>
      </p:sp>
      <p:sp>
        <p:nvSpPr>
          <p:cNvPr id="23" name="Shape 21"/>
          <p:cNvSpPr/>
          <p:nvPr/>
        </p:nvSpPr>
        <p:spPr>
          <a:xfrm>
            <a:off x="320040" y="5394960"/>
            <a:ext cx="11521440" cy="109728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4" name="Shape 22"/>
          <p:cNvSpPr/>
          <p:nvPr/>
        </p:nvSpPr>
        <p:spPr>
          <a:xfrm>
            <a:off x="320040" y="5394960"/>
            <a:ext cx="1371600" cy="1097280"/>
          </a:xfrm>
          <a:prstGeom prst="rect">
            <a:avLst/>
          </a:prstGeom>
          <a:solidFill>
            <a:srgbClr val="F4A261"/>
          </a:solidFill>
          <a:ln w="12700">
            <a:solidFill>
              <a:srgbClr val="F4A261"/>
            </a:solidFill>
            <a:prstDash val="solid"/>
          </a:ln>
        </p:spPr>
      </p:sp>
      <p:sp>
        <p:nvSpPr>
          <p:cNvPr id="25" name="Text 23"/>
          <p:cNvSpPr/>
          <p:nvPr/>
        </p:nvSpPr>
        <p:spPr>
          <a:xfrm>
            <a:off x="347472" y="5440680"/>
            <a:ext cx="128016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MEDIUM</a:t>
            </a:r>
            <a:endParaRPr lang="en-US" sz="1400" dirty="0"/>
          </a:p>
        </p:txBody>
      </p:sp>
      <p:sp>
        <p:nvSpPr>
          <p:cNvPr id="26" name="Text 24"/>
          <p:cNvSpPr/>
          <p:nvPr/>
        </p:nvSpPr>
        <p:spPr>
          <a:xfrm>
            <a:off x="347472" y="5943600"/>
            <a:ext cx="1280160" cy="3657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IMPACT</a:t>
            </a:r>
            <a:endParaRPr lang="en-US" sz="1000" dirty="0"/>
          </a:p>
        </p:txBody>
      </p:sp>
      <p:sp>
        <p:nvSpPr>
          <p:cNvPr id="27" name="Text 25"/>
          <p:cNvSpPr/>
          <p:nvPr/>
        </p:nvSpPr>
        <p:spPr>
          <a:xfrm>
            <a:off x="1828800" y="5468112"/>
            <a:ext cx="4572000" cy="320040"/>
          </a:xfrm>
          <a:prstGeom prst="rect">
            <a:avLst/>
          </a:prstGeom>
          <a:noFill/>
          <a:ln/>
        </p:spPr>
        <p:txBody>
          <a:bodyPr wrap="square"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Inconsistent Units</a:t>
            </a:r>
            <a:endParaRPr lang="en-US" sz="1300" dirty="0"/>
          </a:p>
        </p:txBody>
      </p:sp>
      <p:sp>
        <p:nvSpPr>
          <p:cNvPr id="28" name="Text 26"/>
          <p:cNvSpPr/>
          <p:nvPr/>
        </p:nvSpPr>
        <p:spPr>
          <a:xfrm>
            <a:off x="1828800" y="5806440"/>
            <a:ext cx="9784080" cy="59436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Spatial dimensions (stream lengths) are in meters while drainage area is in km²; flood risk index uses a unitless composite scale. Normalization is required for comparative analysis.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Data Cleaning — Steps Performed</a:t>
            </a:r>
            <a:endParaRPr lang="en-US" sz="3000" dirty="0"/>
          </a:p>
        </p:txBody>
      </p:sp>
      <p:sp>
        <p:nvSpPr>
          <p:cNvPr id="4" name="Shape 2"/>
          <p:cNvSpPr/>
          <p:nvPr/>
        </p:nvSpPr>
        <p:spPr>
          <a:xfrm>
            <a:off x="320040" y="1143000"/>
            <a:ext cx="1152144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65760" y="1325880"/>
            <a:ext cx="822960" cy="822960"/>
          </a:xfrm>
          <a:prstGeom prst="ellipse">
            <a:avLst/>
          </a:prstGeom>
          <a:solidFill>
            <a:srgbClr val="1363DF"/>
          </a:solidFill>
          <a:ln w="12700">
            <a:solidFill>
              <a:srgbClr val="1363DF"/>
            </a:solidFill>
            <a:prstDash val="solid"/>
          </a:ln>
        </p:spPr>
      </p:sp>
      <p:sp>
        <p:nvSpPr>
          <p:cNvPr id="6" name="Text 4"/>
          <p:cNvSpPr/>
          <p:nvPr/>
        </p:nvSpPr>
        <p:spPr>
          <a:xfrm>
            <a:off x="365760" y="1325880"/>
            <a:ext cx="822960" cy="8229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325880" y="1234440"/>
            <a:ext cx="10058400" cy="347472"/>
          </a:xfrm>
          <a:prstGeom prst="rect">
            <a:avLst/>
          </a:prstGeom>
          <a:noFill/>
          <a:ln/>
        </p:spPr>
        <p:txBody>
          <a:bodyPr wrap="square" rtlCol="0" anchor="ctr"/>
          <a:lstStyle/>
          <a:p>
            <a:pPr marL="0" indent="0">
              <a:buNone/>
            </a:pPr>
            <a:r>
              <a:rPr lang="en-US" sz="1300" b="1" dirty="0">
                <a:solidFill>
                  <a:srgbClr val="1363DF"/>
                </a:solidFill>
                <a:latin typeface="Calibri" pitchFamily="34" charset="0"/>
                <a:ea typeface="Calibri" pitchFamily="34" charset="-122"/>
                <a:cs typeface="Calibri" pitchFamily="34" charset="-120"/>
              </a:rPr>
              <a:t>Handling Missing Values</a:t>
            </a:r>
            <a:endParaRPr lang="en-US" sz="1300" dirty="0"/>
          </a:p>
        </p:txBody>
      </p:sp>
      <p:sp>
        <p:nvSpPr>
          <p:cNvPr id="8" name="Text 6"/>
          <p:cNvSpPr/>
          <p:nvPr/>
        </p:nvSpPr>
        <p:spPr>
          <a:xfrm>
            <a:off x="1325880" y="1600200"/>
            <a:ext cx="10058400" cy="68580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Stream length and bifurcation ratio columns (orders 5-8) contain NaN values for lower-order streams. These were treated as structurally missing and excluded from stream-order aggregations. Population-related nulls were imputed with basin-area-weighted regional means.</a:t>
            </a:r>
            <a:endParaRPr lang="en-US" sz="1100" dirty="0"/>
          </a:p>
        </p:txBody>
      </p:sp>
      <p:sp>
        <p:nvSpPr>
          <p:cNvPr id="9" name="Shape 7"/>
          <p:cNvSpPr/>
          <p:nvPr/>
        </p:nvSpPr>
        <p:spPr>
          <a:xfrm>
            <a:off x="320040" y="2532888"/>
            <a:ext cx="1152144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0" name="Shape 8"/>
          <p:cNvSpPr/>
          <p:nvPr/>
        </p:nvSpPr>
        <p:spPr>
          <a:xfrm>
            <a:off x="365760" y="2715768"/>
            <a:ext cx="822960" cy="822960"/>
          </a:xfrm>
          <a:prstGeom prst="ellipse">
            <a:avLst/>
          </a:prstGeom>
          <a:solidFill>
            <a:srgbClr val="0D7377"/>
          </a:solidFill>
          <a:ln w="12700">
            <a:solidFill>
              <a:srgbClr val="0D7377"/>
            </a:solidFill>
            <a:prstDash val="solid"/>
          </a:ln>
        </p:spPr>
      </p:sp>
      <p:sp>
        <p:nvSpPr>
          <p:cNvPr id="11" name="Text 9"/>
          <p:cNvSpPr/>
          <p:nvPr/>
        </p:nvSpPr>
        <p:spPr>
          <a:xfrm>
            <a:off x="365760" y="2715768"/>
            <a:ext cx="822960" cy="8229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1325880" y="2624328"/>
            <a:ext cx="10058400" cy="347472"/>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Removing Duplicates</a:t>
            </a:r>
            <a:endParaRPr lang="en-US" sz="1300" dirty="0"/>
          </a:p>
        </p:txBody>
      </p:sp>
      <p:sp>
        <p:nvSpPr>
          <p:cNvPr id="13" name="Text 11"/>
          <p:cNvSpPr/>
          <p:nvPr/>
        </p:nvSpPr>
        <p:spPr>
          <a:xfrm>
            <a:off x="1325880" y="2990088"/>
            <a:ext cx="10058400" cy="68580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Upon inspection, 2 duplicate gauge IDs were identified (gauges 1013 &amp; 1042 shared identical records). One duplicate was flagged and removed to ensure each catchment contributed uniquely to aggregate statistics.</a:t>
            </a:r>
            <a:endParaRPr lang="en-US" sz="1100" dirty="0"/>
          </a:p>
        </p:txBody>
      </p:sp>
      <p:sp>
        <p:nvSpPr>
          <p:cNvPr id="14" name="Shape 12"/>
          <p:cNvSpPr/>
          <p:nvPr/>
        </p:nvSpPr>
        <p:spPr>
          <a:xfrm>
            <a:off x="320040" y="3922776"/>
            <a:ext cx="11521440" cy="12344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5" name="Shape 13"/>
          <p:cNvSpPr/>
          <p:nvPr/>
        </p:nvSpPr>
        <p:spPr>
          <a:xfrm>
            <a:off x="365760" y="4105656"/>
            <a:ext cx="822960" cy="822960"/>
          </a:xfrm>
          <a:prstGeom prst="ellipse">
            <a:avLst/>
          </a:prstGeom>
          <a:solidFill>
            <a:srgbClr val="2B4B8C"/>
          </a:solidFill>
          <a:ln w="12700">
            <a:solidFill>
              <a:srgbClr val="2B4B8C"/>
            </a:solidFill>
            <a:prstDash val="solid"/>
          </a:ln>
        </p:spPr>
      </p:sp>
      <p:sp>
        <p:nvSpPr>
          <p:cNvPr id="16" name="Text 14"/>
          <p:cNvSpPr/>
          <p:nvPr/>
        </p:nvSpPr>
        <p:spPr>
          <a:xfrm>
            <a:off x="365760" y="4105656"/>
            <a:ext cx="822960" cy="8229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1325880" y="4014216"/>
            <a:ext cx="10058400" cy="347472"/>
          </a:xfrm>
          <a:prstGeom prst="rect">
            <a:avLst/>
          </a:prstGeom>
          <a:noFill/>
          <a:ln/>
        </p:spPr>
        <p:txBody>
          <a:bodyPr wrap="square" rtlCol="0" anchor="ctr"/>
          <a:lstStyle/>
          <a:p>
            <a:pPr marL="0" indent="0">
              <a:buNone/>
            </a:pPr>
            <a:r>
              <a:rPr lang="en-US" sz="1300" b="1" dirty="0">
                <a:solidFill>
                  <a:srgbClr val="2B4B8C"/>
                </a:solidFill>
                <a:latin typeface="Calibri" pitchFamily="34" charset="0"/>
                <a:ea typeface="Calibri" pitchFamily="34" charset="-122"/>
                <a:cs typeface="Calibri" pitchFamily="34" charset="-120"/>
              </a:rPr>
              <a:t>Data Type Corrections</a:t>
            </a:r>
            <a:endParaRPr lang="en-US" sz="1300" dirty="0"/>
          </a:p>
        </p:txBody>
      </p:sp>
      <p:sp>
        <p:nvSpPr>
          <p:cNvPr id="18" name="Text 16"/>
          <p:cNvSpPr/>
          <p:nvPr/>
        </p:nvSpPr>
        <p:spPr>
          <a:xfrm>
            <a:off x="1325880" y="4379976"/>
            <a:ext cx="10058400" cy="68580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Categorical columns (Land cover, Soil type, Basin Size, Climate Type, Terrain Type, Flood Risk Level) were standardized as categorical types. Numeric columns with object type were cast to float64. Aggregate row at the bottom of Table1 was removed from analysis.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Data Transformation &amp; Feature Engineering</a:t>
            </a:r>
            <a:endParaRPr lang="en-US" sz="3000" dirty="0"/>
          </a:p>
        </p:txBody>
      </p:sp>
      <p:sp>
        <p:nvSpPr>
          <p:cNvPr id="4" name="Text 2"/>
          <p:cNvSpPr/>
          <p:nvPr/>
        </p:nvSpPr>
        <p:spPr>
          <a:xfrm>
            <a:off x="365760" y="1097280"/>
            <a:ext cx="11430000" cy="411480"/>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Transformations convert raw measurements into analysis-ready features that directly answer business questions.</a:t>
            </a:r>
            <a:endParaRPr lang="en-US" sz="1300" dirty="0"/>
          </a:p>
        </p:txBody>
      </p:sp>
      <p:sp>
        <p:nvSpPr>
          <p:cNvPr id="5" name="Shape 3"/>
          <p:cNvSpPr/>
          <p:nvPr/>
        </p:nvSpPr>
        <p:spPr>
          <a:xfrm>
            <a:off x="320040" y="1600200"/>
            <a:ext cx="5669280" cy="23317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6" name="Shape 4"/>
          <p:cNvSpPr/>
          <p:nvPr/>
        </p:nvSpPr>
        <p:spPr>
          <a:xfrm>
            <a:off x="320040" y="1600200"/>
            <a:ext cx="5669280" cy="457200"/>
          </a:xfrm>
          <a:prstGeom prst="rect">
            <a:avLst/>
          </a:prstGeom>
          <a:solidFill>
            <a:srgbClr val="0B2545"/>
          </a:solidFill>
          <a:ln w="12700">
            <a:solidFill>
              <a:srgbClr val="0B2545"/>
            </a:solidFill>
            <a:prstDash val="solid"/>
          </a:ln>
        </p:spPr>
      </p:sp>
      <p:sp>
        <p:nvSpPr>
          <p:cNvPr id="7" name="Text 5"/>
          <p:cNvSpPr/>
          <p:nvPr/>
        </p:nvSpPr>
        <p:spPr>
          <a:xfrm>
            <a:off x="411480" y="1645920"/>
            <a:ext cx="5394960" cy="365760"/>
          </a:xfrm>
          <a:prstGeom prst="rect">
            <a:avLst/>
          </a:prstGeom>
          <a:noFill/>
          <a:ln/>
        </p:spPr>
        <p:txBody>
          <a:bodyPr wrap="square" rtlCol="0" anchor="ctr"/>
          <a:lstStyle/>
          <a:p>
            <a:pPr marL="0" indent="0">
              <a:buNone/>
            </a:pPr>
            <a:r>
              <a:rPr lang="en-US" sz="1300" b="1" dirty="0">
                <a:solidFill>
                  <a:srgbClr val="32E0C4"/>
                </a:solidFill>
                <a:latin typeface="Calibri" pitchFamily="34" charset="0"/>
                <a:ea typeface="Calibri" pitchFamily="34" charset="-122"/>
                <a:cs typeface="Calibri" pitchFamily="34" charset="-120"/>
              </a:rPr>
              <a:t>⚙️  Calculated Fields</a:t>
            </a:r>
            <a:endParaRPr lang="en-US" sz="1300" dirty="0"/>
          </a:p>
        </p:txBody>
      </p:sp>
      <p:sp>
        <p:nvSpPr>
          <p:cNvPr id="8" name="Text 6"/>
          <p:cNvSpPr/>
          <p:nvPr/>
        </p:nvSpPr>
        <p:spPr>
          <a:xfrm>
            <a:off x="411480" y="2194560"/>
            <a:ext cx="5394960" cy="502920"/>
          </a:xfrm>
          <a:prstGeom prst="rect">
            <a:avLst/>
          </a:prstGeom>
          <a:noFill/>
          <a:ln/>
        </p:spPr>
        <p:txBody>
          <a:bodyPr wrap="square" rtlCol="0" anchor="ctr"/>
          <a:lstStyle/>
          <a:p>
            <a:pPr marL="342900" indent="-342900">
              <a:buSzPct val="100000"/>
              <a:buChar char="•"/>
            </a:pPr>
            <a:r>
              <a:rPr lang="en-US" sz="1100" dirty="0">
                <a:solidFill>
                  <a:srgbClr val="0B1F3A"/>
                </a:solidFill>
                <a:latin typeface="Calibri" pitchFamily="34" charset="0"/>
                <a:ea typeface="Calibri" pitchFamily="34" charset="-122"/>
                <a:cs typeface="Calibri" pitchFamily="34" charset="-120"/>
              </a:rPr>
              <a:t>Average Flood Risk Index per soil type, land cover, basin size</a:t>
            </a:r>
            <a:endParaRPr lang="en-US" sz="1100" dirty="0"/>
          </a:p>
        </p:txBody>
      </p:sp>
      <p:sp>
        <p:nvSpPr>
          <p:cNvPr id="9" name="Text 7"/>
          <p:cNvSpPr/>
          <p:nvPr/>
        </p:nvSpPr>
        <p:spPr>
          <a:xfrm>
            <a:off x="411480" y="2743200"/>
            <a:ext cx="5394960" cy="502920"/>
          </a:xfrm>
          <a:prstGeom prst="rect">
            <a:avLst/>
          </a:prstGeom>
          <a:noFill/>
          <a:ln/>
        </p:spPr>
        <p:txBody>
          <a:bodyPr wrap="square" rtlCol="0" anchor="ctr"/>
          <a:lstStyle/>
          <a:p>
            <a:pPr marL="342900" indent="-342900">
              <a:buSzPct val="100000"/>
              <a:buChar char="•"/>
            </a:pPr>
            <a:r>
              <a:rPr lang="en-US" sz="1100" dirty="0">
                <a:solidFill>
                  <a:srgbClr val="0B1F3A"/>
                </a:solidFill>
                <a:latin typeface="Calibri" pitchFamily="34" charset="0"/>
                <a:ea typeface="Calibri" pitchFamily="34" charset="-122"/>
                <a:cs typeface="Calibri" pitchFamily="34" charset="-120"/>
              </a:rPr>
              <a:t>Average Drainage Density per land cover category</a:t>
            </a:r>
            <a:endParaRPr lang="en-US" sz="1100" dirty="0"/>
          </a:p>
        </p:txBody>
      </p:sp>
      <p:sp>
        <p:nvSpPr>
          <p:cNvPr id="10" name="Text 8"/>
          <p:cNvSpPr/>
          <p:nvPr/>
        </p:nvSpPr>
        <p:spPr>
          <a:xfrm>
            <a:off x="411480" y="3291840"/>
            <a:ext cx="5394960" cy="502920"/>
          </a:xfrm>
          <a:prstGeom prst="rect">
            <a:avLst/>
          </a:prstGeom>
          <a:noFill/>
          <a:ln/>
        </p:spPr>
        <p:txBody>
          <a:bodyPr wrap="square" rtlCol="0" anchor="ctr"/>
          <a:lstStyle/>
          <a:p>
            <a:pPr marL="342900" indent="-342900">
              <a:buSzPct val="100000"/>
              <a:buChar char="•"/>
            </a:pPr>
            <a:r>
              <a:rPr lang="en-US" sz="1100" dirty="0">
                <a:solidFill>
                  <a:srgbClr val="0B1F3A"/>
                </a:solidFill>
                <a:latin typeface="Calibri" pitchFamily="34" charset="0"/>
                <a:ea typeface="Calibri" pitchFamily="34" charset="-122"/>
                <a:cs typeface="Calibri" pitchFamily="34" charset="-120"/>
              </a:rPr>
              <a:t>Count of GaugeID by Population Risk Level (Low/Medium/High)</a:t>
            </a:r>
            <a:endParaRPr lang="en-US" sz="1100" dirty="0"/>
          </a:p>
        </p:txBody>
      </p:sp>
      <p:sp>
        <p:nvSpPr>
          <p:cNvPr id="11" name="Shape 9"/>
          <p:cNvSpPr/>
          <p:nvPr/>
        </p:nvSpPr>
        <p:spPr>
          <a:xfrm>
            <a:off x="6263640" y="1600200"/>
            <a:ext cx="5669280" cy="23317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2" name="Shape 10"/>
          <p:cNvSpPr/>
          <p:nvPr/>
        </p:nvSpPr>
        <p:spPr>
          <a:xfrm>
            <a:off x="6263640" y="1600200"/>
            <a:ext cx="5669280" cy="457200"/>
          </a:xfrm>
          <a:prstGeom prst="rect">
            <a:avLst/>
          </a:prstGeom>
          <a:solidFill>
            <a:srgbClr val="0B2545"/>
          </a:solidFill>
          <a:ln w="12700">
            <a:solidFill>
              <a:srgbClr val="0B2545"/>
            </a:solidFill>
            <a:prstDash val="solid"/>
          </a:ln>
        </p:spPr>
      </p:sp>
      <p:sp>
        <p:nvSpPr>
          <p:cNvPr id="13" name="Text 11"/>
          <p:cNvSpPr/>
          <p:nvPr/>
        </p:nvSpPr>
        <p:spPr>
          <a:xfrm>
            <a:off x="6355080" y="1645920"/>
            <a:ext cx="5394960" cy="365760"/>
          </a:xfrm>
          <a:prstGeom prst="rect">
            <a:avLst/>
          </a:prstGeom>
          <a:noFill/>
          <a:ln/>
        </p:spPr>
        <p:txBody>
          <a:bodyPr wrap="square" rtlCol="0" anchor="ctr"/>
          <a:lstStyle/>
          <a:p>
            <a:pPr marL="0" indent="0">
              <a:buNone/>
            </a:pPr>
            <a:r>
              <a:rPr lang="en-US" sz="1300" b="1" dirty="0">
                <a:solidFill>
                  <a:srgbClr val="32E0C4"/>
                </a:solidFill>
                <a:latin typeface="Calibri" pitchFamily="34" charset="0"/>
                <a:ea typeface="Calibri" pitchFamily="34" charset="-122"/>
                <a:cs typeface="Calibri" pitchFamily="34" charset="-120"/>
              </a:rPr>
              <a:t>🏷️  New Categorical Columns</a:t>
            </a:r>
            <a:endParaRPr lang="en-US" sz="1300" dirty="0"/>
          </a:p>
        </p:txBody>
      </p:sp>
      <p:sp>
        <p:nvSpPr>
          <p:cNvPr id="14" name="Text 12"/>
          <p:cNvSpPr/>
          <p:nvPr/>
        </p:nvSpPr>
        <p:spPr>
          <a:xfrm>
            <a:off x="6355080" y="2194560"/>
            <a:ext cx="5394960" cy="502920"/>
          </a:xfrm>
          <a:prstGeom prst="rect">
            <a:avLst/>
          </a:prstGeom>
          <a:noFill/>
          <a:ln/>
        </p:spPr>
        <p:txBody>
          <a:bodyPr wrap="square" rtlCol="0" anchor="ctr"/>
          <a:lstStyle/>
          <a:p>
            <a:pPr marL="342900" indent="-342900">
              <a:buSzPct val="100000"/>
              <a:buChar char="•"/>
            </a:pPr>
            <a:r>
              <a:rPr lang="en-US" sz="1100" dirty="0">
                <a:solidFill>
                  <a:srgbClr val="0B1F3A"/>
                </a:solidFill>
                <a:latin typeface="Calibri" pitchFamily="34" charset="0"/>
                <a:ea typeface="Calibri" pitchFamily="34" charset="-122"/>
                <a:cs typeface="Calibri" pitchFamily="34" charset="-120"/>
              </a:rPr>
              <a:t>Basin Size: Small / Medium / Large based on drainage area</a:t>
            </a:r>
            <a:endParaRPr lang="en-US" sz="1100" dirty="0"/>
          </a:p>
        </p:txBody>
      </p:sp>
      <p:sp>
        <p:nvSpPr>
          <p:cNvPr id="15" name="Text 13"/>
          <p:cNvSpPr/>
          <p:nvPr/>
        </p:nvSpPr>
        <p:spPr>
          <a:xfrm>
            <a:off x="6355080" y="2743200"/>
            <a:ext cx="5394960" cy="502920"/>
          </a:xfrm>
          <a:prstGeom prst="rect">
            <a:avLst/>
          </a:prstGeom>
          <a:noFill/>
          <a:ln/>
        </p:spPr>
        <p:txBody>
          <a:bodyPr wrap="square" rtlCol="0" anchor="ctr"/>
          <a:lstStyle/>
          <a:p>
            <a:pPr marL="342900" indent="-342900">
              <a:buSzPct val="100000"/>
              <a:buChar char="•"/>
            </a:pPr>
            <a:r>
              <a:rPr lang="en-US" sz="1100" dirty="0">
                <a:solidFill>
                  <a:srgbClr val="0B1F3A"/>
                </a:solidFill>
                <a:latin typeface="Calibri" pitchFamily="34" charset="0"/>
                <a:ea typeface="Calibri" pitchFamily="34" charset="-122"/>
                <a:cs typeface="Calibri" pitchFamily="34" charset="-120"/>
              </a:rPr>
              <a:t>Flood Risk Level: Low / Medium / High from composite index</a:t>
            </a:r>
            <a:endParaRPr lang="en-US" sz="1100" dirty="0"/>
          </a:p>
        </p:txBody>
      </p:sp>
      <p:sp>
        <p:nvSpPr>
          <p:cNvPr id="16" name="Text 14"/>
          <p:cNvSpPr/>
          <p:nvPr/>
        </p:nvSpPr>
        <p:spPr>
          <a:xfrm>
            <a:off x="6355080" y="3291840"/>
            <a:ext cx="5394960" cy="502920"/>
          </a:xfrm>
          <a:prstGeom prst="rect">
            <a:avLst/>
          </a:prstGeom>
          <a:noFill/>
          <a:ln/>
        </p:spPr>
        <p:txBody>
          <a:bodyPr wrap="square" rtlCol="0" anchor="ctr"/>
          <a:lstStyle/>
          <a:p>
            <a:pPr marL="342900" indent="-342900">
              <a:buSzPct val="100000"/>
              <a:buChar char="•"/>
            </a:pPr>
            <a:r>
              <a:rPr lang="en-US" sz="1100" dirty="0">
                <a:solidFill>
                  <a:srgbClr val="0B1F3A"/>
                </a:solidFill>
                <a:latin typeface="Calibri" pitchFamily="34" charset="0"/>
                <a:ea typeface="Calibri" pitchFamily="34" charset="-122"/>
                <a:cs typeface="Calibri" pitchFamily="34" charset="-120"/>
              </a:rPr>
              <a:t>Population Risk Level: 3-tier classification combining density + flood index</a:t>
            </a:r>
            <a:endParaRPr lang="en-US" sz="1100" dirty="0"/>
          </a:p>
        </p:txBody>
      </p:sp>
      <p:sp>
        <p:nvSpPr>
          <p:cNvPr id="17" name="Shape 15"/>
          <p:cNvSpPr/>
          <p:nvPr/>
        </p:nvSpPr>
        <p:spPr>
          <a:xfrm>
            <a:off x="320040" y="4114800"/>
            <a:ext cx="5669280" cy="23317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8" name="Shape 16"/>
          <p:cNvSpPr/>
          <p:nvPr/>
        </p:nvSpPr>
        <p:spPr>
          <a:xfrm>
            <a:off x="320040" y="4114800"/>
            <a:ext cx="5669280" cy="457200"/>
          </a:xfrm>
          <a:prstGeom prst="rect">
            <a:avLst/>
          </a:prstGeom>
          <a:solidFill>
            <a:srgbClr val="0B2545"/>
          </a:solidFill>
          <a:ln w="12700">
            <a:solidFill>
              <a:srgbClr val="0B2545"/>
            </a:solidFill>
            <a:prstDash val="solid"/>
          </a:ln>
        </p:spPr>
      </p:sp>
      <p:sp>
        <p:nvSpPr>
          <p:cNvPr id="19" name="Text 17"/>
          <p:cNvSpPr/>
          <p:nvPr/>
        </p:nvSpPr>
        <p:spPr>
          <a:xfrm>
            <a:off x="411480" y="4160520"/>
            <a:ext cx="5394960" cy="365760"/>
          </a:xfrm>
          <a:prstGeom prst="rect">
            <a:avLst/>
          </a:prstGeom>
          <a:noFill/>
          <a:ln/>
        </p:spPr>
        <p:txBody>
          <a:bodyPr wrap="square" rtlCol="0" anchor="ctr"/>
          <a:lstStyle/>
          <a:p>
            <a:pPr marL="0" indent="0">
              <a:buNone/>
            </a:pPr>
            <a:r>
              <a:rPr lang="en-US" sz="1300" b="1" dirty="0">
                <a:solidFill>
                  <a:srgbClr val="32E0C4"/>
                </a:solidFill>
                <a:latin typeface="Calibri" pitchFamily="34" charset="0"/>
                <a:ea typeface="Calibri" pitchFamily="34" charset="-122"/>
                <a:cs typeface="Calibri" pitchFamily="34" charset="-120"/>
              </a:rPr>
              <a:t>∑  Aggregations</a:t>
            </a:r>
            <a:endParaRPr lang="en-US" sz="1300" dirty="0"/>
          </a:p>
        </p:txBody>
      </p:sp>
      <p:sp>
        <p:nvSpPr>
          <p:cNvPr id="20" name="Text 18"/>
          <p:cNvSpPr/>
          <p:nvPr/>
        </p:nvSpPr>
        <p:spPr>
          <a:xfrm>
            <a:off x="411480" y="4709160"/>
            <a:ext cx="5394960" cy="502920"/>
          </a:xfrm>
          <a:prstGeom prst="rect">
            <a:avLst/>
          </a:prstGeom>
          <a:noFill/>
          <a:ln/>
        </p:spPr>
        <p:txBody>
          <a:bodyPr wrap="square" rtlCol="0" anchor="ctr"/>
          <a:lstStyle/>
          <a:p>
            <a:pPr marL="342900" indent="-342900">
              <a:buSzPct val="100000"/>
              <a:buChar char="•"/>
            </a:pPr>
            <a:r>
              <a:rPr lang="en-US" sz="1100" dirty="0">
                <a:solidFill>
                  <a:srgbClr val="0B1F3A"/>
                </a:solidFill>
                <a:latin typeface="Calibri" pitchFamily="34" charset="0"/>
                <a:ea typeface="Calibri" pitchFamily="34" charset="-122"/>
                <a:cs typeface="Calibri" pitchFamily="34" charset="-120"/>
              </a:rPr>
              <a:t>Grand Total row for soil type pivot: Average FRI = 0.0000026437</a:t>
            </a:r>
            <a:endParaRPr lang="en-US" sz="1100" dirty="0"/>
          </a:p>
        </p:txBody>
      </p:sp>
      <p:sp>
        <p:nvSpPr>
          <p:cNvPr id="21" name="Text 19"/>
          <p:cNvSpPr/>
          <p:nvPr/>
        </p:nvSpPr>
        <p:spPr>
          <a:xfrm>
            <a:off x="411480" y="5257800"/>
            <a:ext cx="5394960" cy="502920"/>
          </a:xfrm>
          <a:prstGeom prst="rect">
            <a:avLst/>
          </a:prstGeom>
          <a:noFill/>
          <a:ln/>
        </p:spPr>
        <p:txBody>
          <a:bodyPr wrap="square" rtlCol="0" anchor="ctr"/>
          <a:lstStyle/>
          <a:p>
            <a:pPr marL="342900" indent="-342900">
              <a:buSzPct val="100000"/>
              <a:buChar char="•"/>
            </a:pPr>
            <a:r>
              <a:rPr lang="en-US" sz="1100" dirty="0">
                <a:solidFill>
                  <a:srgbClr val="0B1F3A"/>
                </a:solidFill>
                <a:latin typeface="Calibri" pitchFamily="34" charset="0"/>
                <a:ea typeface="Calibri" pitchFamily="34" charset="-122"/>
                <a:cs typeface="Calibri" pitchFamily="34" charset="-120"/>
              </a:rPr>
              <a:t>Population at Risk: Cumulative sum across all 155 catchments = 1.047B</a:t>
            </a:r>
            <a:endParaRPr lang="en-US" sz="1100" dirty="0"/>
          </a:p>
        </p:txBody>
      </p:sp>
      <p:sp>
        <p:nvSpPr>
          <p:cNvPr id="22" name="Text 20"/>
          <p:cNvSpPr/>
          <p:nvPr/>
        </p:nvSpPr>
        <p:spPr>
          <a:xfrm>
            <a:off x="411480" y="5806440"/>
            <a:ext cx="5394960" cy="502920"/>
          </a:xfrm>
          <a:prstGeom prst="rect">
            <a:avLst/>
          </a:prstGeom>
          <a:noFill/>
          <a:ln/>
        </p:spPr>
        <p:txBody>
          <a:bodyPr wrap="square" rtlCol="0" anchor="ctr"/>
          <a:lstStyle/>
          <a:p>
            <a:pPr marL="342900" indent="-342900">
              <a:buSzPct val="100000"/>
              <a:buChar char="•"/>
            </a:pPr>
            <a:r>
              <a:rPr lang="en-US" sz="1100" dirty="0">
                <a:solidFill>
                  <a:srgbClr val="0B1F3A"/>
                </a:solidFill>
                <a:latin typeface="Calibri" pitchFamily="34" charset="0"/>
                <a:ea typeface="Calibri" pitchFamily="34" charset="-122"/>
                <a:cs typeface="Calibri" pitchFamily="34" charset="-120"/>
              </a:rPr>
              <a:t>Average Drainage Density across all land cover types = 0.000158</a:t>
            </a:r>
            <a:endParaRPr lang="en-US" sz="1100" dirty="0"/>
          </a:p>
        </p:txBody>
      </p:sp>
      <p:sp>
        <p:nvSpPr>
          <p:cNvPr id="23" name="Shape 21"/>
          <p:cNvSpPr/>
          <p:nvPr/>
        </p:nvSpPr>
        <p:spPr>
          <a:xfrm>
            <a:off x="6263640" y="4114800"/>
            <a:ext cx="5669280" cy="23317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4" name="Shape 22"/>
          <p:cNvSpPr/>
          <p:nvPr/>
        </p:nvSpPr>
        <p:spPr>
          <a:xfrm>
            <a:off x="6263640" y="4114800"/>
            <a:ext cx="5669280" cy="457200"/>
          </a:xfrm>
          <a:prstGeom prst="rect">
            <a:avLst/>
          </a:prstGeom>
          <a:solidFill>
            <a:srgbClr val="0B2545"/>
          </a:solidFill>
          <a:ln w="12700">
            <a:solidFill>
              <a:srgbClr val="0B2545"/>
            </a:solidFill>
            <a:prstDash val="solid"/>
          </a:ln>
        </p:spPr>
      </p:sp>
      <p:sp>
        <p:nvSpPr>
          <p:cNvPr id="25" name="Text 23"/>
          <p:cNvSpPr/>
          <p:nvPr/>
        </p:nvSpPr>
        <p:spPr>
          <a:xfrm>
            <a:off x="6355080" y="4160520"/>
            <a:ext cx="5394960" cy="365760"/>
          </a:xfrm>
          <a:prstGeom prst="rect">
            <a:avLst/>
          </a:prstGeom>
          <a:noFill/>
          <a:ln/>
        </p:spPr>
        <p:txBody>
          <a:bodyPr wrap="square" rtlCol="0" anchor="ctr"/>
          <a:lstStyle/>
          <a:p>
            <a:pPr marL="0" indent="0">
              <a:buNone/>
            </a:pPr>
            <a:r>
              <a:rPr lang="en-US" sz="1300" b="1" dirty="0">
                <a:solidFill>
                  <a:srgbClr val="32E0C4"/>
                </a:solidFill>
                <a:latin typeface="Calibri" pitchFamily="34" charset="0"/>
                <a:ea typeface="Calibri" pitchFamily="34" charset="-122"/>
                <a:cs typeface="Calibri" pitchFamily="34" charset="-120"/>
              </a:rPr>
              <a:t>📊  Dashboard Measures</a:t>
            </a:r>
            <a:endParaRPr lang="en-US" sz="1300" dirty="0"/>
          </a:p>
        </p:txBody>
      </p:sp>
      <p:sp>
        <p:nvSpPr>
          <p:cNvPr id="26" name="Text 24"/>
          <p:cNvSpPr/>
          <p:nvPr/>
        </p:nvSpPr>
        <p:spPr>
          <a:xfrm>
            <a:off x="6355080" y="4709160"/>
            <a:ext cx="5394960" cy="502920"/>
          </a:xfrm>
          <a:prstGeom prst="rect">
            <a:avLst/>
          </a:prstGeom>
          <a:noFill/>
          <a:ln/>
        </p:spPr>
        <p:txBody>
          <a:bodyPr wrap="square" rtlCol="0" anchor="ctr"/>
          <a:lstStyle/>
          <a:p>
            <a:pPr marL="342900" indent="-342900">
              <a:buSzPct val="100000"/>
              <a:buChar char="•"/>
            </a:pPr>
            <a:r>
              <a:rPr lang="en-US" sz="1100" dirty="0">
                <a:solidFill>
                  <a:srgbClr val="0B1F3A"/>
                </a:solidFill>
                <a:latin typeface="Calibri" pitchFamily="34" charset="0"/>
                <a:ea typeface="Calibri" pitchFamily="34" charset="-122"/>
                <a:cs typeface="Calibri" pitchFamily="34" charset="-120"/>
              </a:rPr>
              <a:t>KPI Card: Total Catchments = 155</a:t>
            </a:r>
            <a:endParaRPr lang="en-US" sz="1100" dirty="0"/>
          </a:p>
        </p:txBody>
      </p:sp>
      <p:sp>
        <p:nvSpPr>
          <p:cNvPr id="27" name="Text 25"/>
          <p:cNvSpPr/>
          <p:nvPr/>
        </p:nvSpPr>
        <p:spPr>
          <a:xfrm>
            <a:off x="6355080" y="5257800"/>
            <a:ext cx="5394960" cy="502920"/>
          </a:xfrm>
          <a:prstGeom prst="rect">
            <a:avLst/>
          </a:prstGeom>
          <a:noFill/>
          <a:ln/>
        </p:spPr>
        <p:txBody>
          <a:bodyPr wrap="square" rtlCol="0" anchor="ctr"/>
          <a:lstStyle/>
          <a:p>
            <a:pPr marL="342900" indent="-342900">
              <a:buSzPct val="100000"/>
              <a:buChar char="•"/>
            </a:pPr>
            <a:r>
              <a:rPr lang="en-US" sz="1100" dirty="0">
                <a:solidFill>
                  <a:srgbClr val="0B1F3A"/>
                </a:solidFill>
                <a:latin typeface="Calibri" pitchFamily="34" charset="0"/>
                <a:ea typeface="Calibri" pitchFamily="34" charset="-122"/>
                <a:cs typeface="Calibri" pitchFamily="34" charset="-120"/>
              </a:rPr>
              <a:t>KPI Card: Average Relief Ratio = 0.017778</a:t>
            </a:r>
            <a:endParaRPr lang="en-US" sz="1100" dirty="0"/>
          </a:p>
        </p:txBody>
      </p:sp>
      <p:sp>
        <p:nvSpPr>
          <p:cNvPr id="28" name="Text 26"/>
          <p:cNvSpPr/>
          <p:nvPr/>
        </p:nvSpPr>
        <p:spPr>
          <a:xfrm>
            <a:off x="6355080" y="5806440"/>
            <a:ext cx="5394960" cy="502920"/>
          </a:xfrm>
          <a:prstGeom prst="rect">
            <a:avLst/>
          </a:prstGeom>
          <a:noFill/>
          <a:ln/>
        </p:spPr>
        <p:txBody>
          <a:bodyPr wrap="square" rtlCol="0" anchor="ctr"/>
          <a:lstStyle/>
          <a:p>
            <a:pPr marL="342900" indent="-342900">
              <a:buSzPct val="100000"/>
              <a:buChar char="•"/>
            </a:pPr>
            <a:r>
              <a:rPr lang="en-US" sz="1100" dirty="0">
                <a:solidFill>
                  <a:srgbClr val="0B1F3A"/>
                </a:solidFill>
                <a:latin typeface="Calibri" pitchFamily="34" charset="0"/>
                <a:ea typeface="Calibri" pitchFamily="34" charset="-122"/>
                <a:cs typeface="Calibri" pitchFamily="34" charset="-120"/>
              </a:rPr>
              <a:t>KPI Card: Average Drainage = 0.000157545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Tools &amp; Technologies Used</a:t>
            </a:r>
            <a:endParaRPr lang="en-US" sz="3000" dirty="0"/>
          </a:p>
        </p:txBody>
      </p:sp>
      <p:sp>
        <p:nvSpPr>
          <p:cNvPr id="4" name="Shape 2"/>
          <p:cNvSpPr/>
          <p:nvPr/>
        </p:nvSpPr>
        <p:spPr>
          <a:xfrm>
            <a:off x="320040" y="1143000"/>
            <a:ext cx="5669280" cy="24231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20040" y="1143000"/>
            <a:ext cx="548640" cy="2423160"/>
          </a:xfrm>
          <a:prstGeom prst="rect">
            <a:avLst/>
          </a:prstGeom>
          <a:solidFill>
            <a:srgbClr val="2DC653"/>
          </a:solidFill>
          <a:ln w="12700">
            <a:solidFill>
              <a:srgbClr val="2DC653"/>
            </a:solidFill>
            <a:prstDash val="solid"/>
          </a:ln>
        </p:spPr>
      </p:sp>
      <p:sp>
        <p:nvSpPr>
          <p:cNvPr id="6" name="Text 4"/>
          <p:cNvSpPr/>
          <p:nvPr/>
        </p:nvSpPr>
        <p:spPr>
          <a:xfrm>
            <a:off x="1005840" y="1325880"/>
            <a:ext cx="4754880" cy="365760"/>
          </a:xfrm>
          <a:prstGeom prst="rect">
            <a:avLst/>
          </a:prstGeom>
          <a:noFill/>
          <a:ln/>
        </p:spPr>
        <p:txBody>
          <a:bodyPr wrap="square" rtlCol="0" anchor="ctr"/>
          <a:lstStyle/>
          <a:p>
            <a:pPr marL="0" indent="0">
              <a:buNone/>
            </a:pPr>
            <a:r>
              <a:rPr lang="en-US" sz="1600" b="1" dirty="0">
                <a:solidFill>
                  <a:srgbClr val="2DC653"/>
                </a:solidFill>
                <a:latin typeface="Calibri" pitchFamily="34" charset="0"/>
                <a:ea typeface="Calibri" pitchFamily="34" charset="-122"/>
                <a:cs typeface="Calibri" pitchFamily="34" charset="-120"/>
              </a:rPr>
              <a:t>Microsoft Excel</a:t>
            </a:r>
            <a:endParaRPr lang="en-US" sz="1600" dirty="0"/>
          </a:p>
        </p:txBody>
      </p:sp>
      <p:sp>
        <p:nvSpPr>
          <p:cNvPr id="7" name="Text 5"/>
          <p:cNvSpPr/>
          <p:nvPr/>
        </p:nvSpPr>
        <p:spPr>
          <a:xfrm>
            <a:off x="1005840" y="1709928"/>
            <a:ext cx="4754880" cy="27432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Data Source &amp; Pivot Tables</a:t>
            </a:r>
            <a:endParaRPr lang="en-US" sz="1200" dirty="0"/>
          </a:p>
        </p:txBody>
      </p:sp>
      <p:sp>
        <p:nvSpPr>
          <p:cNvPr id="8" name="Shape 6"/>
          <p:cNvSpPr/>
          <p:nvPr/>
        </p:nvSpPr>
        <p:spPr>
          <a:xfrm>
            <a:off x="1005840" y="2039112"/>
            <a:ext cx="4754880" cy="0"/>
          </a:xfrm>
          <a:prstGeom prst="line">
            <a:avLst/>
          </a:prstGeom>
          <a:noFill/>
          <a:ln w="12700">
            <a:solidFill>
              <a:srgbClr val="CBD5E1"/>
            </a:solidFill>
            <a:prstDash val="solid"/>
          </a:ln>
        </p:spPr>
      </p:sp>
      <p:sp>
        <p:nvSpPr>
          <p:cNvPr id="9" name="Text 7"/>
          <p:cNvSpPr/>
          <p:nvPr/>
        </p:nvSpPr>
        <p:spPr>
          <a:xfrm>
            <a:off x="1005840" y="2148840"/>
            <a:ext cx="4754880" cy="128016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The primary data file (.xlsx) contains 8 worksheets including the raw catchment data, pre-built pivot tables for soil/land cover/basin analysis, and the population exposure table.</a:t>
            </a:r>
            <a:endParaRPr lang="en-US" sz="1100" dirty="0"/>
          </a:p>
        </p:txBody>
      </p:sp>
      <p:sp>
        <p:nvSpPr>
          <p:cNvPr id="10" name="Shape 8"/>
          <p:cNvSpPr/>
          <p:nvPr/>
        </p:nvSpPr>
        <p:spPr>
          <a:xfrm>
            <a:off x="6263640" y="1143000"/>
            <a:ext cx="5669280" cy="24231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1" name="Shape 9"/>
          <p:cNvSpPr/>
          <p:nvPr/>
        </p:nvSpPr>
        <p:spPr>
          <a:xfrm>
            <a:off x="6263640" y="1143000"/>
            <a:ext cx="548640" cy="2423160"/>
          </a:xfrm>
          <a:prstGeom prst="rect">
            <a:avLst/>
          </a:prstGeom>
          <a:solidFill>
            <a:srgbClr val="F4A261"/>
          </a:solidFill>
          <a:ln w="12700">
            <a:solidFill>
              <a:srgbClr val="F4A261"/>
            </a:solidFill>
            <a:prstDash val="solid"/>
          </a:ln>
        </p:spPr>
      </p:sp>
      <p:sp>
        <p:nvSpPr>
          <p:cNvPr id="12" name="Text 10"/>
          <p:cNvSpPr/>
          <p:nvPr/>
        </p:nvSpPr>
        <p:spPr>
          <a:xfrm>
            <a:off x="6949440" y="1325880"/>
            <a:ext cx="4754880" cy="365760"/>
          </a:xfrm>
          <a:prstGeom prst="rect">
            <a:avLst/>
          </a:prstGeom>
          <a:noFill/>
          <a:ln/>
        </p:spPr>
        <p:txBody>
          <a:bodyPr wrap="square" rtlCol="0" anchor="ctr"/>
          <a:lstStyle/>
          <a:p>
            <a:pPr marL="0" indent="0">
              <a:buNone/>
            </a:pPr>
            <a:r>
              <a:rPr lang="en-US" sz="1600" b="1" dirty="0">
                <a:solidFill>
                  <a:srgbClr val="F4A261"/>
                </a:solidFill>
                <a:latin typeface="Calibri" pitchFamily="34" charset="0"/>
                <a:ea typeface="Calibri" pitchFamily="34" charset="-122"/>
                <a:cs typeface="Calibri" pitchFamily="34" charset="-120"/>
              </a:rPr>
              <a:t>Excel</a:t>
            </a:r>
            <a:endParaRPr lang="en-US" sz="1600" dirty="0"/>
          </a:p>
        </p:txBody>
      </p:sp>
      <p:sp>
        <p:nvSpPr>
          <p:cNvPr id="13" name="Text 11"/>
          <p:cNvSpPr/>
          <p:nvPr/>
        </p:nvSpPr>
        <p:spPr>
          <a:xfrm>
            <a:off x="6949440" y="1709928"/>
            <a:ext cx="4754880" cy="27432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Interactive Dashboard</a:t>
            </a:r>
            <a:endParaRPr lang="en-US" sz="1200" dirty="0"/>
          </a:p>
        </p:txBody>
      </p:sp>
      <p:sp>
        <p:nvSpPr>
          <p:cNvPr id="14" name="Shape 12"/>
          <p:cNvSpPr/>
          <p:nvPr/>
        </p:nvSpPr>
        <p:spPr>
          <a:xfrm>
            <a:off x="6949440" y="2039112"/>
            <a:ext cx="4754880" cy="0"/>
          </a:xfrm>
          <a:prstGeom prst="line">
            <a:avLst/>
          </a:prstGeom>
          <a:noFill/>
          <a:ln w="12700">
            <a:solidFill>
              <a:srgbClr val="CBD5E1"/>
            </a:solidFill>
            <a:prstDash val="solid"/>
          </a:ln>
        </p:spPr>
      </p:sp>
      <p:sp>
        <p:nvSpPr>
          <p:cNvPr id="15" name="Text 13"/>
          <p:cNvSpPr/>
          <p:nvPr/>
        </p:nvSpPr>
        <p:spPr>
          <a:xfrm>
            <a:off x="6949440" y="2148840"/>
            <a:ext cx="4754880" cy="128016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Used to build the Disaster Risk Management (Flood) Dashboard featuring KPI cards, soil type bar chart, population exposure pie chart, land cover drainage chart, basin size chart, and slicer filters.</a:t>
            </a:r>
            <a:endParaRPr lang="en-US" sz="1100" dirty="0"/>
          </a:p>
        </p:txBody>
      </p:sp>
      <p:sp>
        <p:nvSpPr>
          <p:cNvPr id="22" name="Shape 20"/>
          <p:cNvSpPr/>
          <p:nvPr/>
        </p:nvSpPr>
        <p:spPr>
          <a:xfrm>
            <a:off x="320040" y="3977640"/>
            <a:ext cx="5669280" cy="24231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3" name="Shape 21"/>
          <p:cNvSpPr/>
          <p:nvPr/>
        </p:nvSpPr>
        <p:spPr>
          <a:xfrm>
            <a:off x="320040" y="3977640"/>
            <a:ext cx="548640" cy="2423160"/>
          </a:xfrm>
          <a:prstGeom prst="rect">
            <a:avLst/>
          </a:prstGeom>
          <a:solidFill>
            <a:srgbClr val="0D7377"/>
          </a:solidFill>
          <a:ln w="12700">
            <a:solidFill>
              <a:srgbClr val="0D7377"/>
            </a:solidFill>
            <a:prstDash val="solid"/>
          </a:ln>
        </p:spPr>
      </p:sp>
      <p:sp>
        <p:nvSpPr>
          <p:cNvPr id="24" name="Text 22"/>
          <p:cNvSpPr/>
          <p:nvPr/>
        </p:nvSpPr>
        <p:spPr>
          <a:xfrm>
            <a:off x="1005840" y="4160520"/>
            <a:ext cx="4754880" cy="365760"/>
          </a:xfrm>
          <a:prstGeom prst="rect">
            <a:avLst/>
          </a:prstGeom>
          <a:noFill/>
          <a:ln/>
        </p:spPr>
        <p:txBody>
          <a:bodyPr wrap="square" rtlCol="0" anchor="ctr"/>
          <a:lstStyle/>
          <a:p>
            <a:pPr marL="0" indent="0">
              <a:buNone/>
            </a:pPr>
            <a:r>
              <a:rPr lang="en-US" sz="1600" b="1" dirty="0">
                <a:solidFill>
                  <a:srgbClr val="0D7377"/>
                </a:solidFill>
                <a:latin typeface="Calibri" pitchFamily="34" charset="0"/>
                <a:ea typeface="Calibri" pitchFamily="34" charset="-122"/>
                <a:cs typeface="Calibri" pitchFamily="34" charset="-120"/>
              </a:rPr>
              <a:t>Data Storytelling</a:t>
            </a:r>
            <a:endParaRPr lang="en-US" sz="1600" dirty="0"/>
          </a:p>
        </p:txBody>
      </p:sp>
      <p:sp>
        <p:nvSpPr>
          <p:cNvPr id="25" name="Text 23"/>
          <p:cNvSpPr/>
          <p:nvPr/>
        </p:nvSpPr>
        <p:spPr>
          <a:xfrm>
            <a:off x="1005840" y="4544568"/>
            <a:ext cx="4754880" cy="27432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Presentation &amp; Reporting</a:t>
            </a:r>
            <a:endParaRPr lang="en-US" sz="1200" dirty="0"/>
          </a:p>
        </p:txBody>
      </p:sp>
      <p:sp>
        <p:nvSpPr>
          <p:cNvPr id="26" name="Shape 24"/>
          <p:cNvSpPr/>
          <p:nvPr/>
        </p:nvSpPr>
        <p:spPr>
          <a:xfrm>
            <a:off x="6949440" y="4690872"/>
            <a:ext cx="4754880" cy="0"/>
          </a:xfrm>
          <a:prstGeom prst="line">
            <a:avLst/>
          </a:prstGeom>
          <a:noFill/>
          <a:ln w="12700">
            <a:solidFill>
              <a:srgbClr val="CBD5E1"/>
            </a:solidFill>
            <a:prstDash val="solid"/>
          </a:ln>
        </p:spPr>
      </p:sp>
      <p:sp>
        <p:nvSpPr>
          <p:cNvPr id="27" name="Text 25"/>
          <p:cNvSpPr/>
          <p:nvPr/>
        </p:nvSpPr>
        <p:spPr>
          <a:xfrm>
            <a:off x="1005840" y="4983480"/>
            <a:ext cx="4754880" cy="128016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Business insights are packaged into this structured slide deck following the analytics workflow: data ingestion → cleaning → EDA → visualization → dashboard → insights → recommendations.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1628"/>
          </a:solidFill>
          <a:ln w="12700">
            <a:solidFill>
              <a:srgbClr val="0A1628"/>
            </a:solidFill>
            <a:prstDash val="solid"/>
          </a:ln>
        </p:spPr>
      </p:sp>
      <p:sp>
        <p:nvSpPr>
          <p:cNvPr id="3" name="Shape 1"/>
          <p:cNvSpPr/>
          <p:nvPr/>
        </p:nvSpPr>
        <p:spPr>
          <a:xfrm>
            <a:off x="0" y="0"/>
            <a:ext cx="12188952" cy="1005840"/>
          </a:xfrm>
          <a:prstGeom prst="rect">
            <a:avLst/>
          </a:prstGeom>
          <a:solidFill>
            <a:srgbClr val="0B2545"/>
          </a:solidFill>
          <a:ln w="12700">
            <a:solidFill>
              <a:srgbClr val="0B2545"/>
            </a:solidFill>
            <a:prstDash val="solid"/>
          </a:ln>
        </p:spPr>
      </p:sp>
      <p:sp>
        <p:nvSpPr>
          <p:cNvPr id="4" name="Text 2"/>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Key Business Questions</a:t>
            </a:r>
            <a:endParaRPr lang="en-US" sz="3000" dirty="0"/>
          </a:p>
        </p:txBody>
      </p:sp>
      <p:sp>
        <p:nvSpPr>
          <p:cNvPr id="5" name="Shape 3"/>
          <p:cNvSpPr/>
          <p:nvPr/>
        </p:nvSpPr>
        <p:spPr>
          <a:xfrm>
            <a:off x="320040" y="1097280"/>
            <a:ext cx="5669280" cy="1234440"/>
          </a:xfrm>
          <a:prstGeom prst="rect">
            <a:avLst/>
          </a:prstGeom>
          <a:solidFill>
            <a:srgbClr val="112244"/>
          </a:solidFill>
          <a:ln w="6350">
            <a:solidFill>
              <a:srgbClr val="1363DF"/>
            </a:solidFill>
            <a:prstDash val="solid"/>
          </a:ln>
        </p:spPr>
      </p:sp>
      <p:sp>
        <p:nvSpPr>
          <p:cNvPr id="6" name="Shape 4"/>
          <p:cNvSpPr/>
          <p:nvPr/>
        </p:nvSpPr>
        <p:spPr>
          <a:xfrm>
            <a:off x="411480" y="1371600"/>
            <a:ext cx="640080" cy="640080"/>
          </a:xfrm>
          <a:prstGeom prst="ellipse">
            <a:avLst/>
          </a:prstGeom>
          <a:solidFill>
            <a:srgbClr val="1363DF"/>
          </a:solidFill>
          <a:ln w="12700">
            <a:solidFill>
              <a:srgbClr val="1363DF"/>
            </a:solidFill>
            <a:prstDash val="solid"/>
          </a:ln>
        </p:spPr>
      </p:sp>
      <p:sp>
        <p:nvSpPr>
          <p:cNvPr id="7" name="Text 5"/>
          <p:cNvSpPr/>
          <p:nvPr/>
        </p:nvSpPr>
        <p:spPr>
          <a:xfrm>
            <a:off x="411480" y="1371600"/>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Q1</a:t>
            </a:r>
            <a:endParaRPr lang="en-US" sz="1400" dirty="0"/>
          </a:p>
        </p:txBody>
      </p:sp>
      <p:sp>
        <p:nvSpPr>
          <p:cNvPr id="8" name="Text 6"/>
          <p:cNvSpPr/>
          <p:nvPr/>
        </p:nvSpPr>
        <p:spPr>
          <a:xfrm>
            <a:off x="1161288" y="1207008"/>
            <a:ext cx="4663440" cy="100584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Which soil types exhibit the highest average Flood Risk Index, and what infrastructure investments do they require?</a:t>
            </a:r>
            <a:endParaRPr lang="en-US" sz="1100" dirty="0"/>
          </a:p>
        </p:txBody>
      </p:sp>
      <p:sp>
        <p:nvSpPr>
          <p:cNvPr id="9" name="Shape 7"/>
          <p:cNvSpPr/>
          <p:nvPr/>
        </p:nvSpPr>
        <p:spPr>
          <a:xfrm>
            <a:off x="6263640" y="1097280"/>
            <a:ext cx="5669280" cy="1234440"/>
          </a:xfrm>
          <a:prstGeom prst="rect">
            <a:avLst/>
          </a:prstGeom>
          <a:solidFill>
            <a:srgbClr val="112244"/>
          </a:solidFill>
          <a:ln w="6350">
            <a:solidFill>
              <a:srgbClr val="1363DF"/>
            </a:solidFill>
            <a:prstDash val="solid"/>
          </a:ln>
        </p:spPr>
      </p:sp>
      <p:sp>
        <p:nvSpPr>
          <p:cNvPr id="10" name="Shape 8"/>
          <p:cNvSpPr/>
          <p:nvPr/>
        </p:nvSpPr>
        <p:spPr>
          <a:xfrm>
            <a:off x="6355080" y="1371600"/>
            <a:ext cx="640080" cy="640080"/>
          </a:xfrm>
          <a:prstGeom prst="ellipse">
            <a:avLst/>
          </a:prstGeom>
          <a:solidFill>
            <a:srgbClr val="1363DF"/>
          </a:solidFill>
          <a:ln w="12700">
            <a:solidFill>
              <a:srgbClr val="1363DF"/>
            </a:solidFill>
            <a:prstDash val="solid"/>
          </a:ln>
        </p:spPr>
      </p:sp>
      <p:sp>
        <p:nvSpPr>
          <p:cNvPr id="11" name="Text 9"/>
          <p:cNvSpPr/>
          <p:nvPr/>
        </p:nvSpPr>
        <p:spPr>
          <a:xfrm>
            <a:off x="6355080" y="1371600"/>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Q2</a:t>
            </a:r>
            <a:endParaRPr lang="en-US" sz="1400" dirty="0"/>
          </a:p>
        </p:txBody>
      </p:sp>
      <p:sp>
        <p:nvSpPr>
          <p:cNvPr id="12" name="Text 10"/>
          <p:cNvSpPr/>
          <p:nvPr/>
        </p:nvSpPr>
        <p:spPr>
          <a:xfrm>
            <a:off x="7104888" y="1207008"/>
            <a:ext cx="4663440" cy="100584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How does land cover type influence drainage density, and which areas are most susceptible to runoff accumulation?</a:t>
            </a:r>
            <a:endParaRPr lang="en-US" sz="1100" dirty="0"/>
          </a:p>
        </p:txBody>
      </p:sp>
      <p:sp>
        <p:nvSpPr>
          <p:cNvPr id="13" name="Shape 11"/>
          <p:cNvSpPr/>
          <p:nvPr/>
        </p:nvSpPr>
        <p:spPr>
          <a:xfrm>
            <a:off x="320040" y="2487168"/>
            <a:ext cx="5669280" cy="1234440"/>
          </a:xfrm>
          <a:prstGeom prst="rect">
            <a:avLst/>
          </a:prstGeom>
          <a:solidFill>
            <a:srgbClr val="112244"/>
          </a:solidFill>
          <a:ln w="6350">
            <a:solidFill>
              <a:srgbClr val="1363DF"/>
            </a:solidFill>
            <a:prstDash val="solid"/>
          </a:ln>
        </p:spPr>
      </p:sp>
      <p:sp>
        <p:nvSpPr>
          <p:cNvPr id="14" name="Shape 12"/>
          <p:cNvSpPr/>
          <p:nvPr/>
        </p:nvSpPr>
        <p:spPr>
          <a:xfrm>
            <a:off x="411480" y="2761488"/>
            <a:ext cx="640080" cy="640080"/>
          </a:xfrm>
          <a:prstGeom prst="ellipse">
            <a:avLst/>
          </a:prstGeom>
          <a:solidFill>
            <a:srgbClr val="1363DF"/>
          </a:solidFill>
          <a:ln w="12700">
            <a:solidFill>
              <a:srgbClr val="1363DF"/>
            </a:solidFill>
            <a:prstDash val="solid"/>
          </a:ln>
        </p:spPr>
      </p:sp>
      <p:sp>
        <p:nvSpPr>
          <p:cNvPr id="15" name="Text 13"/>
          <p:cNvSpPr/>
          <p:nvPr/>
        </p:nvSpPr>
        <p:spPr>
          <a:xfrm>
            <a:off x="411480" y="2761488"/>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Q3</a:t>
            </a:r>
            <a:endParaRPr lang="en-US" sz="1400" dirty="0"/>
          </a:p>
        </p:txBody>
      </p:sp>
      <p:sp>
        <p:nvSpPr>
          <p:cNvPr id="16" name="Text 14"/>
          <p:cNvSpPr/>
          <p:nvPr/>
        </p:nvSpPr>
        <p:spPr>
          <a:xfrm>
            <a:off x="1161288" y="2596896"/>
            <a:ext cx="4663440" cy="100584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What proportion of catchments fall into the High, Medium, and Low population risk categories?</a:t>
            </a:r>
            <a:endParaRPr lang="en-US" sz="1100" dirty="0"/>
          </a:p>
        </p:txBody>
      </p:sp>
      <p:sp>
        <p:nvSpPr>
          <p:cNvPr id="17" name="Shape 15"/>
          <p:cNvSpPr/>
          <p:nvPr/>
        </p:nvSpPr>
        <p:spPr>
          <a:xfrm>
            <a:off x="6263640" y="2487168"/>
            <a:ext cx="5669280" cy="1234440"/>
          </a:xfrm>
          <a:prstGeom prst="rect">
            <a:avLst/>
          </a:prstGeom>
          <a:solidFill>
            <a:srgbClr val="112244"/>
          </a:solidFill>
          <a:ln w="6350">
            <a:solidFill>
              <a:srgbClr val="1363DF"/>
            </a:solidFill>
            <a:prstDash val="solid"/>
          </a:ln>
        </p:spPr>
      </p:sp>
      <p:sp>
        <p:nvSpPr>
          <p:cNvPr id="18" name="Shape 16"/>
          <p:cNvSpPr/>
          <p:nvPr/>
        </p:nvSpPr>
        <p:spPr>
          <a:xfrm>
            <a:off x="6355080" y="2761488"/>
            <a:ext cx="640080" cy="640080"/>
          </a:xfrm>
          <a:prstGeom prst="ellipse">
            <a:avLst/>
          </a:prstGeom>
          <a:solidFill>
            <a:srgbClr val="1363DF"/>
          </a:solidFill>
          <a:ln w="12700">
            <a:solidFill>
              <a:srgbClr val="1363DF"/>
            </a:solidFill>
            <a:prstDash val="solid"/>
          </a:ln>
        </p:spPr>
      </p:sp>
      <p:sp>
        <p:nvSpPr>
          <p:cNvPr id="19" name="Text 17"/>
          <p:cNvSpPr/>
          <p:nvPr/>
        </p:nvSpPr>
        <p:spPr>
          <a:xfrm>
            <a:off x="6355080" y="2761488"/>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Q4</a:t>
            </a:r>
            <a:endParaRPr lang="en-US" sz="1400" dirty="0"/>
          </a:p>
        </p:txBody>
      </p:sp>
      <p:sp>
        <p:nvSpPr>
          <p:cNvPr id="20" name="Text 18"/>
          <p:cNvSpPr/>
          <p:nvPr/>
        </p:nvSpPr>
        <p:spPr>
          <a:xfrm>
            <a:off x="7104888" y="2596896"/>
            <a:ext cx="4663440" cy="100584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Do small basins consistently present higher flood risk than medium and large basins across all soil types?</a:t>
            </a:r>
            <a:endParaRPr lang="en-US" sz="1100" dirty="0"/>
          </a:p>
        </p:txBody>
      </p:sp>
      <p:sp>
        <p:nvSpPr>
          <p:cNvPr id="21" name="Shape 19"/>
          <p:cNvSpPr/>
          <p:nvPr/>
        </p:nvSpPr>
        <p:spPr>
          <a:xfrm>
            <a:off x="320040" y="3877056"/>
            <a:ext cx="5669280" cy="1234440"/>
          </a:xfrm>
          <a:prstGeom prst="rect">
            <a:avLst/>
          </a:prstGeom>
          <a:solidFill>
            <a:srgbClr val="112244"/>
          </a:solidFill>
          <a:ln w="6350">
            <a:solidFill>
              <a:srgbClr val="1363DF"/>
            </a:solidFill>
            <a:prstDash val="solid"/>
          </a:ln>
        </p:spPr>
      </p:sp>
      <p:sp>
        <p:nvSpPr>
          <p:cNvPr id="22" name="Shape 20"/>
          <p:cNvSpPr/>
          <p:nvPr/>
        </p:nvSpPr>
        <p:spPr>
          <a:xfrm>
            <a:off x="411480" y="4151376"/>
            <a:ext cx="640080" cy="640080"/>
          </a:xfrm>
          <a:prstGeom prst="ellipse">
            <a:avLst/>
          </a:prstGeom>
          <a:solidFill>
            <a:srgbClr val="1363DF"/>
          </a:solidFill>
          <a:ln w="12700">
            <a:solidFill>
              <a:srgbClr val="1363DF"/>
            </a:solidFill>
            <a:prstDash val="solid"/>
          </a:ln>
        </p:spPr>
      </p:sp>
      <p:sp>
        <p:nvSpPr>
          <p:cNvPr id="23" name="Text 21"/>
          <p:cNvSpPr/>
          <p:nvPr/>
        </p:nvSpPr>
        <p:spPr>
          <a:xfrm>
            <a:off x="411480" y="4151376"/>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Q5</a:t>
            </a:r>
            <a:endParaRPr lang="en-US" sz="1400" dirty="0"/>
          </a:p>
        </p:txBody>
      </p:sp>
      <p:sp>
        <p:nvSpPr>
          <p:cNvPr id="24" name="Text 22"/>
          <p:cNvSpPr/>
          <p:nvPr/>
        </p:nvSpPr>
        <p:spPr>
          <a:xfrm>
            <a:off x="1161288" y="3986784"/>
            <a:ext cx="4663440" cy="100584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Is there a meaningful correlation between population density and flood risk index?</a:t>
            </a:r>
            <a:endParaRPr lang="en-US" sz="1100" dirty="0"/>
          </a:p>
        </p:txBody>
      </p:sp>
      <p:sp>
        <p:nvSpPr>
          <p:cNvPr id="25" name="Shape 23"/>
          <p:cNvSpPr/>
          <p:nvPr/>
        </p:nvSpPr>
        <p:spPr>
          <a:xfrm>
            <a:off x="6263640" y="3877056"/>
            <a:ext cx="5669280" cy="1234440"/>
          </a:xfrm>
          <a:prstGeom prst="rect">
            <a:avLst/>
          </a:prstGeom>
          <a:solidFill>
            <a:srgbClr val="112244"/>
          </a:solidFill>
          <a:ln w="6350">
            <a:solidFill>
              <a:srgbClr val="1363DF"/>
            </a:solidFill>
            <a:prstDash val="solid"/>
          </a:ln>
        </p:spPr>
      </p:sp>
      <p:sp>
        <p:nvSpPr>
          <p:cNvPr id="26" name="Shape 24"/>
          <p:cNvSpPr/>
          <p:nvPr/>
        </p:nvSpPr>
        <p:spPr>
          <a:xfrm>
            <a:off x="6355080" y="4151376"/>
            <a:ext cx="640080" cy="640080"/>
          </a:xfrm>
          <a:prstGeom prst="ellipse">
            <a:avLst/>
          </a:prstGeom>
          <a:solidFill>
            <a:srgbClr val="1363DF"/>
          </a:solidFill>
          <a:ln w="12700">
            <a:solidFill>
              <a:srgbClr val="1363DF"/>
            </a:solidFill>
            <a:prstDash val="solid"/>
          </a:ln>
        </p:spPr>
      </p:sp>
      <p:sp>
        <p:nvSpPr>
          <p:cNvPr id="27" name="Text 25"/>
          <p:cNvSpPr/>
          <p:nvPr/>
        </p:nvSpPr>
        <p:spPr>
          <a:xfrm>
            <a:off x="6355080" y="4151376"/>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Q6</a:t>
            </a:r>
            <a:endParaRPr lang="en-US" sz="1400" dirty="0"/>
          </a:p>
        </p:txBody>
      </p:sp>
      <p:sp>
        <p:nvSpPr>
          <p:cNvPr id="28" name="Text 26"/>
          <p:cNvSpPr/>
          <p:nvPr/>
        </p:nvSpPr>
        <p:spPr>
          <a:xfrm>
            <a:off x="7104888" y="3986784"/>
            <a:ext cx="4663440" cy="100584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Which climate zone (Tropical, Arid, Temperate) is associated with the highest average flood risk?</a:t>
            </a:r>
            <a:endParaRPr lang="en-US" sz="1100" dirty="0"/>
          </a:p>
        </p:txBody>
      </p:sp>
      <p:sp>
        <p:nvSpPr>
          <p:cNvPr id="29" name="Shape 27"/>
          <p:cNvSpPr/>
          <p:nvPr/>
        </p:nvSpPr>
        <p:spPr>
          <a:xfrm>
            <a:off x="320040" y="5266944"/>
            <a:ext cx="5669280" cy="1234440"/>
          </a:xfrm>
          <a:prstGeom prst="rect">
            <a:avLst/>
          </a:prstGeom>
          <a:solidFill>
            <a:srgbClr val="112244"/>
          </a:solidFill>
          <a:ln w="6350">
            <a:solidFill>
              <a:srgbClr val="1363DF"/>
            </a:solidFill>
            <a:prstDash val="solid"/>
          </a:ln>
        </p:spPr>
      </p:sp>
      <p:sp>
        <p:nvSpPr>
          <p:cNvPr id="30" name="Shape 28"/>
          <p:cNvSpPr/>
          <p:nvPr/>
        </p:nvSpPr>
        <p:spPr>
          <a:xfrm>
            <a:off x="411480" y="5541264"/>
            <a:ext cx="640080" cy="640080"/>
          </a:xfrm>
          <a:prstGeom prst="ellipse">
            <a:avLst/>
          </a:prstGeom>
          <a:solidFill>
            <a:srgbClr val="1363DF"/>
          </a:solidFill>
          <a:ln w="12700">
            <a:solidFill>
              <a:srgbClr val="1363DF"/>
            </a:solidFill>
            <a:prstDash val="solid"/>
          </a:ln>
        </p:spPr>
      </p:sp>
      <p:sp>
        <p:nvSpPr>
          <p:cNvPr id="31" name="Text 29"/>
          <p:cNvSpPr/>
          <p:nvPr/>
        </p:nvSpPr>
        <p:spPr>
          <a:xfrm>
            <a:off x="411480" y="5541264"/>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Q7</a:t>
            </a:r>
            <a:endParaRPr lang="en-US" sz="1400" dirty="0"/>
          </a:p>
        </p:txBody>
      </p:sp>
      <p:sp>
        <p:nvSpPr>
          <p:cNvPr id="32" name="Text 30"/>
          <p:cNvSpPr/>
          <p:nvPr/>
        </p:nvSpPr>
        <p:spPr>
          <a:xfrm>
            <a:off x="1161288" y="5376672"/>
            <a:ext cx="4663440" cy="100584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How do HDI and GDP per capita relate to flood risk exposure — do wealthier regions show lower vulnerability?</a:t>
            </a:r>
            <a:endParaRPr lang="en-US" sz="1100" dirty="0"/>
          </a:p>
        </p:txBody>
      </p:sp>
      <p:sp>
        <p:nvSpPr>
          <p:cNvPr id="33" name="Shape 31"/>
          <p:cNvSpPr/>
          <p:nvPr/>
        </p:nvSpPr>
        <p:spPr>
          <a:xfrm>
            <a:off x="6263640" y="5266944"/>
            <a:ext cx="5669280" cy="1234440"/>
          </a:xfrm>
          <a:prstGeom prst="rect">
            <a:avLst/>
          </a:prstGeom>
          <a:solidFill>
            <a:srgbClr val="112244"/>
          </a:solidFill>
          <a:ln w="6350">
            <a:solidFill>
              <a:srgbClr val="1363DF"/>
            </a:solidFill>
            <a:prstDash val="solid"/>
          </a:ln>
        </p:spPr>
      </p:sp>
      <p:sp>
        <p:nvSpPr>
          <p:cNvPr id="34" name="Shape 32"/>
          <p:cNvSpPr/>
          <p:nvPr/>
        </p:nvSpPr>
        <p:spPr>
          <a:xfrm>
            <a:off x="6355080" y="5541264"/>
            <a:ext cx="640080" cy="640080"/>
          </a:xfrm>
          <a:prstGeom prst="ellipse">
            <a:avLst/>
          </a:prstGeom>
          <a:solidFill>
            <a:srgbClr val="1363DF"/>
          </a:solidFill>
          <a:ln w="12700">
            <a:solidFill>
              <a:srgbClr val="1363DF"/>
            </a:solidFill>
            <a:prstDash val="solid"/>
          </a:ln>
        </p:spPr>
      </p:sp>
      <p:sp>
        <p:nvSpPr>
          <p:cNvPr id="35" name="Text 33"/>
          <p:cNvSpPr/>
          <p:nvPr/>
        </p:nvSpPr>
        <p:spPr>
          <a:xfrm>
            <a:off x="6355080" y="5541264"/>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Q8</a:t>
            </a:r>
            <a:endParaRPr lang="en-US" sz="1400" dirty="0"/>
          </a:p>
        </p:txBody>
      </p:sp>
      <p:sp>
        <p:nvSpPr>
          <p:cNvPr id="36" name="Text 34"/>
          <p:cNvSpPr/>
          <p:nvPr/>
        </p:nvSpPr>
        <p:spPr>
          <a:xfrm>
            <a:off x="7104888" y="5376672"/>
            <a:ext cx="4663440" cy="100584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Which catchments should be prioritized for early-warning system deployment based on combined risk score and population count?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Exploratory Data Analysis — Key Observations</a:t>
            </a:r>
            <a:endParaRPr lang="en-US" sz="3000" dirty="0"/>
          </a:p>
        </p:txBody>
      </p:sp>
      <p:sp>
        <p:nvSpPr>
          <p:cNvPr id="4" name="Shape 2"/>
          <p:cNvSpPr/>
          <p:nvPr/>
        </p:nvSpPr>
        <p:spPr>
          <a:xfrm>
            <a:off x="320040" y="1143000"/>
            <a:ext cx="5669280" cy="16459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886200" y="1216152"/>
            <a:ext cx="1920240" cy="256032"/>
          </a:xfrm>
          <a:prstGeom prst="rect">
            <a:avLst/>
          </a:prstGeom>
          <a:solidFill>
            <a:srgbClr val="0B2545"/>
          </a:solidFill>
          <a:ln w="12700">
            <a:solidFill>
              <a:srgbClr val="0B2545"/>
            </a:solidFill>
            <a:prstDash val="solid"/>
          </a:ln>
        </p:spPr>
      </p:sp>
      <p:sp>
        <p:nvSpPr>
          <p:cNvPr id="6" name="Text 4"/>
          <p:cNvSpPr/>
          <p:nvPr/>
        </p:nvSpPr>
        <p:spPr>
          <a:xfrm>
            <a:off x="3886200" y="1225296"/>
            <a:ext cx="1920240" cy="237744"/>
          </a:xfrm>
          <a:prstGeom prst="rect">
            <a:avLst/>
          </a:prstGeom>
          <a:noFill/>
          <a:ln/>
        </p:spPr>
        <p:txBody>
          <a:bodyPr wrap="square" rtlCol="0" anchor="ctr"/>
          <a:lstStyle/>
          <a:p>
            <a:pPr marL="0" indent="0" algn="ctr">
              <a:buNone/>
            </a:pPr>
            <a:r>
              <a:rPr lang="en-US" sz="900" b="1" dirty="0">
                <a:solidFill>
                  <a:srgbClr val="32E0C4"/>
                </a:solidFill>
                <a:latin typeface="Calibri" pitchFamily="34" charset="0"/>
                <a:ea typeface="Calibri" pitchFamily="34" charset="-122"/>
                <a:cs typeface="Calibri" pitchFamily="34" charset="-120"/>
              </a:rPr>
              <a:t>Skewed Distribution</a:t>
            </a:r>
            <a:endParaRPr lang="en-US" sz="900" dirty="0"/>
          </a:p>
        </p:txBody>
      </p:sp>
      <p:sp>
        <p:nvSpPr>
          <p:cNvPr id="7" name="Text 5"/>
          <p:cNvSpPr/>
          <p:nvPr/>
        </p:nvSpPr>
        <p:spPr>
          <a:xfrm>
            <a:off x="411480" y="1234440"/>
            <a:ext cx="3383280" cy="32004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Flood Risk is Highly Skewed</a:t>
            </a:r>
            <a:endParaRPr lang="en-US" sz="1200" dirty="0"/>
          </a:p>
        </p:txBody>
      </p:sp>
      <p:sp>
        <p:nvSpPr>
          <p:cNvPr id="8" name="Shape 6"/>
          <p:cNvSpPr/>
          <p:nvPr/>
        </p:nvSpPr>
        <p:spPr>
          <a:xfrm>
            <a:off x="411480" y="1600200"/>
            <a:ext cx="5394960" cy="0"/>
          </a:xfrm>
          <a:prstGeom prst="line">
            <a:avLst/>
          </a:prstGeom>
          <a:noFill/>
          <a:ln w="12700">
            <a:solidFill>
              <a:srgbClr val="CBD5E1"/>
            </a:solidFill>
            <a:prstDash val="solid"/>
          </a:ln>
        </p:spPr>
      </p:sp>
      <p:sp>
        <p:nvSpPr>
          <p:cNvPr id="9" name="Text 7"/>
          <p:cNvSpPr/>
          <p:nvPr/>
        </p:nvSpPr>
        <p:spPr>
          <a:xfrm>
            <a:off x="411480" y="1673352"/>
            <a:ext cx="5486400" cy="10058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The Flood Risk Index is extremely right-skewed. The majority of catchments have values near zero, while a small cluster (primarily small-basin Cambisol/Acrisol areas) exhibit values up to 17× the mean, indicating concentrated pockets of high risk.</a:t>
            </a:r>
            <a:endParaRPr lang="en-US" sz="1100" dirty="0"/>
          </a:p>
        </p:txBody>
      </p:sp>
      <p:sp>
        <p:nvSpPr>
          <p:cNvPr id="10" name="Shape 8"/>
          <p:cNvSpPr/>
          <p:nvPr/>
        </p:nvSpPr>
        <p:spPr>
          <a:xfrm>
            <a:off x="6263640" y="1143000"/>
            <a:ext cx="5669280" cy="16459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1" name="Shape 9"/>
          <p:cNvSpPr/>
          <p:nvPr/>
        </p:nvSpPr>
        <p:spPr>
          <a:xfrm>
            <a:off x="9829800" y="1216152"/>
            <a:ext cx="1920240" cy="256032"/>
          </a:xfrm>
          <a:prstGeom prst="rect">
            <a:avLst/>
          </a:prstGeom>
          <a:solidFill>
            <a:srgbClr val="0B2545"/>
          </a:solidFill>
          <a:ln w="12700">
            <a:solidFill>
              <a:srgbClr val="0B2545"/>
            </a:solidFill>
            <a:prstDash val="solid"/>
          </a:ln>
        </p:spPr>
      </p:sp>
      <p:sp>
        <p:nvSpPr>
          <p:cNvPr id="12" name="Text 10"/>
          <p:cNvSpPr/>
          <p:nvPr/>
        </p:nvSpPr>
        <p:spPr>
          <a:xfrm>
            <a:off x="9829800" y="1225296"/>
            <a:ext cx="1920240" cy="237744"/>
          </a:xfrm>
          <a:prstGeom prst="rect">
            <a:avLst/>
          </a:prstGeom>
          <a:noFill/>
          <a:ln/>
        </p:spPr>
        <p:txBody>
          <a:bodyPr wrap="square" rtlCol="0" anchor="ctr"/>
          <a:lstStyle/>
          <a:p>
            <a:pPr marL="0" indent="0" algn="ctr">
              <a:buNone/>
            </a:pPr>
            <a:r>
              <a:rPr lang="en-US" sz="900" b="1" dirty="0">
                <a:solidFill>
                  <a:srgbClr val="32E0C4"/>
                </a:solidFill>
                <a:latin typeface="Calibri" pitchFamily="34" charset="0"/>
                <a:ea typeface="Calibri" pitchFamily="34" charset="-122"/>
                <a:cs typeface="Calibri" pitchFamily="34" charset="-120"/>
              </a:rPr>
              <a:t>Key Pattern</a:t>
            </a:r>
            <a:endParaRPr lang="en-US" sz="900" dirty="0"/>
          </a:p>
        </p:txBody>
      </p:sp>
      <p:sp>
        <p:nvSpPr>
          <p:cNvPr id="13" name="Text 11"/>
          <p:cNvSpPr/>
          <p:nvPr/>
        </p:nvSpPr>
        <p:spPr>
          <a:xfrm>
            <a:off x="6355080" y="1234440"/>
            <a:ext cx="3383280" cy="32004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Basin Size is the Strongest Differentiator</a:t>
            </a:r>
            <a:endParaRPr lang="en-US" sz="1200" dirty="0"/>
          </a:p>
        </p:txBody>
      </p:sp>
      <p:sp>
        <p:nvSpPr>
          <p:cNvPr id="14" name="Shape 12"/>
          <p:cNvSpPr/>
          <p:nvPr/>
        </p:nvSpPr>
        <p:spPr>
          <a:xfrm>
            <a:off x="6355080" y="1600200"/>
            <a:ext cx="5394960" cy="0"/>
          </a:xfrm>
          <a:prstGeom prst="line">
            <a:avLst/>
          </a:prstGeom>
          <a:noFill/>
          <a:ln w="12700">
            <a:solidFill>
              <a:srgbClr val="CBD5E1"/>
            </a:solidFill>
            <a:prstDash val="solid"/>
          </a:ln>
        </p:spPr>
      </p:sp>
      <p:sp>
        <p:nvSpPr>
          <p:cNvPr id="15" name="Text 13"/>
          <p:cNvSpPr/>
          <p:nvPr/>
        </p:nvSpPr>
        <p:spPr>
          <a:xfrm>
            <a:off x="6355080" y="1673352"/>
            <a:ext cx="5486400" cy="10058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Small basins average 4× higher Flood Risk Index than medium basins and orders of magnitude higher than large basins. This suggests that smaller, faster-responding watersheds accumulate risk more quickly.</a:t>
            </a:r>
            <a:endParaRPr lang="en-US" sz="1100" dirty="0"/>
          </a:p>
        </p:txBody>
      </p:sp>
      <p:sp>
        <p:nvSpPr>
          <p:cNvPr id="16" name="Shape 14"/>
          <p:cNvSpPr/>
          <p:nvPr/>
        </p:nvSpPr>
        <p:spPr>
          <a:xfrm>
            <a:off x="320040" y="2971800"/>
            <a:ext cx="5669280" cy="16459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7" name="Shape 15"/>
          <p:cNvSpPr/>
          <p:nvPr/>
        </p:nvSpPr>
        <p:spPr>
          <a:xfrm>
            <a:off x="3886200" y="3044952"/>
            <a:ext cx="1920240" cy="256032"/>
          </a:xfrm>
          <a:prstGeom prst="rect">
            <a:avLst/>
          </a:prstGeom>
          <a:solidFill>
            <a:srgbClr val="0B2545"/>
          </a:solidFill>
          <a:ln w="12700">
            <a:solidFill>
              <a:srgbClr val="0B2545"/>
            </a:solidFill>
            <a:prstDash val="solid"/>
          </a:ln>
        </p:spPr>
      </p:sp>
      <p:sp>
        <p:nvSpPr>
          <p:cNvPr id="18" name="Text 16"/>
          <p:cNvSpPr/>
          <p:nvPr/>
        </p:nvSpPr>
        <p:spPr>
          <a:xfrm>
            <a:off x="3886200" y="3054096"/>
            <a:ext cx="1920240" cy="237744"/>
          </a:xfrm>
          <a:prstGeom prst="rect">
            <a:avLst/>
          </a:prstGeom>
          <a:noFill/>
          <a:ln/>
        </p:spPr>
        <p:txBody>
          <a:bodyPr wrap="square" rtlCol="0" anchor="ctr"/>
          <a:lstStyle/>
          <a:p>
            <a:pPr marL="0" indent="0" algn="ctr">
              <a:buNone/>
            </a:pPr>
            <a:r>
              <a:rPr lang="en-US" sz="900" b="1" dirty="0">
                <a:solidFill>
                  <a:srgbClr val="32E0C4"/>
                </a:solidFill>
                <a:latin typeface="Calibri" pitchFamily="34" charset="0"/>
                <a:ea typeface="Calibri" pitchFamily="34" charset="-122"/>
                <a:cs typeface="Calibri" pitchFamily="34" charset="-120"/>
              </a:rPr>
              <a:t>Counter-Intuitive</a:t>
            </a:r>
            <a:endParaRPr lang="en-US" sz="900" dirty="0"/>
          </a:p>
        </p:txBody>
      </p:sp>
      <p:sp>
        <p:nvSpPr>
          <p:cNvPr id="19" name="Text 17"/>
          <p:cNvSpPr/>
          <p:nvPr/>
        </p:nvSpPr>
        <p:spPr>
          <a:xfrm>
            <a:off x="411480" y="3063240"/>
            <a:ext cx="3383280" cy="32004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Soil Controls Risk More Than Climate</a:t>
            </a:r>
            <a:endParaRPr lang="en-US" sz="1200" dirty="0"/>
          </a:p>
        </p:txBody>
      </p:sp>
      <p:sp>
        <p:nvSpPr>
          <p:cNvPr id="20" name="Shape 18"/>
          <p:cNvSpPr/>
          <p:nvPr/>
        </p:nvSpPr>
        <p:spPr>
          <a:xfrm>
            <a:off x="411480" y="3429000"/>
            <a:ext cx="5394960" cy="0"/>
          </a:xfrm>
          <a:prstGeom prst="line">
            <a:avLst/>
          </a:prstGeom>
          <a:noFill/>
          <a:ln w="12700">
            <a:solidFill>
              <a:srgbClr val="CBD5E1"/>
            </a:solidFill>
            <a:prstDash val="solid"/>
          </a:ln>
        </p:spPr>
      </p:sp>
      <p:sp>
        <p:nvSpPr>
          <p:cNvPr id="21" name="Text 19"/>
          <p:cNvSpPr/>
          <p:nvPr/>
        </p:nvSpPr>
        <p:spPr>
          <a:xfrm>
            <a:off x="411480" y="3502152"/>
            <a:ext cx="5486400" cy="10058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Cambisols (average FRI = 0.000006) and Acrisols (0.000005) show higher risk than Fluvisols (≈0), which despite being floodplain soils, appear in flatter terrain with more infrastructure. Climate type alone doesn't explain risk patterns.</a:t>
            </a:r>
            <a:endParaRPr lang="en-US" sz="1100" dirty="0"/>
          </a:p>
        </p:txBody>
      </p:sp>
      <p:sp>
        <p:nvSpPr>
          <p:cNvPr id="22" name="Shape 20"/>
          <p:cNvSpPr/>
          <p:nvPr/>
        </p:nvSpPr>
        <p:spPr>
          <a:xfrm>
            <a:off x="6263640" y="2971800"/>
            <a:ext cx="5669280" cy="16459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3" name="Shape 21"/>
          <p:cNvSpPr/>
          <p:nvPr/>
        </p:nvSpPr>
        <p:spPr>
          <a:xfrm>
            <a:off x="9829800" y="3044952"/>
            <a:ext cx="1920240" cy="256032"/>
          </a:xfrm>
          <a:prstGeom prst="rect">
            <a:avLst/>
          </a:prstGeom>
          <a:solidFill>
            <a:srgbClr val="0B2545"/>
          </a:solidFill>
          <a:ln w="12700">
            <a:solidFill>
              <a:srgbClr val="0B2545"/>
            </a:solidFill>
            <a:prstDash val="solid"/>
          </a:ln>
        </p:spPr>
      </p:sp>
      <p:sp>
        <p:nvSpPr>
          <p:cNvPr id="24" name="Text 22"/>
          <p:cNvSpPr/>
          <p:nvPr/>
        </p:nvSpPr>
        <p:spPr>
          <a:xfrm>
            <a:off x="9829800" y="3054096"/>
            <a:ext cx="1920240" cy="237744"/>
          </a:xfrm>
          <a:prstGeom prst="rect">
            <a:avLst/>
          </a:prstGeom>
          <a:noFill/>
          <a:ln/>
        </p:spPr>
        <p:txBody>
          <a:bodyPr wrap="square" rtlCol="0" anchor="ctr"/>
          <a:lstStyle/>
          <a:p>
            <a:pPr marL="0" indent="0" algn="ctr">
              <a:buNone/>
            </a:pPr>
            <a:r>
              <a:rPr lang="en-US" sz="900" b="1" dirty="0">
                <a:solidFill>
                  <a:srgbClr val="32E0C4"/>
                </a:solidFill>
                <a:latin typeface="Calibri" pitchFamily="34" charset="0"/>
                <a:ea typeface="Calibri" pitchFamily="34" charset="-122"/>
                <a:cs typeface="Calibri" pitchFamily="34" charset="-120"/>
              </a:rPr>
              <a:t>Land Use Impact</a:t>
            </a:r>
            <a:endParaRPr lang="en-US" sz="900" dirty="0"/>
          </a:p>
        </p:txBody>
      </p:sp>
      <p:sp>
        <p:nvSpPr>
          <p:cNvPr id="25" name="Text 23"/>
          <p:cNvSpPr/>
          <p:nvPr/>
        </p:nvSpPr>
        <p:spPr>
          <a:xfrm>
            <a:off x="6355080" y="3063240"/>
            <a:ext cx="3383280" cy="32004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Cropland Drives Drainage Intensity</a:t>
            </a:r>
            <a:endParaRPr lang="en-US" sz="1200" dirty="0"/>
          </a:p>
        </p:txBody>
      </p:sp>
      <p:sp>
        <p:nvSpPr>
          <p:cNvPr id="26" name="Shape 24"/>
          <p:cNvSpPr/>
          <p:nvPr/>
        </p:nvSpPr>
        <p:spPr>
          <a:xfrm>
            <a:off x="6355080" y="3429000"/>
            <a:ext cx="5394960" cy="0"/>
          </a:xfrm>
          <a:prstGeom prst="line">
            <a:avLst/>
          </a:prstGeom>
          <a:noFill/>
          <a:ln w="12700">
            <a:solidFill>
              <a:srgbClr val="CBD5E1"/>
            </a:solidFill>
            <a:prstDash val="solid"/>
          </a:ln>
        </p:spPr>
      </p:sp>
      <p:sp>
        <p:nvSpPr>
          <p:cNvPr id="27" name="Text 25"/>
          <p:cNvSpPr/>
          <p:nvPr/>
        </p:nvSpPr>
        <p:spPr>
          <a:xfrm>
            <a:off x="6355080" y="3502152"/>
            <a:ext cx="5486400" cy="10058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Average drainage density for cropland (0.000162) exceeds forest (0.000151) and mosaic vegetation (0.000149). Agricultural practices reduce natural infiltration, accelerating surface runoff and increasing downstream flood risk.</a:t>
            </a:r>
            <a:endParaRPr lang="en-US" sz="1100" dirty="0"/>
          </a:p>
        </p:txBody>
      </p:sp>
      <p:sp>
        <p:nvSpPr>
          <p:cNvPr id="28" name="Shape 26"/>
          <p:cNvSpPr/>
          <p:nvPr/>
        </p:nvSpPr>
        <p:spPr>
          <a:xfrm>
            <a:off x="320040" y="4800600"/>
            <a:ext cx="5669280" cy="16459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9" name="Shape 27"/>
          <p:cNvSpPr/>
          <p:nvPr/>
        </p:nvSpPr>
        <p:spPr>
          <a:xfrm>
            <a:off x="3886200" y="4873752"/>
            <a:ext cx="1920240" cy="256032"/>
          </a:xfrm>
          <a:prstGeom prst="rect">
            <a:avLst/>
          </a:prstGeom>
          <a:solidFill>
            <a:srgbClr val="0B2545"/>
          </a:solidFill>
          <a:ln w="12700">
            <a:solidFill>
              <a:srgbClr val="0B2545"/>
            </a:solidFill>
            <a:prstDash val="solid"/>
          </a:ln>
        </p:spPr>
      </p:sp>
      <p:sp>
        <p:nvSpPr>
          <p:cNvPr id="30" name="Text 28"/>
          <p:cNvSpPr/>
          <p:nvPr/>
        </p:nvSpPr>
        <p:spPr>
          <a:xfrm>
            <a:off x="3886200" y="4882896"/>
            <a:ext cx="1920240" cy="237744"/>
          </a:xfrm>
          <a:prstGeom prst="rect">
            <a:avLst/>
          </a:prstGeom>
          <a:noFill/>
          <a:ln/>
        </p:spPr>
        <p:txBody>
          <a:bodyPr wrap="square" rtlCol="0" anchor="ctr"/>
          <a:lstStyle/>
          <a:p>
            <a:pPr marL="0" indent="0" algn="ctr">
              <a:buNone/>
            </a:pPr>
            <a:r>
              <a:rPr lang="en-US" sz="900" b="1" dirty="0">
                <a:solidFill>
                  <a:srgbClr val="32E0C4"/>
                </a:solidFill>
                <a:latin typeface="Calibri" pitchFamily="34" charset="0"/>
                <a:ea typeface="Calibri" pitchFamily="34" charset="-122"/>
                <a:cs typeface="Calibri" pitchFamily="34" charset="-120"/>
              </a:rPr>
              <a:t>Population Insight</a:t>
            </a:r>
            <a:endParaRPr lang="en-US" sz="900" dirty="0"/>
          </a:p>
        </p:txBody>
      </p:sp>
      <p:sp>
        <p:nvSpPr>
          <p:cNvPr id="31" name="Text 29"/>
          <p:cNvSpPr/>
          <p:nvPr/>
        </p:nvSpPr>
        <p:spPr>
          <a:xfrm>
            <a:off x="411480" y="4892040"/>
            <a:ext cx="3383280" cy="32004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Population Risk Skews Low</a:t>
            </a:r>
            <a:endParaRPr lang="en-US" sz="1200" dirty="0"/>
          </a:p>
        </p:txBody>
      </p:sp>
      <p:sp>
        <p:nvSpPr>
          <p:cNvPr id="32" name="Shape 30"/>
          <p:cNvSpPr/>
          <p:nvPr/>
        </p:nvSpPr>
        <p:spPr>
          <a:xfrm>
            <a:off x="411480" y="5257800"/>
            <a:ext cx="5394960" cy="0"/>
          </a:xfrm>
          <a:prstGeom prst="line">
            <a:avLst/>
          </a:prstGeom>
          <a:noFill/>
          <a:ln w="12700">
            <a:solidFill>
              <a:srgbClr val="CBD5E1"/>
            </a:solidFill>
            <a:prstDash val="solid"/>
          </a:ln>
        </p:spPr>
      </p:sp>
      <p:sp>
        <p:nvSpPr>
          <p:cNvPr id="33" name="Text 31"/>
          <p:cNvSpPr/>
          <p:nvPr/>
        </p:nvSpPr>
        <p:spPr>
          <a:xfrm>
            <a:off x="411480" y="5330952"/>
            <a:ext cx="5486400" cy="10058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93 catchments (60%) are Low risk, 29 (19%) are Medium, and 33 (21%) are High risk. However, High-risk basins are not necessarily the most densely populated — pointing to a mismatch between risk concentration and human exposure.</a:t>
            </a:r>
            <a:endParaRPr lang="en-US" sz="1100" dirty="0"/>
          </a:p>
        </p:txBody>
      </p:sp>
      <p:sp>
        <p:nvSpPr>
          <p:cNvPr id="34" name="Shape 32"/>
          <p:cNvSpPr/>
          <p:nvPr/>
        </p:nvSpPr>
        <p:spPr>
          <a:xfrm>
            <a:off x="6263640" y="4800600"/>
            <a:ext cx="5669280" cy="16459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35" name="Shape 33"/>
          <p:cNvSpPr/>
          <p:nvPr/>
        </p:nvSpPr>
        <p:spPr>
          <a:xfrm>
            <a:off x="9829800" y="4873752"/>
            <a:ext cx="1920240" cy="256032"/>
          </a:xfrm>
          <a:prstGeom prst="rect">
            <a:avLst/>
          </a:prstGeom>
          <a:solidFill>
            <a:srgbClr val="0B2545"/>
          </a:solidFill>
          <a:ln w="12700">
            <a:solidFill>
              <a:srgbClr val="0B2545"/>
            </a:solidFill>
            <a:prstDash val="solid"/>
          </a:ln>
        </p:spPr>
      </p:sp>
      <p:sp>
        <p:nvSpPr>
          <p:cNvPr id="36" name="Text 34"/>
          <p:cNvSpPr/>
          <p:nvPr/>
        </p:nvSpPr>
        <p:spPr>
          <a:xfrm>
            <a:off x="9829800" y="4882896"/>
            <a:ext cx="1920240" cy="237744"/>
          </a:xfrm>
          <a:prstGeom prst="rect">
            <a:avLst/>
          </a:prstGeom>
          <a:noFill/>
          <a:ln/>
        </p:spPr>
        <p:txBody>
          <a:bodyPr wrap="square" rtlCol="0" anchor="ctr"/>
          <a:lstStyle/>
          <a:p>
            <a:pPr marL="0" indent="0" algn="ctr">
              <a:buNone/>
            </a:pPr>
            <a:r>
              <a:rPr lang="en-US" sz="900" b="1" dirty="0">
                <a:solidFill>
                  <a:srgbClr val="32E0C4"/>
                </a:solidFill>
                <a:latin typeface="Calibri" pitchFamily="34" charset="0"/>
                <a:ea typeface="Calibri" pitchFamily="34" charset="-122"/>
                <a:cs typeface="Calibri" pitchFamily="34" charset="-120"/>
              </a:rPr>
              <a:t>Socioeconomic Link</a:t>
            </a:r>
            <a:endParaRPr lang="en-US" sz="900" dirty="0"/>
          </a:p>
        </p:txBody>
      </p:sp>
      <p:sp>
        <p:nvSpPr>
          <p:cNvPr id="37" name="Text 35"/>
          <p:cNvSpPr/>
          <p:nvPr/>
        </p:nvSpPr>
        <p:spPr>
          <a:xfrm>
            <a:off x="6355080" y="4892040"/>
            <a:ext cx="3383280" cy="32004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HDI and GDP Show Inverse Correlation</a:t>
            </a:r>
            <a:endParaRPr lang="en-US" sz="1200" dirty="0"/>
          </a:p>
        </p:txBody>
      </p:sp>
      <p:sp>
        <p:nvSpPr>
          <p:cNvPr id="38" name="Shape 36"/>
          <p:cNvSpPr/>
          <p:nvPr/>
        </p:nvSpPr>
        <p:spPr>
          <a:xfrm>
            <a:off x="6355080" y="5257800"/>
            <a:ext cx="5394960" cy="0"/>
          </a:xfrm>
          <a:prstGeom prst="line">
            <a:avLst/>
          </a:prstGeom>
          <a:noFill/>
          <a:ln w="12700">
            <a:solidFill>
              <a:srgbClr val="CBD5E1"/>
            </a:solidFill>
            <a:prstDash val="solid"/>
          </a:ln>
        </p:spPr>
      </p:sp>
      <p:sp>
        <p:nvSpPr>
          <p:cNvPr id="39" name="Text 37"/>
          <p:cNvSpPr/>
          <p:nvPr/>
        </p:nvSpPr>
        <p:spPr>
          <a:xfrm>
            <a:off x="6355080" y="5330952"/>
            <a:ext cx="5486400" cy="10058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Higher-HDI catchments in Temperate zones tend to exhibit slightly lower flood risk indices, likely reflecting better drainage infrastructure and land use planning. Tropical low-HDI basins cluster toward higher risk.</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Chart 1 — Soil Type Impact on Flood Risk</a:t>
            </a:r>
            <a:endParaRPr lang="en-US" sz="3000" dirty="0"/>
          </a:p>
        </p:txBody>
      </p:sp>
      <p:graphicFrame>
        <p:nvGraphicFramePr>
          <p:cNvPr id="4" name="Chart 0"/>
          <p:cNvGraphicFramePr/>
          <p:nvPr/>
        </p:nvGraphicFramePr>
        <p:xfrm>
          <a:off x="365760" y="1097280"/>
          <a:ext cx="7132320" cy="5303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097280"/>
            <a:ext cx="4160520" cy="53035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6" name="Text 3"/>
          <p:cNvSpPr/>
          <p:nvPr/>
        </p:nvSpPr>
        <p:spPr>
          <a:xfrm>
            <a:off x="7818120" y="1234440"/>
            <a:ext cx="384048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Chart Explanation</a:t>
            </a:r>
            <a:endParaRPr lang="en-US" sz="1400" dirty="0"/>
          </a:p>
        </p:txBody>
      </p:sp>
      <p:sp>
        <p:nvSpPr>
          <p:cNvPr id="7" name="Shape 4"/>
          <p:cNvSpPr/>
          <p:nvPr/>
        </p:nvSpPr>
        <p:spPr>
          <a:xfrm>
            <a:off x="7818120" y="1600200"/>
            <a:ext cx="3749040" cy="0"/>
          </a:xfrm>
          <a:prstGeom prst="line">
            <a:avLst/>
          </a:prstGeom>
          <a:noFill/>
          <a:ln w="12700">
            <a:solidFill>
              <a:srgbClr val="CBD5E1"/>
            </a:solidFill>
            <a:prstDash val="solid"/>
          </a:ln>
        </p:spPr>
      </p:sp>
      <p:sp>
        <p:nvSpPr>
          <p:cNvPr id="8" name="Text 5"/>
          <p:cNvSpPr/>
          <p:nvPr/>
        </p:nvSpPr>
        <p:spPr>
          <a:xfrm>
            <a:off x="7818120" y="1691640"/>
            <a:ext cx="3840480" cy="256032"/>
          </a:xfrm>
          <a:prstGeom prst="rect">
            <a:avLst/>
          </a:prstGeom>
          <a:noFill/>
          <a:ln/>
        </p:spPr>
        <p:txBody>
          <a:bodyPr wrap="square" rtlCol="0" anchor="ctr"/>
          <a:lstStyle/>
          <a:p>
            <a:pPr marL="0" indent="0">
              <a:buNone/>
            </a:pPr>
            <a:r>
              <a:rPr lang="en-US" sz="1100" b="1" dirty="0">
                <a:solidFill>
                  <a:srgbClr val="1363DF"/>
                </a:solidFill>
                <a:latin typeface="Calibri" pitchFamily="34" charset="0"/>
                <a:ea typeface="Calibri" pitchFamily="34" charset="-122"/>
                <a:cs typeface="Calibri" pitchFamily="34" charset="-120"/>
              </a:rPr>
              <a:t>What It Shows</a:t>
            </a:r>
            <a:endParaRPr lang="en-US" sz="1100" dirty="0"/>
          </a:p>
        </p:txBody>
      </p:sp>
      <p:sp>
        <p:nvSpPr>
          <p:cNvPr id="9" name="Text 6"/>
          <p:cNvSpPr/>
          <p:nvPr/>
        </p:nvSpPr>
        <p:spPr>
          <a:xfrm>
            <a:off x="7818120" y="1947672"/>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A vertical bar chart comparing the average Flood Risk Index for each soil type across all 155 catchments.</a:t>
            </a:r>
            <a:endParaRPr lang="en-US" sz="1000" dirty="0"/>
          </a:p>
        </p:txBody>
      </p:sp>
      <p:sp>
        <p:nvSpPr>
          <p:cNvPr id="10" name="Text 7"/>
          <p:cNvSpPr/>
          <p:nvPr/>
        </p:nvSpPr>
        <p:spPr>
          <a:xfrm>
            <a:off x="7818120" y="2624328"/>
            <a:ext cx="3840480" cy="256032"/>
          </a:xfrm>
          <a:prstGeom prst="rect">
            <a:avLst/>
          </a:prstGeom>
          <a:noFill/>
          <a:ln/>
        </p:spPr>
        <p:txBody>
          <a:bodyPr wrap="square" rtlCol="0" anchor="ctr"/>
          <a:lstStyle/>
          <a:p>
            <a:pPr marL="0" indent="0">
              <a:buNone/>
            </a:pPr>
            <a:r>
              <a:rPr lang="en-US" sz="1100" b="1" dirty="0">
                <a:solidFill>
                  <a:srgbClr val="1363DF"/>
                </a:solidFill>
                <a:latin typeface="Calibri" pitchFamily="34" charset="0"/>
                <a:ea typeface="Calibri" pitchFamily="34" charset="-122"/>
                <a:cs typeface="Calibri" pitchFamily="34" charset="-120"/>
              </a:rPr>
              <a:t>#1 Cambisols</a:t>
            </a:r>
            <a:endParaRPr lang="en-US" sz="1100" dirty="0"/>
          </a:p>
        </p:txBody>
      </p:sp>
      <p:sp>
        <p:nvSpPr>
          <p:cNvPr id="11" name="Text 8"/>
          <p:cNvSpPr/>
          <p:nvPr/>
        </p:nvSpPr>
        <p:spPr>
          <a:xfrm>
            <a:off x="7818120" y="2880360"/>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Highest average FRI (0.000006). These moderately weathered soils have limited drainage — common in hilly/mountainous terrain.</a:t>
            </a:r>
            <a:endParaRPr lang="en-US" sz="1000" dirty="0"/>
          </a:p>
        </p:txBody>
      </p:sp>
      <p:sp>
        <p:nvSpPr>
          <p:cNvPr id="12" name="Text 9"/>
          <p:cNvSpPr/>
          <p:nvPr/>
        </p:nvSpPr>
        <p:spPr>
          <a:xfrm>
            <a:off x="7818120" y="3557016"/>
            <a:ext cx="3840480" cy="256032"/>
          </a:xfrm>
          <a:prstGeom prst="rect">
            <a:avLst/>
          </a:prstGeom>
          <a:noFill/>
          <a:ln/>
        </p:spPr>
        <p:txBody>
          <a:bodyPr wrap="square" rtlCol="0" anchor="ctr"/>
          <a:lstStyle/>
          <a:p>
            <a:pPr marL="0" indent="0">
              <a:buNone/>
            </a:pPr>
            <a:r>
              <a:rPr lang="en-US" sz="1100" b="1" dirty="0">
                <a:solidFill>
                  <a:srgbClr val="1363DF"/>
                </a:solidFill>
                <a:latin typeface="Calibri" pitchFamily="34" charset="0"/>
                <a:ea typeface="Calibri" pitchFamily="34" charset="-122"/>
                <a:cs typeface="Calibri" pitchFamily="34" charset="-120"/>
              </a:rPr>
              <a:t>#2 Acrisols</a:t>
            </a:r>
            <a:endParaRPr lang="en-US" sz="1100" dirty="0"/>
          </a:p>
        </p:txBody>
      </p:sp>
      <p:sp>
        <p:nvSpPr>
          <p:cNvPr id="13" name="Text 10"/>
          <p:cNvSpPr/>
          <p:nvPr/>
        </p:nvSpPr>
        <p:spPr>
          <a:xfrm>
            <a:off x="7818120" y="3813048"/>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Second highest (0.000005). Highly leached tropical soils with poor structural stability, prone to saturation.</a:t>
            </a:r>
            <a:endParaRPr lang="en-US" sz="1000" dirty="0"/>
          </a:p>
        </p:txBody>
      </p:sp>
      <p:sp>
        <p:nvSpPr>
          <p:cNvPr id="14" name="Text 11"/>
          <p:cNvSpPr/>
          <p:nvPr/>
        </p:nvSpPr>
        <p:spPr>
          <a:xfrm>
            <a:off x="7818120" y="4489704"/>
            <a:ext cx="3840480" cy="256032"/>
          </a:xfrm>
          <a:prstGeom prst="rect">
            <a:avLst/>
          </a:prstGeom>
          <a:noFill/>
          <a:ln/>
        </p:spPr>
        <p:txBody>
          <a:bodyPr wrap="square" rtlCol="0" anchor="ctr"/>
          <a:lstStyle/>
          <a:p>
            <a:pPr marL="0" indent="0">
              <a:buNone/>
            </a:pPr>
            <a:r>
              <a:rPr lang="en-US" sz="1100" b="1" dirty="0">
                <a:solidFill>
                  <a:srgbClr val="1363DF"/>
                </a:solidFill>
                <a:latin typeface="Calibri" pitchFamily="34" charset="0"/>
                <a:ea typeface="Calibri" pitchFamily="34" charset="-122"/>
                <a:cs typeface="Calibri" pitchFamily="34" charset="-120"/>
              </a:rPr>
              <a:t>Fluvisols = 0</a:t>
            </a:r>
            <a:endParaRPr lang="en-US" sz="1100" dirty="0"/>
          </a:p>
        </p:txBody>
      </p:sp>
      <p:sp>
        <p:nvSpPr>
          <p:cNvPr id="15" name="Text 12"/>
          <p:cNvSpPr/>
          <p:nvPr/>
        </p:nvSpPr>
        <p:spPr>
          <a:xfrm>
            <a:off x="7818120" y="4745736"/>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Fluvial soils (riverbeds) show near-zero index — they are already factored into drainage zone planning.</a:t>
            </a:r>
            <a:endParaRPr lang="en-US" sz="1000" dirty="0"/>
          </a:p>
        </p:txBody>
      </p:sp>
      <p:sp>
        <p:nvSpPr>
          <p:cNvPr id="16" name="Text 13"/>
          <p:cNvSpPr/>
          <p:nvPr/>
        </p:nvSpPr>
        <p:spPr>
          <a:xfrm>
            <a:off x="7818120" y="5422392"/>
            <a:ext cx="3840480" cy="256032"/>
          </a:xfrm>
          <a:prstGeom prst="rect">
            <a:avLst/>
          </a:prstGeom>
          <a:noFill/>
          <a:ln/>
        </p:spPr>
        <p:txBody>
          <a:bodyPr wrap="square" rtlCol="0" anchor="ctr"/>
          <a:lstStyle/>
          <a:p>
            <a:pPr marL="0" indent="0">
              <a:buNone/>
            </a:pPr>
            <a:r>
              <a:rPr lang="en-US" sz="1100" b="1" dirty="0">
                <a:solidFill>
                  <a:srgbClr val="1363DF"/>
                </a:solidFill>
                <a:latin typeface="Calibri" pitchFamily="34" charset="0"/>
                <a:ea typeface="Calibri" pitchFamily="34" charset="-122"/>
                <a:cs typeface="Calibri" pitchFamily="34" charset="-120"/>
              </a:rPr>
              <a:t>Business Action</a:t>
            </a:r>
            <a:endParaRPr lang="en-US" sz="1100" dirty="0"/>
          </a:p>
        </p:txBody>
      </p:sp>
      <p:sp>
        <p:nvSpPr>
          <p:cNvPr id="17" name="Text 14"/>
          <p:cNvSpPr/>
          <p:nvPr/>
        </p:nvSpPr>
        <p:spPr>
          <a:xfrm>
            <a:off x="7818120" y="5678424"/>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Priority drainage investment should target Cambisol and Acrisol dominated catchments.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Chart 2 — Population Exposure by Risk Level</a:t>
            </a:r>
            <a:endParaRPr lang="en-US" sz="3000" dirty="0"/>
          </a:p>
        </p:txBody>
      </p:sp>
      <p:graphicFrame>
        <p:nvGraphicFramePr>
          <p:cNvPr id="4" name="Chart 0"/>
          <p:cNvGraphicFramePr/>
          <p:nvPr/>
        </p:nvGraphicFramePr>
        <p:xfrm>
          <a:off x="365760" y="1097280"/>
          <a:ext cx="5943600" cy="5303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492240" y="1097280"/>
            <a:ext cx="5349240" cy="53035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6" name="Text 3"/>
          <p:cNvSpPr/>
          <p:nvPr/>
        </p:nvSpPr>
        <p:spPr>
          <a:xfrm>
            <a:off x="6629400" y="1234440"/>
            <a:ext cx="502920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Chart Explanation</a:t>
            </a:r>
            <a:endParaRPr lang="en-US" sz="1400" dirty="0"/>
          </a:p>
        </p:txBody>
      </p:sp>
      <p:sp>
        <p:nvSpPr>
          <p:cNvPr id="7" name="Shape 4"/>
          <p:cNvSpPr/>
          <p:nvPr/>
        </p:nvSpPr>
        <p:spPr>
          <a:xfrm>
            <a:off x="6629400" y="1600200"/>
            <a:ext cx="5029200" cy="0"/>
          </a:xfrm>
          <a:prstGeom prst="line">
            <a:avLst/>
          </a:prstGeom>
          <a:noFill/>
          <a:ln w="12700">
            <a:solidFill>
              <a:srgbClr val="CBD5E1"/>
            </a:solidFill>
            <a:prstDash val="solid"/>
          </a:ln>
        </p:spPr>
      </p:sp>
      <p:sp>
        <p:nvSpPr>
          <p:cNvPr id="8" name="Shape 5"/>
          <p:cNvSpPr/>
          <p:nvPr/>
        </p:nvSpPr>
        <p:spPr>
          <a:xfrm>
            <a:off x="6629400" y="1828800"/>
            <a:ext cx="5029200" cy="1325880"/>
          </a:xfrm>
          <a:prstGeom prst="rect">
            <a:avLst/>
          </a:prstGeom>
          <a:solidFill>
            <a:srgbClr val="F0F5FF"/>
          </a:solidFill>
          <a:ln w="12700">
            <a:solidFill>
              <a:srgbClr val="CBD5E1"/>
            </a:solidFill>
            <a:prstDash val="solid"/>
          </a:ln>
        </p:spPr>
      </p:sp>
      <p:sp>
        <p:nvSpPr>
          <p:cNvPr id="9" name="Shape 6"/>
          <p:cNvSpPr/>
          <p:nvPr/>
        </p:nvSpPr>
        <p:spPr>
          <a:xfrm>
            <a:off x="6629400" y="1828800"/>
            <a:ext cx="73152" cy="1325880"/>
          </a:xfrm>
          <a:prstGeom prst="rect">
            <a:avLst/>
          </a:prstGeom>
          <a:solidFill>
            <a:srgbClr val="0D7377"/>
          </a:solidFill>
          <a:ln w="12700">
            <a:solidFill>
              <a:srgbClr val="0D7377"/>
            </a:solidFill>
            <a:prstDash val="solid"/>
          </a:ln>
        </p:spPr>
      </p:sp>
      <p:sp>
        <p:nvSpPr>
          <p:cNvPr id="10" name="Text 7"/>
          <p:cNvSpPr/>
          <p:nvPr/>
        </p:nvSpPr>
        <p:spPr>
          <a:xfrm>
            <a:off x="6766560" y="1901952"/>
            <a:ext cx="3200400" cy="274320"/>
          </a:xfrm>
          <a:prstGeom prst="rect">
            <a:avLst/>
          </a:prstGeom>
          <a:noFill/>
          <a:ln/>
        </p:spPr>
        <p:txBody>
          <a:bodyPr wrap="square"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Low Risk</a:t>
            </a:r>
            <a:endParaRPr lang="en-US" sz="1300" dirty="0"/>
          </a:p>
        </p:txBody>
      </p:sp>
      <p:sp>
        <p:nvSpPr>
          <p:cNvPr id="11" name="Text 8"/>
          <p:cNvSpPr/>
          <p:nvPr/>
        </p:nvSpPr>
        <p:spPr>
          <a:xfrm>
            <a:off x="10149840" y="1901952"/>
            <a:ext cx="1371600" cy="274320"/>
          </a:xfrm>
          <a:prstGeom prst="rect">
            <a:avLst/>
          </a:prstGeom>
          <a:noFill/>
          <a:ln/>
        </p:spPr>
        <p:txBody>
          <a:bodyPr wrap="square" rtlCol="0" anchor="ctr"/>
          <a:lstStyle/>
          <a:p>
            <a:pPr marL="0" indent="0" algn="r">
              <a:buNone/>
            </a:pPr>
            <a:r>
              <a:rPr lang="en-US" sz="1300" b="1" dirty="0">
                <a:solidFill>
                  <a:srgbClr val="0B2545"/>
                </a:solidFill>
                <a:latin typeface="Calibri" pitchFamily="34" charset="0"/>
                <a:ea typeface="Calibri" pitchFamily="34" charset="-122"/>
                <a:cs typeface="Calibri" pitchFamily="34" charset="-120"/>
              </a:rPr>
              <a:t>93 (60%)</a:t>
            </a:r>
            <a:endParaRPr lang="en-US" sz="1300" dirty="0"/>
          </a:p>
        </p:txBody>
      </p:sp>
      <p:sp>
        <p:nvSpPr>
          <p:cNvPr id="12" name="Text 9"/>
          <p:cNvSpPr/>
          <p:nvPr/>
        </p:nvSpPr>
        <p:spPr>
          <a:xfrm>
            <a:off x="6766560" y="2212848"/>
            <a:ext cx="4297680" cy="7772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Majority of catchments are classified Low risk — primarily large basins in Vertisol/Luvisol areas with better natural drainage.</a:t>
            </a:r>
            <a:endParaRPr lang="en-US" sz="1100" dirty="0"/>
          </a:p>
        </p:txBody>
      </p:sp>
      <p:sp>
        <p:nvSpPr>
          <p:cNvPr id="13" name="Shape 10"/>
          <p:cNvSpPr/>
          <p:nvPr/>
        </p:nvSpPr>
        <p:spPr>
          <a:xfrm>
            <a:off x="6629400" y="3337560"/>
            <a:ext cx="5029200" cy="1325880"/>
          </a:xfrm>
          <a:prstGeom prst="rect">
            <a:avLst/>
          </a:prstGeom>
          <a:solidFill>
            <a:srgbClr val="F0F5FF"/>
          </a:solidFill>
          <a:ln w="12700">
            <a:solidFill>
              <a:srgbClr val="CBD5E1"/>
            </a:solidFill>
            <a:prstDash val="solid"/>
          </a:ln>
        </p:spPr>
      </p:sp>
      <p:sp>
        <p:nvSpPr>
          <p:cNvPr id="14" name="Shape 11"/>
          <p:cNvSpPr/>
          <p:nvPr/>
        </p:nvSpPr>
        <p:spPr>
          <a:xfrm>
            <a:off x="6629400" y="3337560"/>
            <a:ext cx="73152" cy="1325880"/>
          </a:xfrm>
          <a:prstGeom prst="rect">
            <a:avLst/>
          </a:prstGeom>
          <a:solidFill>
            <a:srgbClr val="E63946"/>
          </a:solidFill>
          <a:ln w="12700">
            <a:solidFill>
              <a:srgbClr val="E63946"/>
            </a:solidFill>
            <a:prstDash val="solid"/>
          </a:ln>
        </p:spPr>
      </p:sp>
      <p:sp>
        <p:nvSpPr>
          <p:cNvPr id="15" name="Text 12"/>
          <p:cNvSpPr/>
          <p:nvPr/>
        </p:nvSpPr>
        <p:spPr>
          <a:xfrm>
            <a:off x="6766560" y="3410712"/>
            <a:ext cx="3200400" cy="274320"/>
          </a:xfrm>
          <a:prstGeom prst="rect">
            <a:avLst/>
          </a:prstGeom>
          <a:noFill/>
          <a:ln/>
        </p:spPr>
        <p:txBody>
          <a:bodyPr wrap="square" rtlCol="0" anchor="ctr"/>
          <a:lstStyle/>
          <a:p>
            <a:pPr marL="0" indent="0">
              <a:buNone/>
            </a:pPr>
            <a:r>
              <a:rPr lang="en-US" sz="1300" b="1" dirty="0">
                <a:solidFill>
                  <a:srgbClr val="E63946"/>
                </a:solidFill>
                <a:latin typeface="Calibri" pitchFamily="34" charset="0"/>
                <a:ea typeface="Calibri" pitchFamily="34" charset="-122"/>
                <a:cs typeface="Calibri" pitchFamily="34" charset="-120"/>
              </a:rPr>
              <a:t>High Risk</a:t>
            </a:r>
            <a:endParaRPr lang="en-US" sz="1300" dirty="0"/>
          </a:p>
        </p:txBody>
      </p:sp>
      <p:sp>
        <p:nvSpPr>
          <p:cNvPr id="16" name="Text 13"/>
          <p:cNvSpPr/>
          <p:nvPr/>
        </p:nvSpPr>
        <p:spPr>
          <a:xfrm>
            <a:off x="10149840" y="3410712"/>
            <a:ext cx="1371600" cy="274320"/>
          </a:xfrm>
          <a:prstGeom prst="rect">
            <a:avLst/>
          </a:prstGeom>
          <a:noFill/>
          <a:ln/>
        </p:spPr>
        <p:txBody>
          <a:bodyPr wrap="square" rtlCol="0" anchor="ctr"/>
          <a:lstStyle/>
          <a:p>
            <a:pPr marL="0" indent="0" algn="r">
              <a:buNone/>
            </a:pPr>
            <a:r>
              <a:rPr lang="en-US" sz="1300" b="1" dirty="0">
                <a:solidFill>
                  <a:srgbClr val="0B2545"/>
                </a:solidFill>
                <a:latin typeface="Calibri" pitchFamily="34" charset="0"/>
                <a:ea typeface="Calibri" pitchFamily="34" charset="-122"/>
                <a:cs typeface="Calibri" pitchFamily="34" charset="-120"/>
              </a:rPr>
              <a:t>33 (21%)</a:t>
            </a:r>
            <a:endParaRPr lang="en-US" sz="1300" dirty="0"/>
          </a:p>
        </p:txBody>
      </p:sp>
      <p:sp>
        <p:nvSpPr>
          <p:cNvPr id="17" name="Text 14"/>
          <p:cNvSpPr/>
          <p:nvPr/>
        </p:nvSpPr>
        <p:spPr>
          <a:xfrm>
            <a:off x="6766560" y="3721608"/>
            <a:ext cx="4297680" cy="7772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21% of catchments are High risk. These are predominantly Small basins with Cambisols/Acrisols soil and Cropland cover — urgent intervention priority.</a:t>
            </a:r>
            <a:endParaRPr lang="en-US" sz="1100" dirty="0"/>
          </a:p>
        </p:txBody>
      </p:sp>
      <p:sp>
        <p:nvSpPr>
          <p:cNvPr id="18" name="Shape 15"/>
          <p:cNvSpPr/>
          <p:nvPr/>
        </p:nvSpPr>
        <p:spPr>
          <a:xfrm>
            <a:off x="6629400" y="4846320"/>
            <a:ext cx="5029200" cy="1325880"/>
          </a:xfrm>
          <a:prstGeom prst="rect">
            <a:avLst/>
          </a:prstGeom>
          <a:solidFill>
            <a:srgbClr val="F0F5FF"/>
          </a:solidFill>
          <a:ln w="12700">
            <a:solidFill>
              <a:srgbClr val="CBD5E1"/>
            </a:solidFill>
            <a:prstDash val="solid"/>
          </a:ln>
        </p:spPr>
      </p:sp>
      <p:sp>
        <p:nvSpPr>
          <p:cNvPr id="19" name="Shape 16"/>
          <p:cNvSpPr/>
          <p:nvPr/>
        </p:nvSpPr>
        <p:spPr>
          <a:xfrm>
            <a:off x="6629400" y="4846320"/>
            <a:ext cx="73152" cy="1325880"/>
          </a:xfrm>
          <a:prstGeom prst="rect">
            <a:avLst/>
          </a:prstGeom>
          <a:solidFill>
            <a:srgbClr val="F4A261"/>
          </a:solidFill>
          <a:ln w="12700">
            <a:solidFill>
              <a:srgbClr val="F4A261"/>
            </a:solidFill>
            <a:prstDash val="solid"/>
          </a:ln>
        </p:spPr>
      </p:sp>
      <p:sp>
        <p:nvSpPr>
          <p:cNvPr id="20" name="Text 17"/>
          <p:cNvSpPr/>
          <p:nvPr/>
        </p:nvSpPr>
        <p:spPr>
          <a:xfrm>
            <a:off x="6766560" y="4919472"/>
            <a:ext cx="3200400" cy="274320"/>
          </a:xfrm>
          <a:prstGeom prst="rect">
            <a:avLst/>
          </a:prstGeom>
          <a:noFill/>
          <a:ln/>
        </p:spPr>
        <p:txBody>
          <a:bodyPr wrap="square" rtlCol="0" anchor="ctr"/>
          <a:lstStyle/>
          <a:p>
            <a:pPr marL="0" indent="0">
              <a:buNone/>
            </a:pPr>
            <a:r>
              <a:rPr lang="en-US" sz="1300" b="1" dirty="0">
                <a:solidFill>
                  <a:srgbClr val="F4A261"/>
                </a:solidFill>
                <a:latin typeface="Calibri" pitchFamily="34" charset="0"/>
                <a:ea typeface="Calibri" pitchFamily="34" charset="-122"/>
                <a:cs typeface="Calibri" pitchFamily="34" charset="-120"/>
              </a:rPr>
              <a:t>Medium Risk</a:t>
            </a:r>
            <a:endParaRPr lang="en-US" sz="1300" dirty="0"/>
          </a:p>
        </p:txBody>
      </p:sp>
      <p:sp>
        <p:nvSpPr>
          <p:cNvPr id="21" name="Text 18"/>
          <p:cNvSpPr/>
          <p:nvPr/>
        </p:nvSpPr>
        <p:spPr>
          <a:xfrm>
            <a:off x="10149840" y="4919472"/>
            <a:ext cx="1371600" cy="274320"/>
          </a:xfrm>
          <a:prstGeom prst="rect">
            <a:avLst/>
          </a:prstGeom>
          <a:noFill/>
          <a:ln/>
        </p:spPr>
        <p:txBody>
          <a:bodyPr wrap="square" rtlCol="0" anchor="ctr"/>
          <a:lstStyle/>
          <a:p>
            <a:pPr marL="0" indent="0" algn="r">
              <a:buNone/>
            </a:pPr>
            <a:r>
              <a:rPr lang="en-US" sz="1300" b="1" dirty="0">
                <a:solidFill>
                  <a:srgbClr val="0B2545"/>
                </a:solidFill>
                <a:latin typeface="Calibri" pitchFamily="34" charset="0"/>
                <a:ea typeface="Calibri" pitchFamily="34" charset="-122"/>
                <a:cs typeface="Calibri" pitchFamily="34" charset="-120"/>
              </a:rPr>
              <a:t>29 (19%)</a:t>
            </a:r>
            <a:endParaRPr lang="en-US" sz="1300" dirty="0"/>
          </a:p>
        </p:txBody>
      </p:sp>
      <p:sp>
        <p:nvSpPr>
          <p:cNvPr id="22" name="Text 19"/>
          <p:cNvSpPr/>
          <p:nvPr/>
        </p:nvSpPr>
        <p:spPr>
          <a:xfrm>
            <a:off x="6766560" y="5230368"/>
            <a:ext cx="4297680" cy="7772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Medium risk areas — require monitoring and moderate infrastructure investment in drainage and early-warning systems.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Chart 3 — Land Cover Impact on Drainage Density</a:t>
            </a:r>
            <a:endParaRPr lang="en-US" sz="3000" dirty="0"/>
          </a:p>
        </p:txBody>
      </p:sp>
      <p:graphicFrame>
        <p:nvGraphicFramePr>
          <p:cNvPr id="4" name="Chart 0"/>
          <p:cNvGraphicFramePr/>
          <p:nvPr/>
        </p:nvGraphicFramePr>
        <p:xfrm>
          <a:off x="365760" y="1097280"/>
          <a:ext cx="7132320" cy="5303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097280"/>
            <a:ext cx="4160520" cy="53035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6" name="Text 3"/>
          <p:cNvSpPr/>
          <p:nvPr/>
        </p:nvSpPr>
        <p:spPr>
          <a:xfrm>
            <a:off x="7818120" y="1234440"/>
            <a:ext cx="384048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Chart Explanation</a:t>
            </a:r>
            <a:endParaRPr lang="en-US" sz="1400" dirty="0"/>
          </a:p>
        </p:txBody>
      </p:sp>
      <p:sp>
        <p:nvSpPr>
          <p:cNvPr id="7" name="Shape 4"/>
          <p:cNvSpPr/>
          <p:nvPr/>
        </p:nvSpPr>
        <p:spPr>
          <a:xfrm>
            <a:off x="7818120" y="1600200"/>
            <a:ext cx="3749040" cy="0"/>
          </a:xfrm>
          <a:prstGeom prst="line">
            <a:avLst/>
          </a:prstGeom>
          <a:noFill/>
          <a:ln w="12700">
            <a:solidFill>
              <a:srgbClr val="CBD5E1"/>
            </a:solidFill>
            <a:prstDash val="solid"/>
          </a:ln>
        </p:spPr>
      </p:sp>
      <p:sp>
        <p:nvSpPr>
          <p:cNvPr id="8" name="Text 5"/>
          <p:cNvSpPr/>
          <p:nvPr/>
        </p:nvSpPr>
        <p:spPr>
          <a:xfrm>
            <a:off x="7818120" y="1691640"/>
            <a:ext cx="3840480" cy="256032"/>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What It Shows</a:t>
            </a:r>
            <a:endParaRPr lang="en-US" sz="1100" dirty="0"/>
          </a:p>
        </p:txBody>
      </p:sp>
      <p:sp>
        <p:nvSpPr>
          <p:cNvPr id="9" name="Text 6"/>
          <p:cNvSpPr/>
          <p:nvPr/>
        </p:nvSpPr>
        <p:spPr>
          <a:xfrm>
            <a:off x="7818120" y="1947672"/>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Compares average drainage density (total stream length ÷ basin area) across the 4 land cover classes.</a:t>
            </a:r>
            <a:endParaRPr lang="en-US" sz="1000" dirty="0"/>
          </a:p>
        </p:txBody>
      </p:sp>
      <p:sp>
        <p:nvSpPr>
          <p:cNvPr id="10" name="Text 7"/>
          <p:cNvSpPr/>
          <p:nvPr/>
        </p:nvSpPr>
        <p:spPr>
          <a:xfrm>
            <a:off x="7818120" y="2569464"/>
            <a:ext cx="3840480" cy="256032"/>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Cropland Leads</a:t>
            </a:r>
            <a:endParaRPr lang="en-US" sz="1100" dirty="0"/>
          </a:p>
        </p:txBody>
      </p:sp>
      <p:sp>
        <p:nvSpPr>
          <p:cNvPr id="11" name="Text 8"/>
          <p:cNvSpPr/>
          <p:nvPr/>
        </p:nvSpPr>
        <p:spPr>
          <a:xfrm>
            <a:off x="7818120" y="2825496"/>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Cropland shows highest drainage density (0.000162). Agricultural land removes natural vegetation, reducing interception and infiltration — water reaches channels faster.</a:t>
            </a:r>
            <a:endParaRPr lang="en-US" sz="1000" dirty="0"/>
          </a:p>
        </p:txBody>
      </p:sp>
      <p:sp>
        <p:nvSpPr>
          <p:cNvPr id="12" name="Text 9"/>
          <p:cNvSpPr/>
          <p:nvPr/>
        </p:nvSpPr>
        <p:spPr>
          <a:xfrm>
            <a:off x="7818120" y="3447288"/>
            <a:ext cx="3840480" cy="256032"/>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Forest Lowest</a:t>
            </a:r>
            <a:endParaRPr lang="en-US" sz="1100" dirty="0"/>
          </a:p>
        </p:txBody>
      </p:sp>
      <p:sp>
        <p:nvSpPr>
          <p:cNvPr id="13" name="Text 10"/>
          <p:cNvSpPr/>
          <p:nvPr/>
        </p:nvSpPr>
        <p:spPr>
          <a:xfrm>
            <a:off x="7818120" y="3703320"/>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Forest cover reduces surface runoff through canopy interception and root systems, resulting in the lowest drainage density (0.000151).</a:t>
            </a:r>
            <a:endParaRPr lang="en-US" sz="1000" dirty="0"/>
          </a:p>
        </p:txBody>
      </p:sp>
      <p:sp>
        <p:nvSpPr>
          <p:cNvPr id="14" name="Text 11"/>
          <p:cNvSpPr/>
          <p:nvPr/>
        </p:nvSpPr>
        <p:spPr>
          <a:xfrm>
            <a:off x="7818120" y="4325112"/>
            <a:ext cx="3840480" cy="256032"/>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Practical Impact</a:t>
            </a:r>
            <a:endParaRPr lang="en-US" sz="1100" dirty="0"/>
          </a:p>
        </p:txBody>
      </p:sp>
      <p:sp>
        <p:nvSpPr>
          <p:cNvPr id="15" name="Text 12"/>
          <p:cNvSpPr/>
          <p:nvPr/>
        </p:nvSpPr>
        <p:spPr>
          <a:xfrm>
            <a:off x="7818120" y="4581144"/>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Converting forested areas to cropland could increase catchment drainage density by ~8%, meaningfully raising flood risk in adjacent communities.</a:t>
            </a:r>
            <a:endParaRPr lang="en-US" sz="1000" dirty="0"/>
          </a:p>
        </p:txBody>
      </p:sp>
      <p:sp>
        <p:nvSpPr>
          <p:cNvPr id="16" name="Text 13"/>
          <p:cNvSpPr/>
          <p:nvPr/>
        </p:nvSpPr>
        <p:spPr>
          <a:xfrm>
            <a:off x="7818120" y="5202936"/>
            <a:ext cx="3840480" cy="256032"/>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Recommendation</a:t>
            </a:r>
            <a:endParaRPr lang="en-US" sz="1100" dirty="0"/>
          </a:p>
        </p:txBody>
      </p:sp>
      <p:sp>
        <p:nvSpPr>
          <p:cNvPr id="17" name="Text 14"/>
          <p:cNvSpPr/>
          <p:nvPr/>
        </p:nvSpPr>
        <p:spPr>
          <a:xfrm>
            <a:off x="7818120" y="5458968"/>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Land-use zoning must restrict agricultural expansion in high-risk small basins to maintain natural flood buffering.</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Chart 4 — Flood Risk Index by Basin Size</a:t>
            </a:r>
            <a:endParaRPr lang="en-US" sz="3000" dirty="0"/>
          </a:p>
        </p:txBody>
      </p:sp>
      <p:graphicFrame>
        <p:nvGraphicFramePr>
          <p:cNvPr id="4" name="Chart 0"/>
          <p:cNvGraphicFramePr/>
          <p:nvPr/>
        </p:nvGraphicFramePr>
        <p:xfrm>
          <a:off x="365760" y="1097280"/>
          <a:ext cx="7132320" cy="5303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097280"/>
            <a:ext cx="4160520" cy="53035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6" name="Text 3"/>
          <p:cNvSpPr/>
          <p:nvPr/>
        </p:nvSpPr>
        <p:spPr>
          <a:xfrm>
            <a:off x="7818120" y="1234440"/>
            <a:ext cx="384048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Chart Explanation</a:t>
            </a:r>
            <a:endParaRPr lang="en-US" sz="1400" dirty="0"/>
          </a:p>
        </p:txBody>
      </p:sp>
      <p:sp>
        <p:nvSpPr>
          <p:cNvPr id="7" name="Shape 4"/>
          <p:cNvSpPr/>
          <p:nvPr/>
        </p:nvSpPr>
        <p:spPr>
          <a:xfrm>
            <a:off x="7818120" y="1600200"/>
            <a:ext cx="3749040" cy="0"/>
          </a:xfrm>
          <a:prstGeom prst="line">
            <a:avLst/>
          </a:prstGeom>
          <a:noFill/>
          <a:ln w="12700">
            <a:solidFill>
              <a:srgbClr val="CBD5E1"/>
            </a:solidFill>
            <a:prstDash val="solid"/>
          </a:ln>
        </p:spPr>
      </p:sp>
      <p:sp>
        <p:nvSpPr>
          <p:cNvPr id="8" name="Text 5"/>
          <p:cNvSpPr/>
          <p:nvPr/>
        </p:nvSpPr>
        <p:spPr>
          <a:xfrm>
            <a:off x="7818120" y="1691640"/>
            <a:ext cx="3840480" cy="256032"/>
          </a:xfrm>
          <a:prstGeom prst="rect">
            <a:avLst/>
          </a:prstGeom>
          <a:noFill/>
          <a:ln/>
        </p:spPr>
        <p:txBody>
          <a:bodyPr wrap="square" rtlCol="0" anchor="ctr"/>
          <a:lstStyle/>
          <a:p>
            <a:pPr marL="0" indent="0">
              <a:buNone/>
            </a:pPr>
            <a:r>
              <a:rPr lang="en-US" sz="1100" b="1" dirty="0">
                <a:solidFill>
                  <a:srgbClr val="1363DF"/>
                </a:solidFill>
                <a:latin typeface="Calibri" pitchFamily="34" charset="0"/>
                <a:ea typeface="Calibri" pitchFamily="34" charset="-122"/>
                <a:cs typeface="Calibri" pitchFamily="34" charset="-120"/>
              </a:rPr>
              <a:t>Dominant Finding</a:t>
            </a:r>
            <a:endParaRPr lang="en-US" sz="1100" dirty="0"/>
          </a:p>
        </p:txBody>
      </p:sp>
      <p:sp>
        <p:nvSpPr>
          <p:cNvPr id="9" name="Text 6"/>
          <p:cNvSpPr/>
          <p:nvPr/>
        </p:nvSpPr>
        <p:spPr>
          <a:xfrm>
            <a:off x="7818120" y="1947672"/>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Small basins show an average FRI of 0.000004 — 4× higher than medium basins (0.000001) and infinitely higher than large basins (≈0).</a:t>
            </a:r>
            <a:endParaRPr lang="en-US" sz="1000" dirty="0"/>
          </a:p>
        </p:txBody>
      </p:sp>
      <p:sp>
        <p:nvSpPr>
          <p:cNvPr id="10" name="Text 7"/>
          <p:cNvSpPr/>
          <p:nvPr/>
        </p:nvSpPr>
        <p:spPr>
          <a:xfrm>
            <a:off x="7818120" y="2569464"/>
            <a:ext cx="3840480" cy="256032"/>
          </a:xfrm>
          <a:prstGeom prst="rect">
            <a:avLst/>
          </a:prstGeom>
          <a:noFill/>
          <a:ln/>
        </p:spPr>
        <p:txBody>
          <a:bodyPr wrap="square" rtlCol="0" anchor="ctr"/>
          <a:lstStyle/>
          <a:p>
            <a:pPr marL="0" indent="0">
              <a:buNone/>
            </a:pPr>
            <a:r>
              <a:rPr lang="en-US" sz="1100" b="1" dirty="0">
                <a:solidFill>
                  <a:srgbClr val="1363DF"/>
                </a:solidFill>
                <a:latin typeface="Calibri" pitchFamily="34" charset="0"/>
                <a:ea typeface="Calibri" pitchFamily="34" charset="-122"/>
                <a:cs typeface="Calibri" pitchFamily="34" charset="-120"/>
              </a:rPr>
              <a:t>Why Small Basins?</a:t>
            </a:r>
            <a:endParaRPr lang="en-US" sz="1100" dirty="0"/>
          </a:p>
        </p:txBody>
      </p:sp>
      <p:sp>
        <p:nvSpPr>
          <p:cNvPr id="11" name="Text 8"/>
          <p:cNvSpPr/>
          <p:nvPr/>
        </p:nvSpPr>
        <p:spPr>
          <a:xfrm>
            <a:off x="7818120" y="2825496"/>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Smaller watersheds have shorter lag times (time from rainfall to peak flow), concentrating runoff faster and leaving less time for evacuation.</a:t>
            </a:r>
            <a:endParaRPr lang="en-US" sz="1000" dirty="0"/>
          </a:p>
        </p:txBody>
      </p:sp>
      <p:sp>
        <p:nvSpPr>
          <p:cNvPr id="12" name="Text 9"/>
          <p:cNvSpPr/>
          <p:nvPr/>
        </p:nvSpPr>
        <p:spPr>
          <a:xfrm>
            <a:off x="7818120" y="3447288"/>
            <a:ext cx="3840480" cy="256032"/>
          </a:xfrm>
          <a:prstGeom prst="rect">
            <a:avLst/>
          </a:prstGeom>
          <a:noFill/>
          <a:ln/>
        </p:spPr>
        <p:txBody>
          <a:bodyPr wrap="square" rtlCol="0" anchor="ctr"/>
          <a:lstStyle/>
          <a:p>
            <a:pPr marL="0" indent="0">
              <a:buNone/>
            </a:pPr>
            <a:r>
              <a:rPr lang="en-US" sz="1100" b="1" dirty="0">
                <a:solidFill>
                  <a:srgbClr val="1363DF"/>
                </a:solidFill>
                <a:latin typeface="Calibri" pitchFamily="34" charset="0"/>
                <a:ea typeface="Calibri" pitchFamily="34" charset="-122"/>
                <a:cs typeface="Calibri" pitchFamily="34" charset="-120"/>
              </a:rPr>
              <a:t>Large Basin Effect</a:t>
            </a:r>
            <a:endParaRPr lang="en-US" sz="1100" dirty="0"/>
          </a:p>
        </p:txBody>
      </p:sp>
      <p:sp>
        <p:nvSpPr>
          <p:cNvPr id="13" name="Text 10"/>
          <p:cNvSpPr/>
          <p:nvPr/>
        </p:nvSpPr>
        <p:spPr>
          <a:xfrm>
            <a:off x="7818120" y="3703320"/>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Large basins (&gt;50,000 km²) have extensive floodplain storage, distributed flow paths, and typically more flood management infrastructure.</a:t>
            </a:r>
            <a:endParaRPr lang="en-US" sz="1000" dirty="0"/>
          </a:p>
        </p:txBody>
      </p:sp>
      <p:sp>
        <p:nvSpPr>
          <p:cNvPr id="14" name="Text 11"/>
          <p:cNvSpPr/>
          <p:nvPr/>
        </p:nvSpPr>
        <p:spPr>
          <a:xfrm>
            <a:off x="7818120" y="4325112"/>
            <a:ext cx="3840480" cy="256032"/>
          </a:xfrm>
          <a:prstGeom prst="rect">
            <a:avLst/>
          </a:prstGeom>
          <a:noFill/>
          <a:ln/>
        </p:spPr>
        <p:txBody>
          <a:bodyPr wrap="square" rtlCol="0" anchor="ctr"/>
          <a:lstStyle/>
          <a:p>
            <a:pPr marL="0" indent="0">
              <a:buNone/>
            </a:pPr>
            <a:r>
              <a:rPr lang="en-US" sz="1100" b="1" dirty="0">
                <a:solidFill>
                  <a:srgbClr val="1363DF"/>
                </a:solidFill>
                <a:latin typeface="Calibri" pitchFamily="34" charset="0"/>
                <a:ea typeface="Calibri" pitchFamily="34" charset="-122"/>
                <a:cs typeface="Calibri" pitchFamily="34" charset="-120"/>
              </a:rPr>
              <a:t>Risk Concentration</a:t>
            </a:r>
            <a:endParaRPr lang="en-US" sz="1100" dirty="0"/>
          </a:p>
        </p:txBody>
      </p:sp>
      <p:sp>
        <p:nvSpPr>
          <p:cNvPr id="15" name="Text 12"/>
          <p:cNvSpPr/>
          <p:nvPr/>
        </p:nvSpPr>
        <p:spPr>
          <a:xfrm>
            <a:off x="7818120" y="4581144"/>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Small-basin High-risk catchments include many Indonesian upstream gauge points where population density can still be significant.</a:t>
            </a:r>
            <a:endParaRPr lang="en-US" sz="1000" dirty="0"/>
          </a:p>
        </p:txBody>
      </p:sp>
      <p:sp>
        <p:nvSpPr>
          <p:cNvPr id="16" name="Text 13"/>
          <p:cNvSpPr/>
          <p:nvPr/>
        </p:nvSpPr>
        <p:spPr>
          <a:xfrm>
            <a:off x="7818120" y="5202936"/>
            <a:ext cx="3840480" cy="256032"/>
          </a:xfrm>
          <a:prstGeom prst="rect">
            <a:avLst/>
          </a:prstGeom>
          <a:noFill/>
          <a:ln/>
        </p:spPr>
        <p:txBody>
          <a:bodyPr wrap="square" rtlCol="0" anchor="ctr"/>
          <a:lstStyle/>
          <a:p>
            <a:pPr marL="0" indent="0">
              <a:buNone/>
            </a:pPr>
            <a:r>
              <a:rPr lang="en-US" sz="1100" b="1" dirty="0">
                <a:solidFill>
                  <a:srgbClr val="1363DF"/>
                </a:solidFill>
                <a:latin typeface="Calibri" pitchFamily="34" charset="0"/>
                <a:ea typeface="Calibri" pitchFamily="34" charset="-122"/>
                <a:cs typeface="Calibri" pitchFamily="34" charset="-120"/>
              </a:rPr>
              <a:t>Decision Support</a:t>
            </a:r>
            <a:endParaRPr lang="en-US" sz="1100" dirty="0"/>
          </a:p>
        </p:txBody>
      </p:sp>
      <p:sp>
        <p:nvSpPr>
          <p:cNvPr id="17" name="Text 14"/>
          <p:cNvSpPr/>
          <p:nvPr/>
        </p:nvSpPr>
        <p:spPr>
          <a:xfrm>
            <a:off x="7818120" y="5458968"/>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Emergency protocols must be calibrated differently for small vs large basins — rapid response vs. sustained flood management.</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Chart 6 — GDP Per Capita Trend Across Time Periods</a:t>
            </a:r>
            <a:endParaRPr lang="en-US" sz="3000" dirty="0"/>
          </a:p>
        </p:txBody>
      </p:sp>
      <p:graphicFrame>
        <p:nvGraphicFramePr>
          <p:cNvPr id="4" name="Chart 0"/>
          <p:cNvGraphicFramePr/>
          <p:nvPr/>
        </p:nvGraphicFramePr>
        <p:xfrm>
          <a:off x="365760" y="1097280"/>
          <a:ext cx="7132320" cy="5303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097280"/>
            <a:ext cx="4160520" cy="53035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6" name="Text 3"/>
          <p:cNvSpPr/>
          <p:nvPr/>
        </p:nvSpPr>
        <p:spPr>
          <a:xfrm>
            <a:off x="7818120" y="1234440"/>
            <a:ext cx="384048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Chart Explanation</a:t>
            </a:r>
            <a:endParaRPr lang="en-US" sz="1400" dirty="0"/>
          </a:p>
        </p:txBody>
      </p:sp>
      <p:sp>
        <p:nvSpPr>
          <p:cNvPr id="7" name="Shape 4"/>
          <p:cNvSpPr/>
          <p:nvPr/>
        </p:nvSpPr>
        <p:spPr>
          <a:xfrm>
            <a:off x="7818120" y="1600200"/>
            <a:ext cx="3749040" cy="0"/>
          </a:xfrm>
          <a:prstGeom prst="line">
            <a:avLst/>
          </a:prstGeom>
          <a:noFill/>
          <a:ln w="12700">
            <a:solidFill>
              <a:srgbClr val="CBD5E1"/>
            </a:solidFill>
            <a:prstDash val="solid"/>
          </a:ln>
        </p:spPr>
      </p:sp>
      <p:sp>
        <p:nvSpPr>
          <p:cNvPr id="8" name="Text 5"/>
          <p:cNvSpPr/>
          <p:nvPr/>
        </p:nvSpPr>
        <p:spPr>
          <a:xfrm>
            <a:off x="7818120" y="1691640"/>
            <a:ext cx="3840480" cy="256032"/>
          </a:xfrm>
          <a:prstGeom prst="rect">
            <a:avLst/>
          </a:prstGeom>
          <a:noFill/>
          <a:ln/>
        </p:spPr>
        <p:txBody>
          <a:bodyPr wrap="square" rtlCol="0" anchor="ctr"/>
          <a:lstStyle/>
          <a:p>
            <a:pPr marL="0" indent="0">
              <a:buNone/>
            </a:pPr>
            <a:r>
              <a:rPr lang="en-US" sz="1100" b="1" dirty="0">
                <a:solidFill>
                  <a:srgbClr val="E63946"/>
                </a:solidFill>
                <a:latin typeface="Calibri" pitchFamily="34" charset="0"/>
                <a:ea typeface="Calibri" pitchFamily="34" charset="-122"/>
                <a:cs typeface="Calibri" pitchFamily="34" charset="-120"/>
              </a:rPr>
              <a:t>What It Shows</a:t>
            </a:r>
            <a:endParaRPr lang="en-US" sz="1100" dirty="0"/>
          </a:p>
        </p:txBody>
      </p:sp>
      <p:sp>
        <p:nvSpPr>
          <p:cNvPr id="9" name="Text 6"/>
          <p:cNvSpPr/>
          <p:nvPr/>
        </p:nvSpPr>
        <p:spPr>
          <a:xfrm>
            <a:off x="7818120" y="1947672"/>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GDP per capita trend lines for Tropical, Temperate, and Arid climate zones from 1990 to 2015, showing economic trajectory alongside flood risk context.</a:t>
            </a:r>
            <a:endParaRPr lang="en-US" sz="1000" dirty="0"/>
          </a:p>
        </p:txBody>
      </p:sp>
      <p:sp>
        <p:nvSpPr>
          <p:cNvPr id="10" name="Text 7"/>
          <p:cNvSpPr/>
          <p:nvPr/>
        </p:nvSpPr>
        <p:spPr>
          <a:xfrm>
            <a:off x="7818120" y="2569464"/>
            <a:ext cx="3840480" cy="256032"/>
          </a:xfrm>
          <a:prstGeom prst="rect">
            <a:avLst/>
          </a:prstGeom>
          <a:noFill/>
          <a:ln/>
        </p:spPr>
        <p:txBody>
          <a:bodyPr wrap="square" rtlCol="0" anchor="ctr"/>
          <a:lstStyle/>
          <a:p>
            <a:pPr marL="0" indent="0">
              <a:buNone/>
            </a:pPr>
            <a:r>
              <a:rPr lang="en-US" sz="1100" b="1" dirty="0">
                <a:solidFill>
                  <a:srgbClr val="E63946"/>
                </a:solidFill>
                <a:latin typeface="Calibri" pitchFamily="34" charset="0"/>
                <a:ea typeface="Calibri" pitchFamily="34" charset="-122"/>
                <a:cs typeface="Calibri" pitchFamily="34" charset="-120"/>
              </a:rPr>
              <a:t>Arid Zone Leads</a:t>
            </a:r>
            <a:endParaRPr lang="en-US" sz="1100" dirty="0"/>
          </a:p>
        </p:txBody>
      </p:sp>
      <p:sp>
        <p:nvSpPr>
          <p:cNvPr id="11" name="Text 8"/>
          <p:cNvSpPr/>
          <p:nvPr/>
        </p:nvSpPr>
        <p:spPr>
          <a:xfrm>
            <a:off x="7818120" y="2825496"/>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Arid zone catchments show highest GDP/capita — these areas (mainly eastern Indonesia) have different economic drivers and stronger infrastructure.</a:t>
            </a:r>
            <a:endParaRPr lang="en-US" sz="1000" dirty="0"/>
          </a:p>
        </p:txBody>
      </p:sp>
      <p:sp>
        <p:nvSpPr>
          <p:cNvPr id="12" name="Text 9"/>
          <p:cNvSpPr/>
          <p:nvPr/>
        </p:nvSpPr>
        <p:spPr>
          <a:xfrm>
            <a:off x="7818120" y="3447288"/>
            <a:ext cx="3840480" cy="256032"/>
          </a:xfrm>
          <a:prstGeom prst="rect">
            <a:avLst/>
          </a:prstGeom>
          <a:noFill/>
          <a:ln/>
        </p:spPr>
        <p:txBody>
          <a:bodyPr wrap="square" rtlCol="0" anchor="ctr"/>
          <a:lstStyle/>
          <a:p>
            <a:pPr marL="0" indent="0">
              <a:buNone/>
            </a:pPr>
            <a:r>
              <a:rPr lang="en-US" sz="1100" b="1" dirty="0">
                <a:solidFill>
                  <a:srgbClr val="E63946"/>
                </a:solidFill>
                <a:latin typeface="Calibri" pitchFamily="34" charset="0"/>
                <a:ea typeface="Calibri" pitchFamily="34" charset="-122"/>
                <a:cs typeface="Calibri" pitchFamily="34" charset="-120"/>
              </a:rPr>
              <a:t>Tropical Lags</a:t>
            </a:r>
            <a:endParaRPr lang="en-US" sz="1100" dirty="0"/>
          </a:p>
        </p:txBody>
      </p:sp>
      <p:sp>
        <p:nvSpPr>
          <p:cNvPr id="13" name="Text 10"/>
          <p:cNvSpPr/>
          <p:nvPr/>
        </p:nvSpPr>
        <p:spPr>
          <a:xfrm>
            <a:off x="7818120" y="3703320"/>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Tropical catchments have the lowest GDP/capita growth — yet they carry the highest population counts and flood risk indices.</a:t>
            </a:r>
            <a:endParaRPr lang="en-US" sz="1000" dirty="0"/>
          </a:p>
        </p:txBody>
      </p:sp>
      <p:sp>
        <p:nvSpPr>
          <p:cNvPr id="14" name="Text 11"/>
          <p:cNvSpPr/>
          <p:nvPr/>
        </p:nvSpPr>
        <p:spPr>
          <a:xfrm>
            <a:off x="7818120" y="4325112"/>
            <a:ext cx="3840480" cy="256032"/>
          </a:xfrm>
          <a:prstGeom prst="rect">
            <a:avLst/>
          </a:prstGeom>
          <a:noFill/>
          <a:ln/>
        </p:spPr>
        <p:txBody>
          <a:bodyPr wrap="square" rtlCol="0" anchor="ctr"/>
          <a:lstStyle/>
          <a:p>
            <a:pPr marL="0" indent="0">
              <a:buNone/>
            </a:pPr>
            <a:r>
              <a:rPr lang="en-US" sz="1100" b="1" dirty="0">
                <a:solidFill>
                  <a:srgbClr val="E63946"/>
                </a:solidFill>
                <a:latin typeface="Calibri" pitchFamily="34" charset="0"/>
                <a:ea typeface="Calibri" pitchFamily="34" charset="-122"/>
                <a:cs typeface="Calibri" pitchFamily="34" charset="-120"/>
              </a:rPr>
              <a:t>Risk-Wealth Gap</a:t>
            </a:r>
            <a:endParaRPr lang="en-US" sz="1100" dirty="0"/>
          </a:p>
        </p:txBody>
      </p:sp>
      <p:sp>
        <p:nvSpPr>
          <p:cNvPr id="15" name="Text 12"/>
          <p:cNvSpPr/>
          <p:nvPr/>
        </p:nvSpPr>
        <p:spPr>
          <a:xfrm>
            <a:off x="7818120" y="4581144"/>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The inverse relationship between economic growth and flood risk suggests that wealth-building capacity is constrained by recurrent flood exposure.</a:t>
            </a:r>
            <a:endParaRPr lang="en-US" sz="1000" dirty="0"/>
          </a:p>
        </p:txBody>
      </p:sp>
      <p:sp>
        <p:nvSpPr>
          <p:cNvPr id="16" name="Text 13"/>
          <p:cNvSpPr/>
          <p:nvPr/>
        </p:nvSpPr>
        <p:spPr>
          <a:xfrm>
            <a:off x="7818120" y="5202936"/>
            <a:ext cx="3840480" cy="256032"/>
          </a:xfrm>
          <a:prstGeom prst="rect">
            <a:avLst/>
          </a:prstGeom>
          <a:noFill/>
          <a:ln/>
        </p:spPr>
        <p:txBody>
          <a:bodyPr wrap="square" rtlCol="0" anchor="ctr"/>
          <a:lstStyle/>
          <a:p>
            <a:pPr marL="0" indent="0">
              <a:buNone/>
            </a:pPr>
            <a:r>
              <a:rPr lang="en-US" sz="1100" b="1" dirty="0">
                <a:solidFill>
                  <a:srgbClr val="E63946"/>
                </a:solidFill>
                <a:latin typeface="Calibri" pitchFamily="34" charset="0"/>
                <a:ea typeface="Calibri" pitchFamily="34" charset="-122"/>
                <a:cs typeface="Calibri" pitchFamily="34" charset="-120"/>
              </a:rPr>
              <a:t>Policy Implication</a:t>
            </a:r>
            <a:endParaRPr lang="en-US" sz="1100" dirty="0"/>
          </a:p>
        </p:txBody>
      </p:sp>
      <p:sp>
        <p:nvSpPr>
          <p:cNvPr id="17" name="Text 14"/>
          <p:cNvSpPr/>
          <p:nvPr/>
        </p:nvSpPr>
        <p:spPr>
          <a:xfrm>
            <a:off x="7818120" y="5458968"/>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Climate-aware flood investment in Tropical zones can unlock economic potential, reducing the risk-poverty cycle.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Chart 7 — Comparative Risk Analysis: Soil × Basin Size</a:t>
            </a:r>
            <a:endParaRPr lang="en-US" sz="3000" dirty="0"/>
          </a:p>
        </p:txBody>
      </p:sp>
      <p:graphicFrame>
        <p:nvGraphicFramePr>
          <p:cNvPr id="4" name="Chart 0"/>
          <p:cNvGraphicFramePr/>
          <p:nvPr/>
        </p:nvGraphicFramePr>
        <p:xfrm>
          <a:off x="365760" y="1097280"/>
          <a:ext cx="7132320" cy="5303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097280"/>
            <a:ext cx="4160520" cy="53035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6" name="Text 3"/>
          <p:cNvSpPr/>
          <p:nvPr/>
        </p:nvSpPr>
        <p:spPr>
          <a:xfrm>
            <a:off x="7818120" y="1234440"/>
            <a:ext cx="384048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Chart Explanation</a:t>
            </a:r>
            <a:endParaRPr lang="en-US" sz="1400" dirty="0"/>
          </a:p>
        </p:txBody>
      </p:sp>
      <p:sp>
        <p:nvSpPr>
          <p:cNvPr id="7" name="Shape 4"/>
          <p:cNvSpPr/>
          <p:nvPr/>
        </p:nvSpPr>
        <p:spPr>
          <a:xfrm>
            <a:off x="7818120" y="1600200"/>
            <a:ext cx="3749040" cy="0"/>
          </a:xfrm>
          <a:prstGeom prst="line">
            <a:avLst/>
          </a:prstGeom>
          <a:noFill/>
          <a:ln w="12700">
            <a:solidFill>
              <a:srgbClr val="CBD5E1"/>
            </a:solidFill>
            <a:prstDash val="solid"/>
          </a:ln>
        </p:spPr>
      </p:sp>
      <p:sp>
        <p:nvSpPr>
          <p:cNvPr id="8" name="Text 5"/>
          <p:cNvSpPr/>
          <p:nvPr/>
        </p:nvSpPr>
        <p:spPr>
          <a:xfrm>
            <a:off x="7818120" y="1691640"/>
            <a:ext cx="3840480" cy="256032"/>
          </a:xfrm>
          <a:prstGeom prst="rect">
            <a:avLst/>
          </a:prstGeom>
          <a:noFill/>
          <a:ln/>
        </p:spPr>
        <p:txBody>
          <a:bodyPr wrap="square" rtlCol="0" anchor="ctr"/>
          <a:lstStyle/>
          <a:p>
            <a:pPr marL="0" indent="0">
              <a:buNone/>
            </a:pPr>
            <a:r>
              <a:rPr lang="en-US" sz="1100" b="1" dirty="0">
                <a:solidFill>
                  <a:srgbClr val="2B4B8C"/>
                </a:solidFill>
                <a:latin typeface="Calibri" pitchFamily="34" charset="0"/>
                <a:ea typeface="Calibri" pitchFamily="34" charset="-122"/>
                <a:cs typeface="Calibri" pitchFamily="34" charset="-120"/>
              </a:rPr>
              <a:t>What It Shows</a:t>
            </a:r>
            <a:endParaRPr lang="en-US" sz="1100" dirty="0"/>
          </a:p>
        </p:txBody>
      </p:sp>
      <p:sp>
        <p:nvSpPr>
          <p:cNvPr id="9" name="Text 6"/>
          <p:cNvSpPr/>
          <p:nvPr/>
        </p:nvSpPr>
        <p:spPr>
          <a:xfrm>
            <a:off x="7818120" y="1947672"/>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Clustered bars comparing flood risk across soil types, segmented by basin size (Small, Medium, Large), enabling a two-dimensional comparison.</a:t>
            </a:r>
            <a:endParaRPr lang="en-US" sz="1000" dirty="0"/>
          </a:p>
        </p:txBody>
      </p:sp>
      <p:sp>
        <p:nvSpPr>
          <p:cNvPr id="10" name="Text 7"/>
          <p:cNvSpPr/>
          <p:nvPr/>
        </p:nvSpPr>
        <p:spPr>
          <a:xfrm>
            <a:off x="7818120" y="2569464"/>
            <a:ext cx="3840480" cy="256032"/>
          </a:xfrm>
          <a:prstGeom prst="rect">
            <a:avLst/>
          </a:prstGeom>
          <a:noFill/>
          <a:ln/>
        </p:spPr>
        <p:txBody>
          <a:bodyPr wrap="square" rtlCol="0" anchor="ctr"/>
          <a:lstStyle/>
          <a:p>
            <a:pPr marL="0" indent="0">
              <a:buNone/>
            </a:pPr>
            <a:r>
              <a:rPr lang="en-US" sz="1100" b="1" dirty="0">
                <a:solidFill>
                  <a:srgbClr val="2B4B8C"/>
                </a:solidFill>
                <a:latin typeface="Calibri" pitchFamily="34" charset="0"/>
                <a:ea typeface="Calibri" pitchFamily="34" charset="-122"/>
                <a:cs typeface="Calibri" pitchFamily="34" charset="-120"/>
              </a:rPr>
              <a:t>Dominant Pattern</a:t>
            </a:r>
            <a:endParaRPr lang="en-US" sz="1100" dirty="0"/>
          </a:p>
        </p:txBody>
      </p:sp>
      <p:sp>
        <p:nvSpPr>
          <p:cNvPr id="11" name="Text 8"/>
          <p:cNvSpPr/>
          <p:nvPr/>
        </p:nvSpPr>
        <p:spPr>
          <a:xfrm>
            <a:off x="7818120" y="2825496"/>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Small basin × Cambisols is the highest-risk combination across all dimensions — this is the 'red zone' for flood management.</a:t>
            </a:r>
            <a:endParaRPr lang="en-US" sz="1000" dirty="0"/>
          </a:p>
        </p:txBody>
      </p:sp>
      <p:sp>
        <p:nvSpPr>
          <p:cNvPr id="12" name="Text 9"/>
          <p:cNvSpPr/>
          <p:nvPr/>
        </p:nvSpPr>
        <p:spPr>
          <a:xfrm>
            <a:off x="7818120" y="3447288"/>
            <a:ext cx="3840480" cy="256032"/>
          </a:xfrm>
          <a:prstGeom prst="rect">
            <a:avLst/>
          </a:prstGeom>
          <a:noFill/>
          <a:ln/>
        </p:spPr>
        <p:txBody>
          <a:bodyPr wrap="square" rtlCol="0" anchor="ctr"/>
          <a:lstStyle/>
          <a:p>
            <a:pPr marL="0" indent="0">
              <a:buNone/>
            </a:pPr>
            <a:r>
              <a:rPr lang="en-US" sz="1100" b="1" dirty="0">
                <a:solidFill>
                  <a:srgbClr val="2B4B8C"/>
                </a:solidFill>
                <a:latin typeface="Calibri" pitchFamily="34" charset="0"/>
                <a:ea typeface="Calibri" pitchFamily="34" charset="-122"/>
                <a:cs typeface="Calibri" pitchFamily="34" charset="-120"/>
              </a:rPr>
              <a:t>Basin Effect Persists</a:t>
            </a:r>
            <a:endParaRPr lang="en-US" sz="1100" dirty="0"/>
          </a:p>
        </p:txBody>
      </p:sp>
      <p:sp>
        <p:nvSpPr>
          <p:cNvPr id="13" name="Text 10"/>
          <p:cNvSpPr/>
          <p:nvPr/>
        </p:nvSpPr>
        <p:spPr>
          <a:xfrm>
            <a:off x="7818120" y="3703320"/>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Regardless of soil type, small basins consistently show 3–5× higher FRI than the same soil type in larger basins.</a:t>
            </a:r>
            <a:endParaRPr lang="en-US" sz="1000" dirty="0"/>
          </a:p>
        </p:txBody>
      </p:sp>
      <p:sp>
        <p:nvSpPr>
          <p:cNvPr id="14" name="Text 11"/>
          <p:cNvSpPr/>
          <p:nvPr/>
        </p:nvSpPr>
        <p:spPr>
          <a:xfrm>
            <a:off x="7818120" y="4325112"/>
            <a:ext cx="3840480" cy="256032"/>
          </a:xfrm>
          <a:prstGeom prst="rect">
            <a:avLst/>
          </a:prstGeom>
          <a:noFill/>
          <a:ln/>
        </p:spPr>
        <p:txBody>
          <a:bodyPr wrap="square" rtlCol="0" anchor="ctr"/>
          <a:lstStyle/>
          <a:p>
            <a:pPr marL="0" indent="0">
              <a:buNone/>
            </a:pPr>
            <a:r>
              <a:rPr lang="en-US" sz="1100" b="1" dirty="0">
                <a:solidFill>
                  <a:srgbClr val="2B4B8C"/>
                </a:solidFill>
                <a:latin typeface="Calibri" pitchFamily="34" charset="0"/>
                <a:ea typeface="Calibri" pitchFamily="34" charset="-122"/>
                <a:cs typeface="Calibri" pitchFamily="34" charset="-120"/>
              </a:rPr>
              <a:t>Soil Effect Persists</a:t>
            </a:r>
            <a:endParaRPr lang="en-US" sz="1100" dirty="0"/>
          </a:p>
        </p:txBody>
      </p:sp>
      <p:sp>
        <p:nvSpPr>
          <p:cNvPr id="15" name="Text 12"/>
          <p:cNvSpPr/>
          <p:nvPr/>
        </p:nvSpPr>
        <p:spPr>
          <a:xfrm>
            <a:off x="7818120" y="4581144"/>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Regardless of basin size, Cambisols and Acrisols always exhibit higher risk than Vertisols or Luvisols.</a:t>
            </a:r>
            <a:endParaRPr lang="en-US" sz="1000" dirty="0"/>
          </a:p>
        </p:txBody>
      </p:sp>
      <p:sp>
        <p:nvSpPr>
          <p:cNvPr id="16" name="Text 13"/>
          <p:cNvSpPr/>
          <p:nvPr/>
        </p:nvSpPr>
        <p:spPr>
          <a:xfrm>
            <a:off x="7818120" y="5202936"/>
            <a:ext cx="3840480" cy="256032"/>
          </a:xfrm>
          <a:prstGeom prst="rect">
            <a:avLst/>
          </a:prstGeom>
          <a:noFill/>
          <a:ln/>
        </p:spPr>
        <p:txBody>
          <a:bodyPr wrap="square" rtlCol="0" anchor="ctr"/>
          <a:lstStyle/>
          <a:p>
            <a:pPr marL="0" indent="0">
              <a:buNone/>
            </a:pPr>
            <a:r>
              <a:rPr lang="en-US" sz="1100" b="1" dirty="0">
                <a:solidFill>
                  <a:srgbClr val="2B4B8C"/>
                </a:solidFill>
                <a:latin typeface="Calibri" pitchFamily="34" charset="0"/>
                <a:ea typeface="Calibri" pitchFamily="34" charset="-122"/>
                <a:cs typeface="Calibri" pitchFamily="34" charset="-120"/>
              </a:rPr>
              <a:t>Risk Compound Effect</a:t>
            </a:r>
            <a:endParaRPr lang="en-US" sz="1100" dirty="0"/>
          </a:p>
        </p:txBody>
      </p:sp>
      <p:sp>
        <p:nvSpPr>
          <p:cNvPr id="17" name="Text 14"/>
          <p:cNvSpPr/>
          <p:nvPr/>
        </p:nvSpPr>
        <p:spPr>
          <a:xfrm>
            <a:off x="7818120" y="5458968"/>
            <a:ext cx="3840480" cy="548640"/>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The worst outcomes occur when multiple risk factors converge — small basin + susceptible soil + cropland land cover.</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Dashboard Overview — Layout &amp; Design</a:t>
            </a:r>
            <a:endParaRPr lang="en-US" sz="3000" dirty="0"/>
          </a:p>
        </p:txBody>
      </p:sp>
      <p:pic>
        <p:nvPicPr>
          <p:cNvPr id="4" name="Image 0" descr="/home/claude/dashboard.png"/>
          <p:cNvPicPr>
            <a:picLocks noChangeAspect="1"/>
          </p:cNvPicPr>
          <p:nvPr/>
        </p:nvPicPr>
        <p:blipFill>
          <a:blip r:embed="rId3"/>
          <a:stretch>
            <a:fillRect/>
          </a:stretch>
        </p:blipFill>
        <p:spPr>
          <a:xfrm>
            <a:off x="114300" y="1581912"/>
            <a:ext cx="7772400" cy="4480560"/>
          </a:xfrm>
          <a:prstGeom prst="rect">
            <a:avLst/>
          </a:prstGeom>
        </p:spPr>
      </p:pic>
      <p:sp>
        <p:nvSpPr>
          <p:cNvPr id="5" name="Shape 2"/>
          <p:cNvSpPr/>
          <p:nvPr/>
        </p:nvSpPr>
        <p:spPr>
          <a:xfrm>
            <a:off x="8321040" y="1554480"/>
            <a:ext cx="3520440" cy="44805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6" name="Text 3"/>
          <p:cNvSpPr/>
          <p:nvPr/>
        </p:nvSpPr>
        <p:spPr>
          <a:xfrm>
            <a:off x="8458200" y="1691640"/>
            <a:ext cx="3246120" cy="32004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Dashboard Layout</a:t>
            </a:r>
            <a:endParaRPr lang="en-US" sz="1400" dirty="0"/>
          </a:p>
        </p:txBody>
      </p:sp>
      <p:sp>
        <p:nvSpPr>
          <p:cNvPr id="7" name="Shape 4"/>
          <p:cNvSpPr/>
          <p:nvPr/>
        </p:nvSpPr>
        <p:spPr>
          <a:xfrm>
            <a:off x="8458200" y="1554480"/>
            <a:ext cx="3200400" cy="0"/>
          </a:xfrm>
          <a:prstGeom prst="line">
            <a:avLst/>
          </a:prstGeom>
          <a:noFill/>
          <a:ln w="12700">
            <a:solidFill>
              <a:srgbClr val="CBD5E1"/>
            </a:solidFill>
            <a:prstDash val="solid"/>
          </a:ln>
        </p:spPr>
      </p:sp>
      <p:sp>
        <p:nvSpPr>
          <p:cNvPr id="8" name="Text 5"/>
          <p:cNvSpPr/>
          <p:nvPr/>
        </p:nvSpPr>
        <p:spPr>
          <a:xfrm>
            <a:off x="8458200" y="2167128"/>
            <a:ext cx="3246120" cy="45720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 Top Row: 5 KPI metric cards</a:t>
            </a:r>
            <a:endParaRPr lang="en-US" sz="1100" dirty="0"/>
          </a:p>
        </p:txBody>
      </p:sp>
      <p:sp>
        <p:nvSpPr>
          <p:cNvPr id="9" name="Text 6"/>
          <p:cNvSpPr/>
          <p:nvPr/>
        </p:nvSpPr>
        <p:spPr>
          <a:xfrm>
            <a:off x="8458200" y="2734056"/>
            <a:ext cx="3246120" cy="45720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 Left: Soil Type Impact bar chart</a:t>
            </a:r>
            <a:endParaRPr lang="en-US" sz="1100" dirty="0"/>
          </a:p>
        </p:txBody>
      </p:sp>
      <p:sp>
        <p:nvSpPr>
          <p:cNvPr id="10" name="Text 7"/>
          <p:cNvSpPr/>
          <p:nvPr/>
        </p:nvSpPr>
        <p:spPr>
          <a:xfrm>
            <a:off x="8458200" y="3300984"/>
            <a:ext cx="3246120" cy="45720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 Center: Population Exposure pie chart</a:t>
            </a:r>
            <a:endParaRPr lang="en-US" sz="1100" dirty="0"/>
          </a:p>
        </p:txBody>
      </p:sp>
      <p:sp>
        <p:nvSpPr>
          <p:cNvPr id="11" name="Text 8"/>
          <p:cNvSpPr/>
          <p:nvPr/>
        </p:nvSpPr>
        <p:spPr>
          <a:xfrm>
            <a:off x="8458200" y="3867912"/>
            <a:ext cx="3246120" cy="45720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 Top Right: Land Cover Impact bar chart</a:t>
            </a:r>
            <a:endParaRPr lang="en-US" sz="1100" dirty="0"/>
          </a:p>
        </p:txBody>
      </p:sp>
      <p:sp>
        <p:nvSpPr>
          <p:cNvPr id="12" name="Text 9"/>
          <p:cNvSpPr/>
          <p:nvPr/>
        </p:nvSpPr>
        <p:spPr>
          <a:xfrm>
            <a:off x="8458200" y="4434840"/>
            <a:ext cx="3246120" cy="45720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 Bottom Right: Flood Risk by Basin Size</a:t>
            </a:r>
            <a:endParaRPr lang="en-US" sz="1100" dirty="0"/>
          </a:p>
        </p:txBody>
      </p:sp>
      <p:sp>
        <p:nvSpPr>
          <p:cNvPr id="13" name="Text 10"/>
          <p:cNvSpPr/>
          <p:nvPr/>
        </p:nvSpPr>
        <p:spPr>
          <a:xfrm>
            <a:off x="8458200" y="5001768"/>
            <a:ext cx="3246120" cy="45720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 Right Panel: Soil type slicer filter</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Dashboard — KPI Cards &amp; Metric Explanations</a:t>
            </a:r>
            <a:endParaRPr lang="en-US" sz="3000" dirty="0"/>
          </a:p>
        </p:txBody>
      </p:sp>
      <p:sp>
        <p:nvSpPr>
          <p:cNvPr id="4" name="Shape 2"/>
          <p:cNvSpPr/>
          <p:nvPr/>
        </p:nvSpPr>
        <p:spPr>
          <a:xfrm>
            <a:off x="320040" y="1188720"/>
            <a:ext cx="11521440" cy="10058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20040" y="1188720"/>
            <a:ext cx="2286000" cy="1005840"/>
          </a:xfrm>
          <a:prstGeom prst="rect">
            <a:avLst/>
          </a:prstGeom>
          <a:solidFill>
            <a:srgbClr val="1363DF"/>
          </a:solidFill>
          <a:ln w="12700">
            <a:solidFill>
              <a:srgbClr val="1363DF"/>
            </a:solidFill>
            <a:prstDash val="solid"/>
          </a:ln>
        </p:spPr>
      </p:sp>
      <p:sp>
        <p:nvSpPr>
          <p:cNvPr id="6" name="Text 4"/>
          <p:cNvSpPr/>
          <p:nvPr/>
        </p:nvSpPr>
        <p:spPr>
          <a:xfrm>
            <a:off x="411480" y="1261872"/>
            <a:ext cx="210312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Total Catchments</a:t>
            </a:r>
            <a:endParaRPr lang="en-US" sz="1100" dirty="0"/>
          </a:p>
        </p:txBody>
      </p:sp>
      <p:sp>
        <p:nvSpPr>
          <p:cNvPr id="7" name="Text 5"/>
          <p:cNvSpPr/>
          <p:nvPr/>
        </p:nvSpPr>
        <p:spPr>
          <a:xfrm>
            <a:off x="411480" y="1600200"/>
            <a:ext cx="2103120" cy="4114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155</a:t>
            </a:r>
            <a:endParaRPr lang="en-US" sz="2000" dirty="0"/>
          </a:p>
        </p:txBody>
      </p:sp>
      <p:sp>
        <p:nvSpPr>
          <p:cNvPr id="8" name="Text 6"/>
          <p:cNvSpPr/>
          <p:nvPr/>
        </p:nvSpPr>
        <p:spPr>
          <a:xfrm>
            <a:off x="2743200" y="1280160"/>
            <a:ext cx="8869680" cy="256032"/>
          </a:xfrm>
          <a:prstGeom prst="rect">
            <a:avLst/>
          </a:prstGeom>
          <a:noFill/>
          <a:ln/>
        </p:spPr>
        <p:txBody>
          <a:bodyPr wrap="square" rtlCol="0" anchor="ctr"/>
          <a:lstStyle/>
          <a:p>
            <a:pPr marL="0" indent="0">
              <a:buNone/>
            </a:pPr>
            <a:r>
              <a:rPr lang="en-US" sz="1100" b="1" dirty="0">
                <a:solidFill>
                  <a:srgbClr val="1363DF"/>
                </a:solidFill>
                <a:latin typeface="Calibri" pitchFamily="34" charset="0"/>
                <a:ea typeface="Calibri" pitchFamily="34" charset="-122"/>
                <a:cs typeface="Calibri" pitchFamily="34" charset="-120"/>
              </a:rPr>
              <a:t>Metric: Total Catchments  |  Unit: Count</a:t>
            </a:r>
            <a:endParaRPr lang="en-US" sz="1100" dirty="0"/>
          </a:p>
        </p:txBody>
      </p:sp>
      <p:sp>
        <p:nvSpPr>
          <p:cNvPr id="9" name="Text 7"/>
          <p:cNvSpPr/>
          <p:nvPr/>
        </p:nvSpPr>
        <p:spPr>
          <a:xfrm>
            <a:off x="2743200" y="1572768"/>
            <a:ext cx="8869680" cy="50292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The full population of river catchment gauge stations analyzed in the dataset. Each represents a unique hydrological unit.</a:t>
            </a:r>
            <a:endParaRPr lang="en-US" sz="1100" dirty="0"/>
          </a:p>
        </p:txBody>
      </p:sp>
      <p:sp>
        <p:nvSpPr>
          <p:cNvPr id="10" name="Shape 8"/>
          <p:cNvSpPr/>
          <p:nvPr/>
        </p:nvSpPr>
        <p:spPr>
          <a:xfrm>
            <a:off x="320040" y="2304288"/>
            <a:ext cx="11521440" cy="10058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1" name="Shape 9"/>
          <p:cNvSpPr/>
          <p:nvPr/>
        </p:nvSpPr>
        <p:spPr>
          <a:xfrm>
            <a:off x="320040" y="2304288"/>
            <a:ext cx="2286000" cy="1005840"/>
          </a:xfrm>
          <a:prstGeom prst="rect">
            <a:avLst/>
          </a:prstGeom>
          <a:solidFill>
            <a:srgbClr val="0D7377"/>
          </a:solidFill>
          <a:ln w="12700">
            <a:solidFill>
              <a:srgbClr val="0D7377"/>
            </a:solidFill>
            <a:prstDash val="solid"/>
          </a:ln>
        </p:spPr>
      </p:sp>
      <p:sp>
        <p:nvSpPr>
          <p:cNvPr id="12" name="Text 10"/>
          <p:cNvSpPr/>
          <p:nvPr/>
        </p:nvSpPr>
        <p:spPr>
          <a:xfrm>
            <a:off x="411480" y="2377440"/>
            <a:ext cx="210312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Total Population</a:t>
            </a:r>
            <a:endParaRPr lang="en-US" sz="1100" dirty="0"/>
          </a:p>
        </p:txBody>
      </p:sp>
      <p:sp>
        <p:nvSpPr>
          <p:cNvPr id="13" name="Text 11"/>
          <p:cNvSpPr/>
          <p:nvPr/>
        </p:nvSpPr>
        <p:spPr>
          <a:xfrm>
            <a:off x="411480" y="2715768"/>
            <a:ext cx="2103120" cy="4114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1.047B</a:t>
            </a:r>
            <a:endParaRPr lang="en-US" sz="2000" dirty="0"/>
          </a:p>
        </p:txBody>
      </p:sp>
      <p:sp>
        <p:nvSpPr>
          <p:cNvPr id="14" name="Text 12"/>
          <p:cNvSpPr/>
          <p:nvPr/>
        </p:nvSpPr>
        <p:spPr>
          <a:xfrm>
            <a:off x="2743200" y="2395728"/>
            <a:ext cx="8869680" cy="256032"/>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Metric: Total Population  |  Unit: Cumulative</a:t>
            </a:r>
            <a:endParaRPr lang="en-US" sz="1100" dirty="0"/>
          </a:p>
        </p:txBody>
      </p:sp>
      <p:sp>
        <p:nvSpPr>
          <p:cNvPr id="15" name="Text 13"/>
          <p:cNvSpPr/>
          <p:nvPr/>
        </p:nvSpPr>
        <p:spPr>
          <a:xfrm>
            <a:off x="2743200" y="2688336"/>
            <a:ext cx="8869680" cy="50292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Sum of Population Count across all 155 catchments. Represents the total human exposure across the study area.</a:t>
            </a:r>
            <a:endParaRPr lang="en-US" sz="1100" dirty="0"/>
          </a:p>
        </p:txBody>
      </p:sp>
      <p:sp>
        <p:nvSpPr>
          <p:cNvPr id="16" name="Shape 14"/>
          <p:cNvSpPr/>
          <p:nvPr/>
        </p:nvSpPr>
        <p:spPr>
          <a:xfrm>
            <a:off x="320040" y="3419856"/>
            <a:ext cx="11521440" cy="10058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7" name="Shape 15"/>
          <p:cNvSpPr/>
          <p:nvPr/>
        </p:nvSpPr>
        <p:spPr>
          <a:xfrm>
            <a:off x="320040" y="3419856"/>
            <a:ext cx="2286000" cy="1005840"/>
          </a:xfrm>
          <a:prstGeom prst="rect">
            <a:avLst/>
          </a:prstGeom>
          <a:solidFill>
            <a:srgbClr val="2B4B8C"/>
          </a:solidFill>
          <a:ln w="12700">
            <a:solidFill>
              <a:srgbClr val="2B4B8C"/>
            </a:solidFill>
            <a:prstDash val="solid"/>
          </a:ln>
        </p:spPr>
      </p:sp>
      <p:sp>
        <p:nvSpPr>
          <p:cNvPr id="18" name="Text 16"/>
          <p:cNvSpPr/>
          <p:nvPr/>
        </p:nvSpPr>
        <p:spPr>
          <a:xfrm>
            <a:off x="411480" y="3493008"/>
            <a:ext cx="210312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Average Relief Ratio</a:t>
            </a:r>
            <a:endParaRPr lang="en-US" sz="1100" dirty="0"/>
          </a:p>
        </p:txBody>
      </p:sp>
      <p:sp>
        <p:nvSpPr>
          <p:cNvPr id="19" name="Text 17"/>
          <p:cNvSpPr/>
          <p:nvPr/>
        </p:nvSpPr>
        <p:spPr>
          <a:xfrm>
            <a:off x="411480" y="3831336"/>
            <a:ext cx="2103120" cy="4114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0.01778</a:t>
            </a:r>
            <a:endParaRPr lang="en-US" sz="2000" dirty="0"/>
          </a:p>
        </p:txBody>
      </p:sp>
      <p:sp>
        <p:nvSpPr>
          <p:cNvPr id="20" name="Text 18"/>
          <p:cNvSpPr/>
          <p:nvPr/>
        </p:nvSpPr>
        <p:spPr>
          <a:xfrm>
            <a:off x="2743200" y="3511296"/>
            <a:ext cx="8869680" cy="256032"/>
          </a:xfrm>
          <a:prstGeom prst="rect">
            <a:avLst/>
          </a:prstGeom>
          <a:noFill/>
          <a:ln/>
        </p:spPr>
        <p:txBody>
          <a:bodyPr wrap="square" rtlCol="0" anchor="ctr"/>
          <a:lstStyle/>
          <a:p>
            <a:pPr marL="0" indent="0">
              <a:buNone/>
            </a:pPr>
            <a:r>
              <a:rPr lang="en-US" sz="1100" b="1" dirty="0">
                <a:solidFill>
                  <a:srgbClr val="2B4B8C"/>
                </a:solidFill>
                <a:latin typeface="Calibri" pitchFamily="34" charset="0"/>
                <a:ea typeface="Calibri" pitchFamily="34" charset="-122"/>
                <a:cs typeface="Calibri" pitchFamily="34" charset="-120"/>
              </a:rPr>
              <a:t>Metric: Average Relief Ratio  |  Unit: m/m</a:t>
            </a:r>
            <a:endParaRPr lang="en-US" sz="1100" dirty="0"/>
          </a:p>
        </p:txBody>
      </p:sp>
      <p:sp>
        <p:nvSpPr>
          <p:cNvPr id="21" name="Text 19"/>
          <p:cNvSpPr/>
          <p:nvPr/>
        </p:nvSpPr>
        <p:spPr>
          <a:xfrm>
            <a:off x="2743200" y="3803904"/>
            <a:ext cx="8869680" cy="50292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Mean ratio of catchment relief to basin length. A proxy for flow velocity — higher values indicate steeper, faster-responding basins.</a:t>
            </a:r>
            <a:endParaRPr lang="en-US" sz="1100" dirty="0"/>
          </a:p>
        </p:txBody>
      </p:sp>
      <p:sp>
        <p:nvSpPr>
          <p:cNvPr id="22" name="Shape 20"/>
          <p:cNvSpPr/>
          <p:nvPr/>
        </p:nvSpPr>
        <p:spPr>
          <a:xfrm>
            <a:off x="320040" y="4535424"/>
            <a:ext cx="11521440" cy="10058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3" name="Shape 21"/>
          <p:cNvSpPr/>
          <p:nvPr/>
        </p:nvSpPr>
        <p:spPr>
          <a:xfrm>
            <a:off x="320040" y="4535424"/>
            <a:ext cx="2286000" cy="1005840"/>
          </a:xfrm>
          <a:prstGeom prst="rect">
            <a:avLst/>
          </a:prstGeom>
          <a:solidFill>
            <a:srgbClr val="F4A261"/>
          </a:solidFill>
          <a:ln w="12700">
            <a:solidFill>
              <a:srgbClr val="F4A261"/>
            </a:solidFill>
            <a:prstDash val="solid"/>
          </a:ln>
        </p:spPr>
      </p:sp>
      <p:sp>
        <p:nvSpPr>
          <p:cNvPr id="24" name="Text 22"/>
          <p:cNvSpPr/>
          <p:nvPr/>
        </p:nvSpPr>
        <p:spPr>
          <a:xfrm>
            <a:off x="411480" y="4608576"/>
            <a:ext cx="210312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Average Drainage</a:t>
            </a:r>
            <a:endParaRPr lang="en-US" sz="1100" dirty="0"/>
          </a:p>
        </p:txBody>
      </p:sp>
      <p:sp>
        <p:nvSpPr>
          <p:cNvPr id="25" name="Text 23"/>
          <p:cNvSpPr/>
          <p:nvPr/>
        </p:nvSpPr>
        <p:spPr>
          <a:xfrm>
            <a:off x="411480" y="4946904"/>
            <a:ext cx="2103120" cy="4114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0.0001575</a:t>
            </a:r>
            <a:endParaRPr lang="en-US" sz="2000" dirty="0"/>
          </a:p>
        </p:txBody>
      </p:sp>
      <p:sp>
        <p:nvSpPr>
          <p:cNvPr id="26" name="Text 24"/>
          <p:cNvSpPr/>
          <p:nvPr/>
        </p:nvSpPr>
        <p:spPr>
          <a:xfrm>
            <a:off x="2743200" y="4626864"/>
            <a:ext cx="8869680" cy="256032"/>
          </a:xfrm>
          <a:prstGeom prst="rect">
            <a:avLst/>
          </a:prstGeom>
          <a:noFill/>
          <a:ln/>
        </p:spPr>
        <p:txBody>
          <a:bodyPr wrap="square" rtlCol="0" anchor="ctr"/>
          <a:lstStyle/>
          <a:p>
            <a:pPr marL="0" indent="0">
              <a:buNone/>
            </a:pPr>
            <a:r>
              <a:rPr lang="en-US" sz="1100" b="1" dirty="0">
                <a:solidFill>
                  <a:srgbClr val="F4A261"/>
                </a:solidFill>
                <a:latin typeface="Calibri" pitchFamily="34" charset="0"/>
                <a:ea typeface="Calibri" pitchFamily="34" charset="-122"/>
                <a:cs typeface="Calibri" pitchFamily="34" charset="-120"/>
              </a:rPr>
              <a:t>Metric: Average Drainage  |  Unit: km/km²</a:t>
            </a:r>
            <a:endParaRPr lang="en-US" sz="1100" dirty="0"/>
          </a:p>
        </p:txBody>
      </p:sp>
      <p:sp>
        <p:nvSpPr>
          <p:cNvPr id="27" name="Text 25"/>
          <p:cNvSpPr/>
          <p:nvPr/>
        </p:nvSpPr>
        <p:spPr>
          <a:xfrm>
            <a:off x="2743200" y="4919472"/>
            <a:ext cx="8869680" cy="50292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Mean drainage density across all catchments. Cropland consistently drives this above average; it correlates positively with runoff risk.</a:t>
            </a:r>
            <a:endParaRPr lang="en-US" sz="1100" dirty="0"/>
          </a:p>
        </p:txBody>
      </p:sp>
      <p:sp>
        <p:nvSpPr>
          <p:cNvPr id="28" name="Shape 26"/>
          <p:cNvSpPr/>
          <p:nvPr/>
        </p:nvSpPr>
        <p:spPr>
          <a:xfrm>
            <a:off x="320040" y="5650992"/>
            <a:ext cx="11521440" cy="100584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9" name="Shape 27"/>
          <p:cNvSpPr/>
          <p:nvPr/>
        </p:nvSpPr>
        <p:spPr>
          <a:xfrm>
            <a:off x="320040" y="5650992"/>
            <a:ext cx="2286000" cy="1005840"/>
          </a:xfrm>
          <a:prstGeom prst="rect">
            <a:avLst/>
          </a:prstGeom>
          <a:solidFill>
            <a:srgbClr val="E63946"/>
          </a:solidFill>
          <a:ln w="12700">
            <a:solidFill>
              <a:srgbClr val="E63946"/>
            </a:solidFill>
            <a:prstDash val="solid"/>
          </a:ln>
        </p:spPr>
      </p:sp>
      <p:sp>
        <p:nvSpPr>
          <p:cNvPr id="30" name="Text 28"/>
          <p:cNvSpPr/>
          <p:nvPr/>
        </p:nvSpPr>
        <p:spPr>
          <a:xfrm>
            <a:off x="411480" y="5724144"/>
            <a:ext cx="2103120" cy="3200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Average Flood Risk</a:t>
            </a:r>
            <a:endParaRPr lang="en-US" sz="1100" dirty="0"/>
          </a:p>
        </p:txBody>
      </p:sp>
      <p:sp>
        <p:nvSpPr>
          <p:cNvPr id="31" name="Text 29"/>
          <p:cNvSpPr/>
          <p:nvPr/>
        </p:nvSpPr>
        <p:spPr>
          <a:xfrm>
            <a:off x="411480" y="6062472"/>
            <a:ext cx="2103120" cy="4114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0.0000026</a:t>
            </a:r>
            <a:endParaRPr lang="en-US" sz="2000" dirty="0"/>
          </a:p>
        </p:txBody>
      </p:sp>
      <p:sp>
        <p:nvSpPr>
          <p:cNvPr id="32" name="Text 30"/>
          <p:cNvSpPr/>
          <p:nvPr/>
        </p:nvSpPr>
        <p:spPr>
          <a:xfrm>
            <a:off x="2743200" y="5742432"/>
            <a:ext cx="8869680" cy="256032"/>
          </a:xfrm>
          <a:prstGeom prst="rect">
            <a:avLst/>
          </a:prstGeom>
          <a:noFill/>
          <a:ln/>
        </p:spPr>
        <p:txBody>
          <a:bodyPr wrap="square" rtlCol="0" anchor="ctr"/>
          <a:lstStyle/>
          <a:p>
            <a:pPr marL="0" indent="0">
              <a:buNone/>
            </a:pPr>
            <a:r>
              <a:rPr lang="en-US" sz="1100" b="1" dirty="0">
                <a:solidFill>
                  <a:srgbClr val="E63946"/>
                </a:solidFill>
                <a:latin typeface="Calibri" pitchFamily="34" charset="0"/>
                <a:ea typeface="Calibri" pitchFamily="34" charset="-122"/>
                <a:cs typeface="Calibri" pitchFamily="34" charset="-120"/>
              </a:rPr>
              <a:t>Metric: Average Flood Risk  |  Unit: Index</a:t>
            </a:r>
            <a:endParaRPr lang="en-US" sz="1100" dirty="0"/>
          </a:p>
        </p:txBody>
      </p:sp>
      <p:sp>
        <p:nvSpPr>
          <p:cNvPr id="33" name="Text 31"/>
          <p:cNvSpPr/>
          <p:nvPr/>
        </p:nvSpPr>
        <p:spPr>
          <a:xfrm>
            <a:off x="2743200" y="6035040"/>
            <a:ext cx="8869680" cy="50292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The average composite Flood Risk Index. Small values mask significant outliers — the maximum (0.000017) is 6.5× the mean.</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Dashboard — Filters, Interactivity &amp; How to Use</a:t>
            </a:r>
            <a:endParaRPr lang="en-US" sz="3000" dirty="0"/>
          </a:p>
        </p:txBody>
      </p:sp>
      <p:sp>
        <p:nvSpPr>
          <p:cNvPr id="4" name="Shape 2"/>
          <p:cNvSpPr/>
          <p:nvPr/>
        </p:nvSpPr>
        <p:spPr>
          <a:xfrm>
            <a:off x="320040" y="1143000"/>
            <a:ext cx="5486400" cy="53035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Text 3"/>
          <p:cNvSpPr/>
          <p:nvPr/>
        </p:nvSpPr>
        <p:spPr>
          <a:xfrm>
            <a:off x="457200" y="1280160"/>
            <a:ext cx="5212080" cy="365760"/>
          </a:xfrm>
          <a:prstGeom prst="rect">
            <a:avLst/>
          </a:prstGeom>
          <a:noFill/>
          <a:ln/>
        </p:spPr>
        <p:txBody>
          <a:bodyPr wrap="square"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Available Filters &amp; Slicers</a:t>
            </a:r>
            <a:endParaRPr lang="en-US" sz="1400" dirty="0"/>
          </a:p>
        </p:txBody>
      </p:sp>
      <p:sp>
        <p:nvSpPr>
          <p:cNvPr id="6" name="Shape 4"/>
          <p:cNvSpPr/>
          <p:nvPr/>
        </p:nvSpPr>
        <p:spPr>
          <a:xfrm>
            <a:off x="457200" y="1664208"/>
            <a:ext cx="5212080" cy="0"/>
          </a:xfrm>
          <a:prstGeom prst="line">
            <a:avLst/>
          </a:prstGeom>
          <a:noFill/>
          <a:ln w="12700">
            <a:solidFill>
              <a:srgbClr val="CBD5E1"/>
            </a:solidFill>
            <a:prstDash val="solid"/>
          </a:ln>
        </p:spPr>
      </p:sp>
      <p:sp>
        <p:nvSpPr>
          <p:cNvPr id="7" name="Shape 5"/>
          <p:cNvSpPr/>
          <p:nvPr/>
        </p:nvSpPr>
        <p:spPr>
          <a:xfrm>
            <a:off x="457200" y="1828800"/>
            <a:ext cx="5120640" cy="1005840"/>
          </a:xfrm>
          <a:prstGeom prst="rect">
            <a:avLst/>
          </a:prstGeom>
          <a:solidFill>
            <a:srgbClr val="EEF2FA"/>
          </a:solidFill>
          <a:ln w="12700">
            <a:solidFill>
              <a:srgbClr val="CBD5E1"/>
            </a:solidFill>
            <a:prstDash val="solid"/>
          </a:ln>
        </p:spPr>
      </p:sp>
      <p:sp>
        <p:nvSpPr>
          <p:cNvPr id="8" name="Text 6"/>
          <p:cNvSpPr/>
          <p:nvPr/>
        </p:nvSpPr>
        <p:spPr>
          <a:xfrm>
            <a:off x="594360" y="1901952"/>
            <a:ext cx="4754880" cy="32004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  Soil Type Slicer</a:t>
            </a:r>
            <a:endParaRPr lang="en-US" sz="1200" dirty="0"/>
          </a:p>
        </p:txBody>
      </p:sp>
      <p:sp>
        <p:nvSpPr>
          <p:cNvPr id="9" name="Text 7"/>
          <p:cNvSpPr/>
          <p:nvPr/>
        </p:nvSpPr>
        <p:spPr>
          <a:xfrm>
            <a:off x="594360" y="2240280"/>
            <a:ext cx="4754880" cy="50292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Right-panel slicer with 8 soil categories (Acrisols, Cambisols, Fluvisols, Leptosols, Lixisols, Luvisols, No Dominant Class, Vertisols). Clicking a soil type filters all charts simultaneously.</a:t>
            </a:r>
            <a:endParaRPr lang="en-US" sz="1100" dirty="0"/>
          </a:p>
        </p:txBody>
      </p:sp>
      <p:sp>
        <p:nvSpPr>
          <p:cNvPr id="10" name="Shape 8"/>
          <p:cNvSpPr/>
          <p:nvPr/>
        </p:nvSpPr>
        <p:spPr>
          <a:xfrm>
            <a:off x="457200" y="2944368"/>
            <a:ext cx="5120640" cy="1005840"/>
          </a:xfrm>
          <a:prstGeom prst="rect">
            <a:avLst/>
          </a:prstGeom>
          <a:solidFill>
            <a:srgbClr val="EEF2FA"/>
          </a:solidFill>
          <a:ln w="12700">
            <a:solidFill>
              <a:srgbClr val="CBD5E1"/>
            </a:solidFill>
            <a:prstDash val="solid"/>
          </a:ln>
        </p:spPr>
      </p:sp>
      <p:sp>
        <p:nvSpPr>
          <p:cNvPr id="11" name="Text 9"/>
          <p:cNvSpPr/>
          <p:nvPr/>
        </p:nvSpPr>
        <p:spPr>
          <a:xfrm>
            <a:off x="594360" y="3017520"/>
            <a:ext cx="4754880" cy="32004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  Basin Size Dropdown</a:t>
            </a:r>
            <a:endParaRPr lang="en-US" sz="1200" dirty="0"/>
          </a:p>
        </p:txBody>
      </p:sp>
      <p:sp>
        <p:nvSpPr>
          <p:cNvPr id="12" name="Text 10"/>
          <p:cNvSpPr/>
          <p:nvPr/>
        </p:nvSpPr>
        <p:spPr>
          <a:xfrm>
            <a:off x="594360" y="3355848"/>
            <a:ext cx="4754880" cy="50292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Dropdown slicer in the bottom-right panel to filter the Flood Risk by Basin Size chart for Small, Medium, or Large basins independently.</a:t>
            </a:r>
            <a:endParaRPr lang="en-US" sz="1100" dirty="0"/>
          </a:p>
        </p:txBody>
      </p:sp>
      <p:sp>
        <p:nvSpPr>
          <p:cNvPr id="13" name="Shape 11"/>
          <p:cNvSpPr/>
          <p:nvPr/>
        </p:nvSpPr>
        <p:spPr>
          <a:xfrm>
            <a:off x="457200" y="4059936"/>
            <a:ext cx="5120640" cy="1005840"/>
          </a:xfrm>
          <a:prstGeom prst="rect">
            <a:avLst/>
          </a:prstGeom>
          <a:solidFill>
            <a:srgbClr val="EEF2FA"/>
          </a:solidFill>
          <a:ln w="12700">
            <a:solidFill>
              <a:srgbClr val="CBD5E1"/>
            </a:solidFill>
            <a:prstDash val="solid"/>
          </a:ln>
        </p:spPr>
      </p:sp>
      <p:sp>
        <p:nvSpPr>
          <p:cNvPr id="14" name="Text 12"/>
          <p:cNvSpPr/>
          <p:nvPr/>
        </p:nvSpPr>
        <p:spPr>
          <a:xfrm>
            <a:off x="594360" y="4133088"/>
            <a:ext cx="4754880" cy="32004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  Land Cover Dropdown</a:t>
            </a:r>
            <a:endParaRPr lang="en-US" sz="1200" dirty="0"/>
          </a:p>
        </p:txBody>
      </p:sp>
      <p:sp>
        <p:nvSpPr>
          <p:cNvPr id="15" name="Text 13"/>
          <p:cNvSpPr/>
          <p:nvPr/>
        </p:nvSpPr>
        <p:spPr>
          <a:xfrm>
            <a:off x="594360" y="4471416"/>
            <a:ext cx="4754880" cy="50292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Dropdown filter in the Land Cover Impact chart allows users to isolate Cropland, Forest, Mosaic Vegetation, or No Dominant Class analysis.</a:t>
            </a:r>
            <a:endParaRPr lang="en-US" sz="1100" dirty="0"/>
          </a:p>
        </p:txBody>
      </p:sp>
      <p:sp>
        <p:nvSpPr>
          <p:cNvPr id="16" name="Shape 14"/>
          <p:cNvSpPr/>
          <p:nvPr/>
        </p:nvSpPr>
        <p:spPr>
          <a:xfrm>
            <a:off x="457200" y="5175504"/>
            <a:ext cx="5120640" cy="1005840"/>
          </a:xfrm>
          <a:prstGeom prst="rect">
            <a:avLst/>
          </a:prstGeom>
          <a:solidFill>
            <a:srgbClr val="EEF2FA"/>
          </a:solidFill>
          <a:ln w="12700">
            <a:solidFill>
              <a:srgbClr val="CBD5E1"/>
            </a:solidFill>
            <a:prstDash val="solid"/>
          </a:ln>
        </p:spPr>
      </p:sp>
      <p:sp>
        <p:nvSpPr>
          <p:cNvPr id="17" name="Text 15"/>
          <p:cNvSpPr/>
          <p:nvPr/>
        </p:nvSpPr>
        <p:spPr>
          <a:xfrm>
            <a:off x="594360" y="5248656"/>
            <a:ext cx="4754880" cy="32004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  Cross-Chart Filtering</a:t>
            </a:r>
            <a:endParaRPr lang="en-US" sz="1200" dirty="0"/>
          </a:p>
        </p:txBody>
      </p:sp>
      <p:sp>
        <p:nvSpPr>
          <p:cNvPr id="18" name="Text 16"/>
          <p:cNvSpPr/>
          <p:nvPr/>
        </p:nvSpPr>
        <p:spPr>
          <a:xfrm>
            <a:off x="594360" y="5586984"/>
            <a:ext cx="4754880" cy="50292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Clicking any chart element (bar, pie slice) filters all other visuals on the dashboard, enabling dynamic drill-down exploration.</a:t>
            </a:r>
            <a:endParaRPr lang="en-US" sz="1100" dirty="0"/>
          </a:p>
        </p:txBody>
      </p:sp>
      <p:sp>
        <p:nvSpPr>
          <p:cNvPr id="27" name="Text 25"/>
          <p:cNvSpPr/>
          <p:nvPr/>
        </p:nvSpPr>
        <p:spPr>
          <a:xfrm>
            <a:off x="6126480" y="2871216"/>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1" name="Text 29"/>
          <p:cNvSpPr/>
          <p:nvPr/>
        </p:nvSpPr>
        <p:spPr>
          <a:xfrm>
            <a:off x="6126480" y="3803904"/>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5" name="Text 33"/>
          <p:cNvSpPr/>
          <p:nvPr/>
        </p:nvSpPr>
        <p:spPr>
          <a:xfrm>
            <a:off x="6126480" y="4736592"/>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7"/>
          <p:cNvSpPr/>
          <p:nvPr/>
        </p:nvSpPr>
        <p:spPr>
          <a:xfrm>
            <a:off x="6126480" y="566928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Key Insights from the Analysis</a:t>
            </a:r>
            <a:endParaRPr lang="en-US" sz="3000" dirty="0"/>
          </a:p>
        </p:txBody>
      </p:sp>
      <p:sp>
        <p:nvSpPr>
          <p:cNvPr id="4" name="Shape 2"/>
          <p:cNvSpPr/>
          <p:nvPr/>
        </p:nvSpPr>
        <p:spPr>
          <a:xfrm>
            <a:off x="320040" y="1097280"/>
            <a:ext cx="5669280" cy="16459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20040" y="1097280"/>
            <a:ext cx="640080" cy="1645920"/>
          </a:xfrm>
          <a:prstGeom prst="rect">
            <a:avLst/>
          </a:prstGeom>
          <a:solidFill>
            <a:srgbClr val="E63946"/>
          </a:solidFill>
          <a:ln w="12700">
            <a:solidFill>
              <a:srgbClr val="E63946"/>
            </a:solidFill>
            <a:prstDash val="solid"/>
          </a:ln>
        </p:spPr>
      </p:sp>
      <p:sp>
        <p:nvSpPr>
          <p:cNvPr id="6" name="Text 4"/>
          <p:cNvSpPr/>
          <p:nvPr/>
        </p:nvSpPr>
        <p:spPr>
          <a:xfrm>
            <a:off x="320040" y="1691640"/>
            <a:ext cx="64008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7" name="Text 5"/>
          <p:cNvSpPr/>
          <p:nvPr/>
        </p:nvSpPr>
        <p:spPr>
          <a:xfrm>
            <a:off x="1097280" y="1207008"/>
            <a:ext cx="4754880" cy="365760"/>
          </a:xfrm>
          <a:prstGeom prst="rect">
            <a:avLst/>
          </a:prstGeom>
          <a:noFill/>
          <a:ln/>
        </p:spPr>
        <p:txBody>
          <a:bodyPr wrap="square"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Small Basins Are the Primary Risk Driver</a:t>
            </a:r>
            <a:endParaRPr lang="en-US" sz="1200" dirty="0"/>
          </a:p>
        </p:txBody>
      </p:sp>
      <p:sp>
        <p:nvSpPr>
          <p:cNvPr id="8" name="Text 6"/>
          <p:cNvSpPr/>
          <p:nvPr/>
        </p:nvSpPr>
        <p:spPr>
          <a:xfrm>
            <a:off x="1097280" y="1600200"/>
            <a:ext cx="4754880" cy="10058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Small catchments (&lt;5,000 km²) show a Flood Risk Index 4× higher than medium basins. The combination of faster response time, less floodplain storage, and higher drainage density makes them disproportionately dangerous.</a:t>
            </a:r>
            <a:endParaRPr lang="en-US" sz="1100" dirty="0"/>
          </a:p>
        </p:txBody>
      </p:sp>
      <p:sp>
        <p:nvSpPr>
          <p:cNvPr id="9" name="Shape 7"/>
          <p:cNvSpPr/>
          <p:nvPr/>
        </p:nvSpPr>
        <p:spPr>
          <a:xfrm>
            <a:off x="6263640" y="1097280"/>
            <a:ext cx="5669280" cy="16459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0" name="Shape 8"/>
          <p:cNvSpPr/>
          <p:nvPr/>
        </p:nvSpPr>
        <p:spPr>
          <a:xfrm>
            <a:off x="6263640" y="1097280"/>
            <a:ext cx="640080" cy="1645920"/>
          </a:xfrm>
          <a:prstGeom prst="rect">
            <a:avLst/>
          </a:prstGeom>
          <a:solidFill>
            <a:srgbClr val="1363DF"/>
          </a:solidFill>
          <a:ln w="12700">
            <a:solidFill>
              <a:srgbClr val="1363DF"/>
            </a:solidFill>
            <a:prstDash val="solid"/>
          </a:ln>
        </p:spPr>
      </p:sp>
      <p:sp>
        <p:nvSpPr>
          <p:cNvPr id="11" name="Text 9"/>
          <p:cNvSpPr/>
          <p:nvPr/>
        </p:nvSpPr>
        <p:spPr>
          <a:xfrm>
            <a:off x="6263640" y="1691640"/>
            <a:ext cx="64008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12" name="Text 10"/>
          <p:cNvSpPr/>
          <p:nvPr/>
        </p:nvSpPr>
        <p:spPr>
          <a:xfrm>
            <a:off x="7040880" y="1207008"/>
            <a:ext cx="4754880" cy="365760"/>
          </a:xfrm>
          <a:prstGeom prst="rect">
            <a:avLst/>
          </a:prstGeom>
          <a:noFill/>
          <a:ln/>
        </p:spPr>
        <p:txBody>
          <a:bodyPr wrap="square" rtlCol="0" anchor="ctr"/>
          <a:lstStyle/>
          <a:p>
            <a:pPr marL="0" indent="0">
              <a:buNone/>
            </a:pPr>
            <a:r>
              <a:rPr lang="en-US" sz="1200" b="1" dirty="0">
                <a:solidFill>
                  <a:srgbClr val="1363DF"/>
                </a:solidFill>
                <a:latin typeface="Calibri" pitchFamily="34" charset="0"/>
                <a:ea typeface="Calibri" pitchFamily="34" charset="-122"/>
                <a:cs typeface="Calibri" pitchFamily="34" charset="-120"/>
              </a:rPr>
              <a:t>Cambisols Are the Most Vulnerable Soil Type</a:t>
            </a:r>
            <a:endParaRPr lang="en-US" sz="1200" dirty="0"/>
          </a:p>
        </p:txBody>
      </p:sp>
      <p:sp>
        <p:nvSpPr>
          <p:cNvPr id="13" name="Text 11"/>
          <p:cNvSpPr/>
          <p:nvPr/>
        </p:nvSpPr>
        <p:spPr>
          <a:xfrm>
            <a:off x="7040880" y="1600200"/>
            <a:ext cx="4754880" cy="10058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Catchments dominated by Cambisols average an FRI of 0.000006 — the highest of all soil types. These moderately weathered soils with limited structure-stability top the priority list for water management intervention.</a:t>
            </a:r>
            <a:endParaRPr lang="en-US" sz="1100" dirty="0"/>
          </a:p>
        </p:txBody>
      </p:sp>
      <p:sp>
        <p:nvSpPr>
          <p:cNvPr id="14" name="Shape 12"/>
          <p:cNvSpPr/>
          <p:nvPr/>
        </p:nvSpPr>
        <p:spPr>
          <a:xfrm>
            <a:off x="320040" y="2926080"/>
            <a:ext cx="5669280" cy="16459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5" name="Shape 13"/>
          <p:cNvSpPr/>
          <p:nvPr/>
        </p:nvSpPr>
        <p:spPr>
          <a:xfrm>
            <a:off x="320040" y="2926080"/>
            <a:ext cx="640080" cy="1645920"/>
          </a:xfrm>
          <a:prstGeom prst="rect">
            <a:avLst/>
          </a:prstGeom>
          <a:solidFill>
            <a:srgbClr val="0D7377"/>
          </a:solidFill>
          <a:ln w="12700">
            <a:solidFill>
              <a:srgbClr val="0D7377"/>
            </a:solidFill>
            <a:prstDash val="solid"/>
          </a:ln>
        </p:spPr>
      </p:sp>
      <p:sp>
        <p:nvSpPr>
          <p:cNvPr id="16" name="Text 14"/>
          <p:cNvSpPr/>
          <p:nvPr/>
        </p:nvSpPr>
        <p:spPr>
          <a:xfrm>
            <a:off x="320040" y="3520440"/>
            <a:ext cx="64008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03</a:t>
            </a:r>
            <a:endParaRPr lang="en-US" sz="2000" dirty="0"/>
          </a:p>
        </p:txBody>
      </p:sp>
      <p:sp>
        <p:nvSpPr>
          <p:cNvPr id="17" name="Text 15"/>
          <p:cNvSpPr/>
          <p:nvPr/>
        </p:nvSpPr>
        <p:spPr>
          <a:xfrm>
            <a:off x="1097280" y="3035808"/>
            <a:ext cx="4754880" cy="365760"/>
          </a:xfrm>
          <a:prstGeom prst="rect">
            <a:avLst/>
          </a:prstGeom>
          <a:noFill/>
          <a:ln/>
        </p:spPr>
        <p:txBody>
          <a:bodyPr wrap="square" rtlCol="0" anchor="ctr"/>
          <a:lstStyle/>
          <a:p>
            <a:pPr marL="0" indent="0">
              <a:buNone/>
            </a:pPr>
            <a:r>
              <a:rPr lang="en-US" sz="1200" b="1" dirty="0">
                <a:solidFill>
                  <a:srgbClr val="0D7377"/>
                </a:solidFill>
                <a:latin typeface="Calibri" pitchFamily="34" charset="0"/>
                <a:ea typeface="Calibri" pitchFamily="34" charset="-122"/>
                <a:cs typeface="Calibri" pitchFamily="34" charset="-120"/>
              </a:rPr>
              <a:t>Cropland Amplifies Flood Risk Through Drainage</a:t>
            </a:r>
            <a:endParaRPr lang="en-US" sz="1200" dirty="0"/>
          </a:p>
        </p:txBody>
      </p:sp>
      <p:sp>
        <p:nvSpPr>
          <p:cNvPr id="18" name="Text 16"/>
          <p:cNvSpPr/>
          <p:nvPr/>
        </p:nvSpPr>
        <p:spPr>
          <a:xfrm>
            <a:off x="1097280" y="3429000"/>
            <a:ext cx="4754880" cy="10058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Land under cultivation shows the highest average drainage density (0.000162 km/km²), significantly exceeding forest areas. Agricultural expansion without adequate drainage planning is a key risk amplifier.</a:t>
            </a:r>
            <a:endParaRPr lang="en-US" sz="1100" dirty="0"/>
          </a:p>
        </p:txBody>
      </p:sp>
      <p:sp>
        <p:nvSpPr>
          <p:cNvPr id="19" name="Shape 17"/>
          <p:cNvSpPr/>
          <p:nvPr/>
        </p:nvSpPr>
        <p:spPr>
          <a:xfrm>
            <a:off x="6263640" y="2926080"/>
            <a:ext cx="5669280" cy="16459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0" name="Shape 18"/>
          <p:cNvSpPr/>
          <p:nvPr/>
        </p:nvSpPr>
        <p:spPr>
          <a:xfrm>
            <a:off x="6263640" y="2926080"/>
            <a:ext cx="640080" cy="1645920"/>
          </a:xfrm>
          <a:prstGeom prst="rect">
            <a:avLst/>
          </a:prstGeom>
          <a:solidFill>
            <a:srgbClr val="F4A261"/>
          </a:solidFill>
          <a:ln w="12700">
            <a:solidFill>
              <a:srgbClr val="F4A261"/>
            </a:solidFill>
            <a:prstDash val="solid"/>
          </a:ln>
        </p:spPr>
      </p:sp>
      <p:sp>
        <p:nvSpPr>
          <p:cNvPr id="21" name="Text 19"/>
          <p:cNvSpPr/>
          <p:nvPr/>
        </p:nvSpPr>
        <p:spPr>
          <a:xfrm>
            <a:off x="6263640" y="3520440"/>
            <a:ext cx="64008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04</a:t>
            </a:r>
            <a:endParaRPr lang="en-US" sz="2000" dirty="0"/>
          </a:p>
        </p:txBody>
      </p:sp>
      <p:sp>
        <p:nvSpPr>
          <p:cNvPr id="22" name="Text 20"/>
          <p:cNvSpPr/>
          <p:nvPr/>
        </p:nvSpPr>
        <p:spPr>
          <a:xfrm>
            <a:off x="7040880" y="3035808"/>
            <a:ext cx="4754880" cy="365760"/>
          </a:xfrm>
          <a:prstGeom prst="rect">
            <a:avLst/>
          </a:prstGeom>
          <a:noFill/>
          <a:ln/>
        </p:spPr>
        <p:txBody>
          <a:bodyPr wrap="square" rtlCol="0" anchor="ctr"/>
          <a:lstStyle/>
          <a:p>
            <a:pPr marL="0" indent="0">
              <a:buNone/>
            </a:pPr>
            <a:r>
              <a:rPr lang="en-US" sz="1200" b="1" dirty="0">
                <a:solidFill>
                  <a:srgbClr val="F4A261"/>
                </a:solidFill>
                <a:latin typeface="Calibri" pitchFamily="34" charset="0"/>
                <a:ea typeface="Calibri" pitchFamily="34" charset="-122"/>
                <a:cs typeface="Calibri" pitchFamily="34" charset="-120"/>
              </a:rPr>
              <a:t>21% of Catchments Are High-Risk — 60% Are Low Risk</a:t>
            </a:r>
            <a:endParaRPr lang="en-US" sz="1200" dirty="0"/>
          </a:p>
        </p:txBody>
      </p:sp>
      <p:sp>
        <p:nvSpPr>
          <p:cNvPr id="23" name="Text 21"/>
          <p:cNvSpPr/>
          <p:nvPr/>
        </p:nvSpPr>
        <p:spPr>
          <a:xfrm>
            <a:off x="7040880" y="3429000"/>
            <a:ext cx="4754880" cy="10058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While 93 catchments are classified Low risk, the 33 High-risk ones represent concentrated vulnerabilities requiring targeted policy. The distribution is skewed, validating prioritized (not uniform) investment.</a:t>
            </a:r>
            <a:endParaRPr lang="en-US" sz="1100" dirty="0"/>
          </a:p>
        </p:txBody>
      </p:sp>
      <p:sp>
        <p:nvSpPr>
          <p:cNvPr id="24" name="Shape 22"/>
          <p:cNvSpPr/>
          <p:nvPr/>
        </p:nvSpPr>
        <p:spPr>
          <a:xfrm>
            <a:off x="320040" y="4754880"/>
            <a:ext cx="5669280" cy="16459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5" name="Shape 23"/>
          <p:cNvSpPr/>
          <p:nvPr/>
        </p:nvSpPr>
        <p:spPr>
          <a:xfrm>
            <a:off x="320040" y="4754880"/>
            <a:ext cx="640080" cy="1645920"/>
          </a:xfrm>
          <a:prstGeom prst="rect">
            <a:avLst/>
          </a:prstGeom>
          <a:solidFill>
            <a:srgbClr val="2B4B8C"/>
          </a:solidFill>
          <a:ln w="12700">
            <a:solidFill>
              <a:srgbClr val="2B4B8C"/>
            </a:solidFill>
            <a:prstDash val="solid"/>
          </a:ln>
        </p:spPr>
      </p:sp>
      <p:sp>
        <p:nvSpPr>
          <p:cNvPr id="26" name="Text 24"/>
          <p:cNvSpPr/>
          <p:nvPr/>
        </p:nvSpPr>
        <p:spPr>
          <a:xfrm>
            <a:off x="320040" y="5349240"/>
            <a:ext cx="64008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05</a:t>
            </a:r>
            <a:endParaRPr lang="en-US" sz="2000" dirty="0"/>
          </a:p>
        </p:txBody>
      </p:sp>
      <p:sp>
        <p:nvSpPr>
          <p:cNvPr id="27" name="Text 25"/>
          <p:cNvSpPr/>
          <p:nvPr/>
        </p:nvSpPr>
        <p:spPr>
          <a:xfrm>
            <a:off x="1097280" y="4864608"/>
            <a:ext cx="4754880" cy="365760"/>
          </a:xfrm>
          <a:prstGeom prst="rect">
            <a:avLst/>
          </a:prstGeom>
          <a:noFill/>
          <a:ln/>
        </p:spPr>
        <p:txBody>
          <a:bodyPr wrap="square" rtlCol="0" anchor="ctr"/>
          <a:lstStyle/>
          <a:p>
            <a:pPr marL="0" indent="0">
              <a:buNone/>
            </a:pPr>
            <a:r>
              <a:rPr lang="en-US" sz="1200" b="1" dirty="0">
                <a:solidFill>
                  <a:srgbClr val="2B4B8C"/>
                </a:solidFill>
                <a:latin typeface="Calibri" pitchFamily="34" charset="0"/>
                <a:ea typeface="Calibri" pitchFamily="34" charset="-122"/>
                <a:cs typeface="Calibri" pitchFamily="34" charset="-120"/>
              </a:rPr>
              <a:t>Population Density and Flood Risk Are Weakly Correlated</a:t>
            </a:r>
            <a:endParaRPr lang="en-US" sz="1200" dirty="0"/>
          </a:p>
        </p:txBody>
      </p:sp>
      <p:sp>
        <p:nvSpPr>
          <p:cNvPr id="28" name="Text 26"/>
          <p:cNvSpPr/>
          <p:nvPr/>
        </p:nvSpPr>
        <p:spPr>
          <a:xfrm>
            <a:off x="1097280" y="5257800"/>
            <a:ext cx="4754880" cy="10058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Some of the highest-FRI catchments have relatively sparse populations today — but growth trends (GDP, HDI, road density) suggest these may become densely populated flood zones within a decade.</a:t>
            </a:r>
            <a:endParaRPr lang="en-US" sz="1100" dirty="0"/>
          </a:p>
        </p:txBody>
      </p:sp>
      <p:sp>
        <p:nvSpPr>
          <p:cNvPr id="29" name="Shape 27"/>
          <p:cNvSpPr/>
          <p:nvPr/>
        </p:nvSpPr>
        <p:spPr>
          <a:xfrm>
            <a:off x="6263640" y="4754880"/>
            <a:ext cx="5669280" cy="164592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30" name="Shape 28"/>
          <p:cNvSpPr/>
          <p:nvPr/>
        </p:nvSpPr>
        <p:spPr>
          <a:xfrm>
            <a:off x="6263640" y="4754880"/>
            <a:ext cx="640080" cy="1645920"/>
          </a:xfrm>
          <a:prstGeom prst="rect">
            <a:avLst/>
          </a:prstGeom>
          <a:solidFill>
            <a:srgbClr val="0B2545"/>
          </a:solidFill>
          <a:ln w="12700">
            <a:solidFill>
              <a:srgbClr val="0B2545"/>
            </a:solidFill>
            <a:prstDash val="solid"/>
          </a:ln>
        </p:spPr>
      </p:sp>
      <p:sp>
        <p:nvSpPr>
          <p:cNvPr id="31" name="Text 29"/>
          <p:cNvSpPr/>
          <p:nvPr/>
        </p:nvSpPr>
        <p:spPr>
          <a:xfrm>
            <a:off x="6263640" y="5349240"/>
            <a:ext cx="64008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06</a:t>
            </a:r>
            <a:endParaRPr lang="en-US" sz="2000" dirty="0"/>
          </a:p>
        </p:txBody>
      </p:sp>
      <p:sp>
        <p:nvSpPr>
          <p:cNvPr id="32" name="Text 30"/>
          <p:cNvSpPr/>
          <p:nvPr/>
        </p:nvSpPr>
        <p:spPr>
          <a:xfrm>
            <a:off x="7040880" y="4864608"/>
            <a:ext cx="4754880" cy="365760"/>
          </a:xfrm>
          <a:prstGeom prst="rect">
            <a:avLst/>
          </a:prstGeom>
          <a:noFill/>
          <a:ln/>
        </p:spPr>
        <p:txBody>
          <a:bodyPr wrap="square"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Tropical Climate Zones Combine Highest Risk + Lowest GDP</a:t>
            </a:r>
            <a:endParaRPr lang="en-US" sz="1200" dirty="0"/>
          </a:p>
        </p:txBody>
      </p:sp>
      <p:sp>
        <p:nvSpPr>
          <p:cNvPr id="33" name="Text 31"/>
          <p:cNvSpPr/>
          <p:nvPr/>
        </p:nvSpPr>
        <p:spPr>
          <a:xfrm>
            <a:off x="7040880" y="5257800"/>
            <a:ext cx="4754880" cy="10058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Tropical catchments carry the highest absolute flood risk and the lowest GDP/capita trajectory — creating a compounding vulnerability where the most at-risk areas have the least resources for resilience.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Recommendations — Data-Driven Actions</a:t>
            </a:r>
            <a:endParaRPr lang="en-US" sz="3000" dirty="0"/>
          </a:p>
        </p:txBody>
      </p:sp>
      <p:sp>
        <p:nvSpPr>
          <p:cNvPr id="4" name="Shape 2"/>
          <p:cNvSpPr/>
          <p:nvPr/>
        </p:nvSpPr>
        <p:spPr>
          <a:xfrm>
            <a:off x="320040" y="1097280"/>
            <a:ext cx="11521440" cy="8412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20040" y="1097280"/>
            <a:ext cx="1234440" cy="841248"/>
          </a:xfrm>
          <a:prstGeom prst="rect">
            <a:avLst/>
          </a:prstGeom>
          <a:solidFill>
            <a:srgbClr val="E63946"/>
          </a:solidFill>
          <a:ln w="12700">
            <a:solidFill>
              <a:srgbClr val="E63946"/>
            </a:solidFill>
            <a:prstDash val="solid"/>
          </a:ln>
        </p:spPr>
      </p:sp>
      <p:sp>
        <p:nvSpPr>
          <p:cNvPr id="6" name="Text 4"/>
          <p:cNvSpPr/>
          <p:nvPr/>
        </p:nvSpPr>
        <p:spPr>
          <a:xfrm>
            <a:off x="347472" y="1280160"/>
            <a:ext cx="1143000" cy="457200"/>
          </a:xfrm>
          <a:prstGeom prst="rect">
            <a:avLst/>
          </a:prstGeom>
          <a:noFill/>
          <a:ln/>
        </p:spPr>
        <p:txBody>
          <a:bodyPr wrap="square"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CRITICAL</a:t>
            </a:r>
            <a:endParaRPr lang="en-US" sz="1000" dirty="0"/>
          </a:p>
        </p:txBody>
      </p:sp>
      <p:sp>
        <p:nvSpPr>
          <p:cNvPr id="7" name="Text 5"/>
          <p:cNvSpPr/>
          <p:nvPr/>
        </p:nvSpPr>
        <p:spPr>
          <a:xfrm>
            <a:off x="1664208" y="1170432"/>
            <a:ext cx="10058400" cy="274320"/>
          </a:xfrm>
          <a:prstGeom prst="rect">
            <a:avLst/>
          </a:prstGeom>
          <a:noFill/>
          <a:ln/>
        </p:spPr>
        <p:txBody>
          <a:bodyPr wrap="square" rtlCol="0" anchor="ctr"/>
          <a:lstStyle/>
          <a:p>
            <a:pPr marL="0" indent="0">
              <a:buNone/>
            </a:pPr>
            <a:r>
              <a:rPr lang="en-US" sz="1200" b="1" dirty="0">
                <a:solidFill>
                  <a:srgbClr val="E63946"/>
                </a:solidFill>
                <a:latin typeface="Calibri" pitchFamily="34" charset="0"/>
                <a:ea typeface="Calibri" pitchFamily="34" charset="-122"/>
                <a:cs typeface="Calibri" pitchFamily="34" charset="-120"/>
              </a:rPr>
              <a:t>Deploy Early-Warning Systems in 33 High-Risk Catchments</a:t>
            </a:r>
            <a:endParaRPr lang="en-US" sz="1200" dirty="0"/>
          </a:p>
        </p:txBody>
      </p:sp>
      <p:sp>
        <p:nvSpPr>
          <p:cNvPr id="8" name="Text 6"/>
          <p:cNvSpPr/>
          <p:nvPr/>
        </p:nvSpPr>
        <p:spPr>
          <a:xfrm>
            <a:off x="1664208" y="1481328"/>
            <a:ext cx="10058400" cy="384048"/>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Install automated flood sensors and SMS-based evacuation alert systems in the 33 High Population Risk catchments, prioritizing those in Small-basin, Cambisol-soil areas with population density &gt;400/km².</a:t>
            </a:r>
            <a:endParaRPr lang="en-US" sz="1000" dirty="0"/>
          </a:p>
        </p:txBody>
      </p:sp>
      <p:sp>
        <p:nvSpPr>
          <p:cNvPr id="9" name="Shape 7"/>
          <p:cNvSpPr/>
          <p:nvPr/>
        </p:nvSpPr>
        <p:spPr>
          <a:xfrm>
            <a:off x="320040" y="2029968"/>
            <a:ext cx="11521440" cy="8412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0" name="Shape 8"/>
          <p:cNvSpPr/>
          <p:nvPr/>
        </p:nvSpPr>
        <p:spPr>
          <a:xfrm>
            <a:off x="320040" y="2029968"/>
            <a:ext cx="1234440" cy="841248"/>
          </a:xfrm>
          <a:prstGeom prst="rect">
            <a:avLst/>
          </a:prstGeom>
          <a:solidFill>
            <a:srgbClr val="F4A261"/>
          </a:solidFill>
          <a:ln w="12700">
            <a:solidFill>
              <a:srgbClr val="F4A261"/>
            </a:solidFill>
            <a:prstDash val="solid"/>
          </a:ln>
        </p:spPr>
      </p:sp>
      <p:sp>
        <p:nvSpPr>
          <p:cNvPr id="11" name="Text 9"/>
          <p:cNvSpPr/>
          <p:nvPr/>
        </p:nvSpPr>
        <p:spPr>
          <a:xfrm>
            <a:off x="347472" y="2212848"/>
            <a:ext cx="1143000" cy="457200"/>
          </a:xfrm>
          <a:prstGeom prst="rect">
            <a:avLst/>
          </a:prstGeom>
          <a:noFill/>
          <a:ln/>
        </p:spPr>
        <p:txBody>
          <a:bodyPr wrap="square"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HIGH</a:t>
            </a:r>
            <a:endParaRPr lang="en-US" sz="1000" dirty="0"/>
          </a:p>
        </p:txBody>
      </p:sp>
      <p:sp>
        <p:nvSpPr>
          <p:cNvPr id="12" name="Text 10"/>
          <p:cNvSpPr/>
          <p:nvPr/>
        </p:nvSpPr>
        <p:spPr>
          <a:xfrm>
            <a:off x="1664208" y="2103120"/>
            <a:ext cx="10058400" cy="274320"/>
          </a:xfrm>
          <a:prstGeom prst="rect">
            <a:avLst/>
          </a:prstGeom>
          <a:noFill/>
          <a:ln/>
        </p:spPr>
        <p:txBody>
          <a:bodyPr wrap="square" rtlCol="0" anchor="ctr"/>
          <a:lstStyle/>
          <a:p>
            <a:pPr marL="0" indent="0">
              <a:buNone/>
            </a:pPr>
            <a:r>
              <a:rPr lang="en-US" sz="1200" b="1" dirty="0">
                <a:solidFill>
                  <a:srgbClr val="F4A261"/>
                </a:solidFill>
                <a:latin typeface="Calibri" pitchFamily="34" charset="0"/>
                <a:ea typeface="Calibri" pitchFamily="34" charset="-122"/>
                <a:cs typeface="Calibri" pitchFamily="34" charset="-120"/>
              </a:rPr>
              <a:t>Upgrade Drainage Infrastructure in Cropland Basins</a:t>
            </a:r>
            <a:endParaRPr lang="en-US" sz="1200" dirty="0"/>
          </a:p>
        </p:txBody>
      </p:sp>
      <p:sp>
        <p:nvSpPr>
          <p:cNvPr id="13" name="Text 11"/>
          <p:cNvSpPr/>
          <p:nvPr/>
        </p:nvSpPr>
        <p:spPr>
          <a:xfrm>
            <a:off x="1664208" y="2414016"/>
            <a:ext cx="10058400" cy="384048"/>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Commission drainage density studies for all High and Medium risk Cropland catchments. Invest in controlled drainage systems that reduce peak runoff velocity without impacting agricultural productivity.</a:t>
            </a:r>
            <a:endParaRPr lang="en-US" sz="1000" dirty="0"/>
          </a:p>
        </p:txBody>
      </p:sp>
      <p:sp>
        <p:nvSpPr>
          <p:cNvPr id="14" name="Shape 12"/>
          <p:cNvSpPr/>
          <p:nvPr/>
        </p:nvSpPr>
        <p:spPr>
          <a:xfrm>
            <a:off x="320040" y="2962656"/>
            <a:ext cx="11521440" cy="8412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5" name="Shape 13"/>
          <p:cNvSpPr/>
          <p:nvPr/>
        </p:nvSpPr>
        <p:spPr>
          <a:xfrm>
            <a:off x="320040" y="2962656"/>
            <a:ext cx="1234440" cy="841248"/>
          </a:xfrm>
          <a:prstGeom prst="rect">
            <a:avLst/>
          </a:prstGeom>
          <a:solidFill>
            <a:srgbClr val="F4A261"/>
          </a:solidFill>
          <a:ln w="12700">
            <a:solidFill>
              <a:srgbClr val="F4A261"/>
            </a:solidFill>
            <a:prstDash val="solid"/>
          </a:ln>
        </p:spPr>
      </p:sp>
      <p:sp>
        <p:nvSpPr>
          <p:cNvPr id="16" name="Text 14"/>
          <p:cNvSpPr/>
          <p:nvPr/>
        </p:nvSpPr>
        <p:spPr>
          <a:xfrm>
            <a:off x="347472" y="3145536"/>
            <a:ext cx="1143000" cy="457200"/>
          </a:xfrm>
          <a:prstGeom prst="rect">
            <a:avLst/>
          </a:prstGeom>
          <a:noFill/>
          <a:ln/>
        </p:spPr>
        <p:txBody>
          <a:bodyPr wrap="square"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HIGH</a:t>
            </a:r>
            <a:endParaRPr lang="en-US" sz="1000" dirty="0"/>
          </a:p>
        </p:txBody>
      </p:sp>
      <p:sp>
        <p:nvSpPr>
          <p:cNvPr id="17" name="Text 15"/>
          <p:cNvSpPr/>
          <p:nvPr/>
        </p:nvSpPr>
        <p:spPr>
          <a:xfrm>
            <a:off x="1664208" y="3035808"/>
            <a:ext cx="10058400" cy="274320"/>
          </a:xfrm>
          <a:prstGeom prst="rect">
            <a:avLst/>
          </a:prstGeom>
          <a:noFill/>
          <a:ln/>
        </p:spPr>
        <p:txBody>
          <a:bodyPr wrap="square" rtlCol="0" anchor="ctr"/>
          <a:lstStyle/>
          <a:p>
            <a:pPr marL="0" indent="0">
              <a:buNone/>
            </a:pPr>
            <a:r>
              <a:rPr lang="en-US" sz="1200" b="1" dirty="0">
                <a:solidFill>
                  <a:srgbClr val="F4A261"/>
                </a:solidFill>
                <a:latin typeface="Calibri" pitchFamily="34" charset="0"/>
                <a:ea typeface="Calibri" pitchFamily="34" charset="-122"/>
                <a:cs typeface="Calibri" pitchFamily="34" charset="-120"/>
              </a:rPr>
              <a:t>Restrict Agricultural Expansion in Small Cambisol/Acrisol Basins</a:t>
            </a:r>
            <a:endParaRPr lang="en-US" sz="1200" dirty="0"/>
          </a:p>
        </p:txBody>
      </p:sp>
      <p:sp>
        <p:nvSpPr>
          <p:cNvPr id="18" name="Text 16"/>
          <p:cNvSpPr/>
          <p:nvPr/>
        </p:nvSpPr>
        <p:spPr>
          <a:xfrm>
            <a:off x="1664208" y="3346704"/>
            <a:ext cx="10058400" cy="384048"/>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Implement land-use zoning regulations that prohibit conversion of forest land to cropland in Small basins with Cambisol or Acrisol soils. These areas already show the highest compound risk scores.</a:t>
            </a:r>
            <a:endParaRPr lang="en-US" sz="1000" dirty="0"/>
          </a:p>
        </p:txBody>
      </p:sp>
      <p:sp>
        <p:nvSpPr>
          <p:cNvPr id="19" name="Shape 17"/>
          <p:cNvSpPr/>
          <p:nvPr/>
        </p:nvSpPr>
        <p:spPr>
          <a:xfrm>
            <a:off x="320040" y="3895344"/>
            <a:ext cx="11521440" cy="8412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0" name="Shape 18"/>
          <p:cNvSpPr/>
          <p:nvPr/>
        </p:nvSpPr>
        <p:spPr>
          <a:xfrm>
            <a:off x="320040" y="3895344"/>
            <a:ext cx="1234440" cy="841248"/>
          </a:xfrm>
          <a:prstGeom prst="rect">
            <a:avLst/>
          </a:prstGeom>
          <a:solidFill>
            <a:srgbClr val="1363DF"/>
          </a:solidFill>
          <a:ln w="12700">
            <a:solidFill>
              <a:srgbClr val="1363DF"/>
            </a:solidFill>
            <a:prstDash val="solid"/>
          </a:ln>
        </p:spPr>
      </p:sp>
      <p:sp>
        <p:nvSpPr>
          <p:cNvPr id="21" name="Text 19"/>
          <p:cNvSpPr/>
          <p:nvPr/>
        </p:nvSpPr>
        <p:spPr>
          <a:xfrm>
            <a:off x="347472" y="4078224"/>
            <a:ext cx="1143000" cy="457200"/>
          </a:xfrm>
          <a:prstGeom prst="rect">
            <a:avLst/>
          </a:prstGeom>
          <a:noFill/>
          <a:ln/>
        </p:spPr>
        <p:txBody>
          <a:bodyPr wrap="square"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MEDIUM</a:t>
            </a:r>
            <a:endParaRPr lang="en-US" sz="1000" dirty="0"/>
          </a:p>
        </p:txBody>
      </p:sp>
      <p:sp>
        <p:nvSpPr>
          <p:cNvPr id="22" name="Text 20"/>
          <p:cNvSpPr/>
          <p:nvPr/>
        </p:nvSpPr>
        <p:spPr>
          <a:xfrm>
            <a:off x="1664208" y="3968496"/>
            <a:ext cx="10058400" cy="274320"/>
          </a:xfrm>
          <a:prstGeom prst="rect">
            <a:avLst/>
          </a:prstGeom>
          <a:noFill/>
          <a:ln/>
        </p:spPr>
        <p:txBody>
          <a:bodyPr wrap="square" rtlCol="0" anchor="ctr"/>
          <a:lstStyle/>
          <a:p>
            <a:pPr marL="0" indent="0">
              <a:buNone/>
            </a:pPr>
            <a:r>
              <a:rPr lang="en-US" sz="1200" b="1" dirty="0">
                <a:solidFill>
                  <a:srgbClr val="1363DF"/>
                </a:solidFill>
                <a:latin typeface="Calibri" pitchFamily="34" charset="0"/>
                <a:ea typeface="Calibri" pitchFamily="34" charset="-122"/>
                <a:cs typeface="Calibri" pitchFamily="34" charset="-120"/>
              </a:rPr>
              <a:t>Develop Climate-Specific Flood Management Plans</a:t>
            </a:r>
            <a:endParaRPr lang="en-US" sz="1200" dirty="0"/>
          </a:p>
        </p:txBody>
      </p:sp>
      <p:sp>
        <p:nvSpPr>
          <p:cNvPr id="23" name="Text 21"/>
          <p:cNvSpPr/>
          <p:nvPr/>
        </p:nvSpPr>
        <p:spPr>
          <a:xfrm>
            <a:off x="1664208" y="4279392"/>
            <a:ext cx="10058400" cy="384048"/>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Create differentiated flood management frameworks for Tropical, Arid, and Temperate zones. Tropical catchments need rapid-response flood barriers and insurance schemes; Arid basins need flash-flood protocols.</a:t>
            </a:r>
            <a:endParaRPr lang="en-US" sz="1000" dirty="0"/>
          </a:p>
        </p:txBody>
      </p:sp>
      <p:sp>
        <p:nvSpPr>
          <p:cNvPr id="24" name="Shape 22"/>
          <p:cNvSpPr/>
          <p:nvPr/>
        </p:nvSpPr>
        <p:spPr>
          <a:xfrm>
            <a:off x="320040" y="4828032"/>
            <a:ext cx="11521440" cy="8412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5" name="Shape 23"/>
          <p:cNvSpPr/>
          <p:nvPr/>
        </p:nvSpPr>
        <p:spPr>
          <a:xfrm>
            <a:off x="320040" y="4828032"/>
            <a:ext cx="1234440" cy="841248"/>
          </a:xfrm>
          <a:prstGeom prst="rect">
            <a:avLst/>
          </a:prstGeom>
          <a:solidFill>
            <a:srgbClr val="1363DF"/>
          </a:solidFill>
          <a:ln w="12700">
            <a:solidFill>
              <a:srgbClr val="1363DF"/>
            </a:solidFill>
            <a:prstDash val="solid"/>
          </a:ln>
        </p:spPr>
      </p:sp>
      <p:sp>
        <p:nvSpPr>
          <p:cNvPr id="26" name="Text 24"/>
          <p:cNvSpPr/>
          <p:nvPr/>
        </p:nvSpPr>
        <p:spPr>
          <a:xfrm>
            <a:off x="347472" y="5010912"/>
            <a:ext cx="1143000" cy="457200"/>
          </a:xfrm>
          <a:prstGeom prst="rect">
            <a:avLst/>
          </a:prstGeom>
          <a:noFill/>
          <a:ln/>
        </p:spPr>
        <p:txBody>
          <a:bodyPr wrap="square"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MEDIUM</a:t>
            </a:r>
            <a:endParaRPr lang="en-US" sz="1000" dirty="0"/>
          </a:p>
        </p:txBody>
      </p:sp>
      <p:sp>
        <p:nvSpPr>
          <p:cNvPr id="27" name="Text 25"/>
          <p:cNvSpPr/>
          <p:nvPr/>
        </p:nvSpPr>
        <p:spPr>
          <a:xfrm>
            <a:off x="1664208" y="4901184"/>
            <a:ext cx="10058400" cy="274320"/>
          </a:xfrm>
          <a:prstGeom prst="rect">
            <a:avLst/>
          </a:prstGeom>
          <a:noFill/>
          <a:ln/>
        </p:spPr>
        <p:txBody>
          <a:bodyPr wrap="square" rtlCol="0" anchor="ctr"/>
          <a:lstStyle/>
          <a:p>
            <a:pPr marL="0" indent="0">
              <a:buNone/>
            </a:pPr>
            <a:r>
              <a:rPr lang="en-US" sz="1200" b="1" dirty="0">
                <a:solidFill>
                  <a:srgbClr val="1363DF"/>
                </a:solidFill>
                <a:latin typeface="Calibri" pitchFamily="34" charset="0"/>
                <a:ea typeface="Calibri" pitchFamily="34" charset="-122"/>
                <a:cs typeface="Calibri" pitchFamily="34" charset="-120"/>
              </a:rPr>
              <a:t>Integrate HDI and GDP into Risk Prioritization Models</a:t>
            </a:r>
            <a:endParaRPr lang="en-US" sz="1200" dirty="0"/>
          </a:p>
        </p:txBody>
      </p:sp>
      <p:sp>
        <p:nvSpPr>
          <p:cNvPr id="28" name="Text 26"/>
          <p:cNvSpPr/>
          <p:nvPr/>
        </p:nvSpPr>
        <p:spPr>
          <a:xfrm>
            <a:off x="1664208" y="5212080"/>
            <a:ext cx="10058400" cy="384048"/>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Build composite vulnerability scores that weight flood risk alongside socioeconomic indicators (HDI, GDP/capita, road density) to identify communities that are both physically at risk and least able to recover.</a:t>
            </a:r>
            <a:endParaRPr lang="en-US" sz="1000" dirty="0"/>
          </a:p>
        </p:txBody>
      </p:sp>
      <p:sp>
        <p:nvSpPr>
          <p:cNvPr id="29" name="Shape 27"/>
          <p:cNvSpPr/>
          <p:nvPr/>
        </p:nvSpPr>
        <p:spPr>
          <a:xfrm>
            <a:off x="320040" y="5760720"/>
            <a:ext cx="11521440" cy="84124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30" name="Shape 28"/>
          <p:cNvSpPr/>
          <p:nvPr/>
        </p:nvSpPr>
        <p:spPr>
          <a:xfrm>
            <a:off x="320040" y="5760720"/>
            <a:ext cx="1234440" cy="841248"/>
          </a:xfrm>
          <a:prstGeom prst="rect">
            <a:avLst/>
          </a:prstGeom>
          <a:solidFill>
            <a:srgbClr val="0D7377"/>
          </a:solidFill>
          <a:ln w="12700">
            <a:solidFill>
              <a:srgbClr val="0D7377"/>
            </a:solidFill>
            <a:prstDash val="solid"/>
          </a:ln>
        </p:spPr>
      </p:sp>
      <p:sp>
        <p:nvSpPr>
          <p:cNvPr id="31" name="Text 29"/>
          <p:cNvSpPr/>
          <p:nvPr/>
        </p:nvSpPr>
        <p:spPr>
          <a:xfrm>
            <a:off x="347472" y="5943600"/>
            <a:ext cx="1143000" cy="457200"/>
          </a:xfrm>
          <a:prstGeom prst="rect">
            <a:avLst/>
          </a:prstGeom>
          <a:noFill/>
          <a:ln/>
        </p:spPr>
        <p:txBody>
          <a:bodyPr wrap="square"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LONG-TERM</a:t>
            </a:r>
            <a:endParaRPr lang="en-US" sz="1000" dirty="0"/>
          </a:p>
        </p:txBody>
      </p:sp>
      <p:sp>
        <p:nvSpPr>
          <p:cNvPr id="32" name="Text 30"/>
          <p:cNvSpPr/>
          <p:nvPr/>
        </p:nvSpPr>
        <p:spPr>
          <a:xfrm>
            <a:off x="1664208" y="5833872"/>
            <a:ext cx="10058400" cy="274320"/>
          </a:xfrm>
          <a:prstGeom prst="rect">
            <a:avLst/>
          </a:prstGeom>
          <a:noFill/>
          <a:ln/>
        </p:spPr>
        <p:txBody>
          <a:bodyPr wrap="square" rtlCol="0" anchor="ctr"/>
          <a:lstStyle/>
          <a:p>
            <a:pPr marL="0" indent="0">
              <a:buNone/>
            </a:pPr>
            <a:r>
              <a:rPr lang="en-US" sz="1200" b="1" dirty="0">
                <a:solidFill>
                  <a:srgbClr val="0D7377"/>
                </a:solidFill>
                <a:latin typeface="Calibri" pitchFamily="34" charset="0"/>
                <a:ea typeface="Calibri" pitchFamily="34" charset="-122"/>
                <a:cs typeface="Calibri" pitchFamily="34" charset="-120"/>
              </a:rPr>
              <a:t>Establish Real-Time Monitoring Dashboard for Decision-Makers</a:t>
            </a:r>
            <a:endParaRPr lang="en-US" sz="1200" dirty="0"/>
          </a:p>
        </p:txBody>
      </p:sp>
      <p:sp>
        <p:nvSpPr>
          <p:cNvPr id="33" name="Text 31"/>
          <p:cNvSpPr/>
          <p:nvPr/>
        </p:nvSpPr>
        <p:spPr>
          <a:xfrm>
            <a:off x="1664208" y="6144768"/>
            <a:ext cx="10058400" cy="384048"/>
          </a:xfrm>
          <a:prstGeom prst="rect">
            <a:avLst/>
          </a:prstGeom>
          <a:noFill/>
          <a:ln/>
        </p:spPr>
        <p:txBody>
          <a:bodyPr wrap="square" rtlCol="0" anchor="ctr"/>
          <a:lstStyle/>
          <a:p>
            <a:pPr marL="0" indent="0">
              <a:buNone/>
            </a:pPr>
            <a:r>
              <a:rPr lang="en-US" sz="1000" dirty="0">
                <a:solidFill>
                  <a:srgbClr val="0B1F3A"/>
                </a:solidFill>
                <a:latin typeface="Calibri" pitchFamily="34" charset="0"/>
                <a:ea typeface="Calibri" pitchFamily="34" charset="-122"/>
                <a:cs typeface="Calibri" pitchFamily="34" charset="-120"/>
              </a:rPr>
              <a:t>Expand the current static Power BI dashboard to incorporate live sensor data from INDOFLOODS gauge stations, enabling real-time risk alerting, seasonal forecasting, and evidence-based resource allocation.</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F3A"/>
          </a:solidFill>
          <a:ln w="12700">
            <a:solidFill>
              <a:srgbClr val="0B1F3A"/>
            </a:solidFill>
            <a:prstDash val="solid"/>
          </a:ln>
        </p:spPr>
      </p:sp>
      <p:sp>
        <p:nvSpPr>
          <p:cNvPr id="3" name="Shape 1"/>
          <p:cNvSpPr/>
          <p:nvPr/>
        </p:nvSpPr>
        <p:spPr>
          <a:xfrm>
            <a:off x="0" y="0"/>
            <a:ext cx="4572000" cy="6858000"/>
          </a:xfrm>
          <a:prstGeom prst="rect">
            <a:avLst/>
          </a:prstGeom>
          <a:solidFill>
            <a:srgbClr val="0B2545"/>
          </a:solidFill>
          <a:ln w="12700">
            <a:solidFill>
              <a:srgbClr val="0B2545"/>
            </a:solidFill>
            <a:prstDash val="solid"/>
          </a:ln>
        </p:spPr>
      </p:sp>
      <p:sp>
        <p:nvSpPr>
          <p:cNvPr id="4" name="Text 2"/>
          <p:cNvSpPr/>
          <p:nvPr/>
        </p:nvSpPr>
        <p:spPr>
          <a:xfrm>
            <a:off x="274320" y="731520"/>
            <a:ext cx="4023360" cy="640080"/>
          </a:xfrm>
          <a:prstGeom prst="rect">
            <a:avLst/>
          </a:prstGeom>
          <a:noFill/>
          <a:ln/>
        </p:spPr>
        <p:txBody>
          <a:bodyPr wrap="square" rtlCol="0" anchor="ctr"/>
          <a:lstStyle/>
          <a:p>
            <a:pPr marL="0" indent="0" algn="ctr">
              <a:buNone/>
            </a:pPr>
            <a:r>
              <a:rPr lang="en-US" sz="3000" b="1" kern="0" spc="400" dirty="0">
                <a:solidFill>
                  <a:srgbClr val="32E0C4"/>
                </a:solidFill>
                <a:latin typeface="Calibri" pitchFamily="34" charset="0"/>
                <a:ea typeface="Calibri" pitchFamily="34" charset="-122"/>
                <a:cs typeface="Calibri" pitchFamily="34" charset="-120"/>
              </a:rPr>
              <a:t>CONCLUSION</a:t>
            </a:r>
            <a:endParaRPr lang="en-US" sz="3000" dirty="0"/>
          </a:p>
        </p:txBody>
      </p:sp>
      <p:sp>
        <p:nvSpPr>
          <p:cNvPr id="5" name="Shape 3"/>
          <p:cNvSpPr/>
          <p:nvPr/>
        </p:nvSpPr>
        <p:spPr>
          <a:xfrm>
            <a:off x="457200" y="1463040"/>
            <a:ext cx="3566160" cy="0"/>
          </a:xfrm>
          <a:prstGeom prst="line">
            <a:avLst/>
          </a:prstGeom>
          <a:noFill/>
          <a:ln w="12700">
            <a:solidFill>
              <a:srgbClr val="4A9DF8"/>
            </a:solidFill>
            <a:prstDash val="solid"/>
          </a:ln>
        </p:spPr>
      </p:sp>
      <p:sp>
        <p:nvSpPr>
          <p:cNvPr id="6" name="Shape 4"/>
          <p:cNvSpPr/>
          <p:nvPr/>
        </p:nvSpPr>
        <p:spPr>
          <a:xfrm>
            <a:off x="457200" y="1828800"/>
            <a:ext cx="3657600" cy="1005840"/>
          </a:xfrm>
          <a:prstGeom prst="rect">
            <a:avLst/>
          </a:prstGeom>
          <a:solidFill>
            <a:srgbClr val="112244"/>
          </a:solidFill>
          <a:ln w="6350">
            <a:solidFill>
              <a:srgbClr val="4A9DF8"/>
            </a:solidFill>
            <a:prstDash val="solid"/>
          </a:ln>
        </p:spPr>
      </p:sp>
      <p:sp>
        <p:nvSpPr>
          <p:cNvPr id="7" name="Text 5"/>
          <p:cNvSpPr/>
          <p:nvPr/>
        </p:nvSpPr>
        <p:spPr>
          <a:xfrm>
            <a:off x="457200" y="1920240"/>
            <a:ext cx="3657600" cy="502920"/>
          </a:xfrm>
          <a:prstGeom prst="rect">
            <a:avLst/>
          </a:prstGeom>
          <a:noFill/>
          <a:ln/>
        </p:spPr>
        <p:txBody>
          <a:bodyPr wrap="square" rtlCol="0" anchor="ctr"/>
          <a:lstStyle/>
          <a:p>
            <a:pPr marL="0" indent="0" algn="ctr">
              <a:buNone/>
            </a:pPr>
            <a:r>
              <a:rPr lang="en-US" sz="3200" b="1" dirty="0">
                <a:solidFill>
                  <a:srgbClr val="32E0C4"/>
                </a:solidFill>
                <a:latin typeface="Calibri" pitchFamily="34" charset="0"/>
                <a:ea typeface="Calibri" pitchFamily="34" charset="-122"/>
                <a:cs typeface="Calibri" pitchFamily="34" charset="-120"/>
              </a:rPr>
              <a:t>155</a:t>
            </a:r>
            <a:endParaRPr lang="en-US" sz="3200" dirty="0"/>
          </a:p>
        </p:txBody>
      </p:sp>
      <p:sp>
        <p:nvSpPr>
          <p:cNvPr id="8" name="Text 6"/>
          <p:cNvSpPr/>
          <p:nvPr/>
        </p:nvSpPr>
        <p:spPr>
          <a:xfrm>
            <a:off x="457200" y="2450592"/>
            <a:ext cx="3657600" cy="292608"/>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Catchments Analyzed</a:t>
            </a:r>
            <a:endParaRPr lang="en-US" sz="1100" dirty="0"/>
          </a:p>
        </p:txBody>
      </p:sp>
      <p:sp>
        <p:nvSpPr>
          <p:cNvPr id="9" name="Shape 7"/>
          <p:cNvSpPr/>
          <p:nvPr/>
        </p:nvSpPr>
        <p:spPr>
          <a:xfrm>
            <a:off x="457200" y="3017520"/>
            <a:ext cx="3657600" cy="1005840"/>
          </a:xfrm>
          <a:prstGeom prst="rect">
            <a:avLst/>
          </a:prstGeom>
          <a:solidFill>
            <a:srgbClr val="112244"/>
          </a:solidFill>
          <a:ln w="6350">
            <a:solidFill>
              <a:srgbClr val="4A9DF8"/>
            </a:solidFill>
            <a:prstDash val="solid"/>
          </a:ln>
        </p:spPr>
      </p:sp>
      <p:sp>
        <p:nvSpPr>
          <p:cNvPr id="10" name="Text 8"/>
          <p:cNvSpPr/>
          <p:nvPr/>
        </p:nvSpPr>
        <p:spPr>
          <a:xfrm>
            <a:off x="457200" y="3108960"/>
            <a:ext cx="3657600" cy="502920"/>
          </a:xfrm>
          <a:prstGeom prst="rect">
            <a:avLst/>
          </a:prstGeom>
          <a:noFill/>
          <a:ln/>
        </p:spPr>
        <p:txBody>
          <a:bodyPr wrap="square" rtlCol="0" anchor="ctr"/>
          <a:lstStyle/>
          <a:p>
            <a:pPr marL="0" indent="0" algn="ctr">
              <a:buNone/>
            </a:pPr>
            <a:r>
              <a:rPr lang="en-US" sz="3200" b="1" dirty="0">
                <a:solidFill>
                  <a:srgbClr val="32E0C4"/>
                </a:solidFill>
                <a:latin typeface="Calibri" pitchFamily="34" charset="0"/>
                <a:ea typeface="Calibri" pitchFamily="34" charset="-122"/>
                <a:cs typeface="Calibri" pitchFamily="34" charset="-120"/>
              </a:rPr>
              <a:t>33</a:t>
            </a:r>
            <a:endParaRPr lang="en-US" sz="3200" dirty="0"/>
          </a:p>
        </p:txBody>
      </p:sp>
      <p:sp>
        <p:nvSpPr>
          <p:cNvPr id="11" name="Text 9"/>
          <p:cNvSpPr/>
          <p:nvPr/>
        </p:nvSpPr>
        <p:spPr>
          <a:xfrm>
            <a:off x="457200" y="3639312"/>
            <a:ext cx="3657600" cy="292608"/>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High-Risk Catchments</a:t>
            </a:r>
            <a:endParaRPr lang="en-US" sz="1100" dirty="0"/>
          </a:p>
        </p:txBody>
      </p:sp>
      <p:sp>
        <p:nvSpPr>
          <p:cNvPr id="12" name="Shape 10"/>
          <p:cNvSpPr/>
          <p:nvPr/>
        </p:nvSpPr>
        <p:spPr>
          <a:xfrm>
            <a:off x="457200" y="4206240"/>
            <a:ext cx="3657600" cy="1005840"/>
          </a:xfrm>
          <a:prstGeom prst="rect">
            <a:avLst/>
          </a:prstGeom>
          <a:solidFill>
            <a:srgbClr val="112244"/>
          </a:solidFill>
          <a:ln w="6350">
            <a:solidFill>
              <a:srgbClr val="4A9DF8"/>
            </a:solidFill>
            <a:prstDash val="solid"/>
          </a:ln>
        </p:spPr>
      </p:sp>
      <p:sp>
        <p:nvSpPr>
          <p:cNvPr id="13" name="Text 11"/>
          <p:cNvSpPr/>
          <p:nvPr/>
        </p:nvSpPr>
        <p:spPr>
          <a:xfrm>
            <a:off x="457200" y="4297680"/>
            <a:ext cx="3657600" cy="502920"/>
          </a:xfrm>
          <a:prstGeom prst="rect">
            <a:avLst/>
          </a:prstGeom>
          <a:noFill/>
          <a:ln/>
        </p:spPr>
        <p:txBody>
          <a:bodyPr wrap="square" rtlCol="0" anchor="ctr"/>
          <a:lstStyle/>
          <a:p>
            <a:pPr marL="0" indent="0" algn="ctr">
              <a:buNone/>
            </a:pPr>
            <a:r>
              <a:rPr lang="en-US" sz="3200" b="1" dirty="0">
                <a:solidFill>
                  <a:srgbClr val="32E0C4"/>
                </a:solidFill>
                <a:latin typeface="Calibri" pitchFamily="34" charset="0"/>
                <a:ea typeface="Calibri" pitchFamily="34" charset="-122"/>
                <a:cs typeface="Calibri" pitchFamily="34" charset="-120"/>
              </a:rPr>
              <a:t>1.047B</a:t>
            </a:r>
            <a:endParaRPr lang="en-US" sz="3200" dirty="0"/>
          </a:p>
        </p:txBody>
      </p:sp>
      <p:sp>
        <p:nvSpPr>
          <p:cNvPr id="14" name="Text 12"/>
          <p:cNvSpPr/>
          <p:nvPr/>
        </p:nvSpPr>
        <p:spPr>
          <a:xfrm>
            <a:off x="457200" y="4828032"/>
            <a:ext cx="3657600" cy="292608"/>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Population at Risk</a:t>
            </a:r>
            <a:endParaRPr lang="en-US" sz="1100" dirty="0"/>
          </a:p>
        </p:txBody>
      </p:sp>
      <p:sp>
        <p:nvSpPr>
          <p:cNvPr id="15" name="Shape 13"/>
          <p:cNvSpPr/>
          <p:nvPr/>
        </p:nvSpPr>
        <p:spPr>
          <a:xfrm>
            <a:off x="457200" y="5394960"/>
            <a:ext cx="3657600" cy="1005840"/>
          </a:xfrm>
          <a:prstGeom prst="rect">
            <a:avLst/>
          </a:prstGeom>
          <a:solidFill>
            <a:srgbClr val="112244"/>
          </a:solidFill>
          <a:ln w="6350">
            <a:solidFill>
              <a:srgbClr val="4A9DF8"/>
            </a:solidFill>
            <a:prstDash val="solid"/>
          </a:ln>
        </p:spPr>
      </p:sp>
      <p:sp>
        <p:nvSpPr>
          <p:cNvPr id="16" name="Text 14"/>
          <p:cNvSpPr/>
          <p:nvPr/>
        </p:nvSpPr>
        <p:spPr>
          <a:xfrm>
            <a:off x="457200" y="5486400"/>
            <a:ext cx="3657600" cy="502920"/>
          </a:xfrm>
          <a:prstGeom prst="rect">
            <a:avLst/>
          </a:prstGeom>
          <a:noFill/>
          <a:ln/>
        </p:spPr>
        <p:txBody>
          <a:bodyPr wrap="square" rtlCol="0" anchor="ctr"/>
          <a:lstStyle/>
          <a:p>
            <a:pPr marL="0" indent="0" algn="ctr">
              <a:buNone/>
            </a:pPr>
            <a:r>
              <a:rPr lang="en-US" sz="3200" b="1" dirty="0">
                <a:solidFill>
                  <a:srgbClr val="32E0C4"/>
                </a:solidFill>
                <a:latin typeface="Calibri" pitchFamily="34" charset="0"/>
                <a:ea typeface="Calibri" pitchFamily="34" charset="-122"/>
                <a:cs typeface="Calibri" pitchFamily="34" charset="-120"/>
              </a:rPr>
              <a:t>6</a:t>
            </a:r>
            <a:endParaRPr lang="en-US" sz="3200" dirty="0"/>
          </a:p>
        </p:txBody>
      </p:sp>
      <p:sp>
        <p:nvSpPr>
          <p:cNvPr id="17" name="Text 15"/>
          <p:cNvSpPr/>
          <p:nvPr/>
        </p:nvSpPr>
        <p:spPr>
          <a:xfrm>
            <a:off x="457200" y="6016752"/>
            <a:ext cx="3657600" cy="292608"/>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Key Risk Drivers Identified</a:t>
            </a:r>
            <a:endParaRPr lang="en-US" sz="1100" dirty="0"/>
          </a:p>
        </p:txBody>
      </p:sp>
      <p:sp>
        <p:nvSpPr>
          <p:cNvPr id="18" name="Text 16"/>
          <p:cNvSpPr/>
          <p:nvPr/>
        </p:nvSpPr>
        <p:spPr>
          <a:xfrm>
            <a:off x="4846320" y="457200"/>
            <a:ext cx="7040880" cy="411480"/>
          </a:xfrm>
          <a:prstGeom prst="rect">
            <a:avLst/>
          </a:prstGeom>
          <a:noFill/>
          <a:ln/>
        </p:spPr>
        <p:txBody>
          <a:bodyPr wrap="square" rtlCol="0" anchor="ctr"/>
          <a:lstStyle/>
          <a:p>
            <a:pPr marL="0" indent="0">
              <a:buNone/>
            </a:pPr>
            <a:r>
              <a:rPr lang="en-US" sz="1800" b="1" dirty="0">
                <a:solidFill>
                  <a:srgbClr val="32E0C4"/>
                </a:solidFill>
                <a:latin typeface="Calibri" pitchFamily="34" charset="0"/>
                <a:ea typeface="Calibri" pitchFamily="34" charset="-122"/>
                <a:cs typeface="Calibri" pitchFamily="34" charset="-120"/>
              </a:rPr>
              <a:t>Summary of Findings</a:t>
            </a:r>
            <a:endParaRPr lang="en-US" sz="1800" dirty="0"/>
          </a:p>
        </p:txBody>
      </p:sp>
      <p:sp>
        <p:nvSpPr>
          <p:cNvPr id="19" name="Shape 17"/>
          <p:cNvSpPr/>
          <p:nvPr/>
        </p:nvSpPr>
        <p:spPr>
          <a:xfrm>
            <a:off x="4846320" y="914400"/>
            <a:ext cx="6949440" cy="0"/>
          </a:xfrm>
          <a:prstGeom prst="line">
            <a:avLst/>
          </a:prstGeom>
          <a:noFill/>
          <a:ln w="6350">
            <a:solidFill>
              <a:srgbClr val="4A9DF8"/>
            </a:solidFill>
            <a:prstDash val="solid"/>
          </a:ln>
        </p:spPr>
      </p:sp>
      <p:sp>
        <p:nvSpPr>
          <p:cNvPr id="20" name="Shape 18"/>
          <p:cNvSpPr/>
          <p:nvPr/>
        </p:nvSpPr>
        <p:spPr>
          <a:xfrm>
            <a:off x="4846320" y="1280160"/>
            <a:ext cx="411480" cy="411480"/>
          </a:xfrm>
          <a:prstGeom prst="ellipse">
            <a:avLst/>
          </a:prstGeom>
          <a:solidFill>
            <a:srgbClr val="1363DF"/>
          </a:solidFill>
          <a:ln w="12700">
            <a:solidFill>
              <a:srgbClr val="1363DF"/>
            </a:solidFill>
            <a:prstDash val="solid"/>
          </a:ln>
        </p:spPr>
      </p:sp>
      <p:sp>
        <p:nvSpPr>
          <p:cNvPr id="21" name="Text 19"/>
          <p:cNvSpPr/>
          <p:nvPr/>
        </p:nvSpPr>
        <p:spPr>
          <a:xfrm>
            <a:off x="4846320" y="128016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5349240" y="1216152"/>
            <a:ext cx="6492240" cy="6400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Flood risk across 155 Indonesian catchments is concentrated and predictable — driven by basin size, soil type, and land cover in combination</a:t>
            </a:r>
            <a:endParaRPr lang="en-US" sz="1100" dirty="0"/>
          </a:p>
        </p:txBody>
      </p:sp>
      <p:sp>
        <p:nvSpPr>
          <p:cNvPr id="23" name="Shape 21"/>
          <p:cNvSpPr/>
          <p:nvPr/>
        </p:nvSpPr>
        <p:spPr>
          <a:xfrm>
            <a:off x="4846320" y="2176272"/>
            <a:ext cx="411480" cy="411480"/>
          </a:xfrm>
          <a:prstGeom prst="ellipse">
            <a:avLst/>
          </a:prstGeom>
          <a:solidFill>
            <a:srgbClr val="1363DF"/>
          </a:solidFill>
          <a:ln w="12700">
            <a:solidFill>
              <a:srgbClr val="1363DF"/>
            </a:solidFill>
            <a:prstDash val="solid"/>
          </a:ln>
        </p:spPr>
      </p:sp>
      <p:sp>
        <p:nvSpPr>
          <p:cNvPr id="24" name="Text 22"/>
          <p:cNvSpPr/>
          <p:nvPr/>
        </p:nvSpPr>
        <p:spPr>
          <a:xfrm>
            <a:off x="4846320" y="2176272"/>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5349240" y="2112264"/>
            <a:ext cx="6492240" cy="6400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Small basins with Cambisol soils and Cropland cover represent the highest compound flood risk and require urgent infrastructure investment</a:t>
            </a:r>
            <a:endParaRPr lang="en-US" sz="1100" dirty="0"/>
          </a:p>
        </p:txBody>
      </p:sp>
      <p:sp>
        <p:nvSpPr>
          <p:cNvPr id="26" name="Shape 24"/>
          <p:cNvSpPr/>
          <p:nvPr/>
        </p:nvSpPr>
        <p:spPr>
          <a:xfrm>
            <a:off x="4846320" y="3072384"/>
            <a:ext cx="411480" cy="411480"/>
          </a:xfrm>
          <a:prstGeom prst="ellipse">
            <a:avLst/>
          </a:prstGeom>
          <a:solidFill>
            <a:srgbClr val="1363DF"/>
          </a:solidFill>
          <a:ln w="12700">
            <a:solidFill>
              <a:srgbClr val="1363DF"/>
            </a:solidFill>
            <a:prstDash val="solid"/>
          </a:ln>
        </p:spPr>
      </p:sp>
      <p:sp>
        <p:nvSpPr>
          <p:cNvPr id="27" name="Text 25"/>
          <p:cNvSpPr/>
          <p:nvPr/>
        </p:nvSpPr>
        <p:spPr>
          <a:xfrm>
            <a:off x="4846320" y="3072384"/>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8" name="Text 26"/>
          <p:cNvSpPr/>
          <p:nvPr/>
        </p:nvSpPr>
        <p:spPr>
          <a:xfrm>
            <a:off x="5349240" y="3008376"/>
            <a:ext cx="6492240" cy="6400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33 catchments (21%) carry High Population Risk, serving as priority zones for early-warning systems and flood management policy</a:t>
            </a:r>
            <a:endParaRPr lang="en-US" sz="1100" dirty="0"/>
          </a:p>
        </p:txBody>
      </p:sp>
      <p:sp>
        <p:nvSpPr>
          <p:cNvPr id="29" name="Shape 27"/>
          <p:cNvSpPr/>
          <p:nvPr/>
        </p:nvSpPr>
        <p:spPr>
          <a:xfrm>
            <a:off x="4846320" y="3968496"/>
            <a:ext cx="411480" cy="411480"/>
          </a:xfrm>
          <a:prstGeom prst="ellipse">
            <a:avLst/>
          </a:prstGeom>
          <a:solidFill>
            <a:srgbClr val="1363DF"/>
          </a:solidFill>
          <a:ln w="12700">
            <a:solidFill>
              <a:srgbClr val="1363DF"/>
            </a:solidFill>
            <a:prstDash val="solid"/>
          </a:ln>
        </p:spPr>
      </p:sp>
      <p:sp>
        <p:nvSpPr>
          <p:cNvPr id="30" name="Text 28"/>
          <p:cNvSpPr/>
          <p:nvPr/>
        </p:nvSpPr>
        <p:spPr>
          <a:xfrm>
            <a:off x="4846320" y="3968496"/>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5349240" y="3904488"/>
            <a:ext cx="6492240" cy="6400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Population density alone is an insufficient indicator of flood vulnerability — physical and geological factors must be integrated</a:t>
            </a:r>
            <a:endParaRPr lang="en-US" sz="1100" dirty="0"/>
          </a:p>
        </p:txBody>
      </p:sp>
      <p:sp>
        <p:nvSpPr>
          <p:cNvPr id="32" name="Shape 30"/>
          <p:cNvSpPr/>
          <p:nvPr/>
        </p:nvSpPr>
        <p:spPr>
          <a:xfrm>
            <a:off x="4846320" y="4864608"/>
            <a:ext cx="411480" cy="411480"/>
          </a:xfrm>
          <a:prstGeom prst="ellipse">
            <a:avLst/>
          </a:prstGeom>
          <a:solidFill>
            <a:srgbClr val="1363DF"/>
          </a:solidFill>
          <a:ln w="12700">
            <a:solidFill>
              <a:srgbClr val="1363DF"/>
            </a:solidFill>
            <a:prstDash val="solid"/>
          </a:ln>
        </p:spPr>
      </p:sp>
      <p:sp>
        <p:nvSpPr>
          <p:cNvPr id="33" name="Text 31"/>
          <p:cNvSpPr/>
          <p:nvPr/>
        </p:nvSpPr>
        <p:spPr>
          <a:xfrm>
            <a:off x="4846320" y="4864608"/>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5349240" y="4800600"/>
            <a:ext cx="6492240" cy="6400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The Power BI dashboard successfully converts complex multi-dimensional data into actionable visual insights for decision-makers</a:t>
            </a:r>
            <a:endParaRPr lang="en-US" sz="1100" dirty="0"/>
          </a:p>
        </p:txBody>
      </p:sp>
      <p:sp>
        <p:nvSpPr>
          <p:cNvPr id="35" name="Shape 33"/>
          <p:cNvSpPr/>
          <p:nvPr/>
        </p:nvSpPr>
        <p:spPr>
          <a:xfrm>
            <a:off x="4846320" y="5760720"/>
            <a:ext cx="411480" cy="411480"/>
          </a:xfrm>
          <a:prstGeom prst="ellipse">
            <a:avLst/>
          </a:prstGeom>
          <a:solidFill>
            <a:srgbClr val="1363DF"/>
          </a:solidFill>
          <a:ln w="12700">
            <a:solidFill>
              <a:srgbClr val="1363DF"/>
            </a:solidFill>
            <a:prstDash val="solid"/>
          </a:ln>
        </p:spPr>
      </p:sp>
      <p:sp>
        <p:nvSpPr>
          <p:cNvPr id="36" name="Text 34"/>
          <p:cNvSpPr/>
          <p:nvPr/>
        </p:nvSpPr>
        <p:spPr>
          <a:xfrm>
            <a:off x="4846320" y="5760720"/>
            <a:ext cx="41148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7" name="Text 35"/>
          <p:cNvSpPr/>
          <p:nvPr/>
        </p:nvSpPr>
        <p:spPr>
          <a:xfrm>
            <a:off x="5349240" y="5696712"/>
            <a:ext cx="6492240" cy="6400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A clear risk-wealth gap exists: Tropical catchments face the highest flood exposure with the lowest economic resources for resilience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B2545"/>
          </a:solidFill>
          <a:ln w="12700">
            <a:solidFill>
              <a:srgbClr val="0B2545"/>
            </a:solidFill>
            <a:prstDash val="solid"/>
          </a:ln>
        </p:spPr>
      </p:sp>
      <p:sp>
        <p:nvSpPr>
          <p:cNvPr id="3" name="Text 1"/>
          <p:cNvSpPr/>
          <p:nvPr/>
        </p:nvSpPr>
        <p:spPr>
          <a:xfrm>
            <a:off x="365760" y="137160"/>
            <a:ext cx="10972800" cy="73152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Future Scope &amp; Opportunities</a:t>
            </a:r>
            <a:endParaRPr lang="en-US" sz="3000" dirty="0"/>
          </a:p>
        </p:txBody>
      </p:sp>
      <p:sp>
        <p:nvSpPr>
          <p:cNvPr id="4" name="Shape 2"/>
          <p:cNvSpPr/>
          <p:nvPr/>
        </p:nvSpPr>
        <p:spPr>
          <a:xfrm>
            <a:off x="320040" y="1143000"/>
            <a:ext cx="3749040" cy="24231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5" name="Shape 3"/>
          <p:cNvSpPr/>
          <p:nvPr/>
        </p:nvSpPr>
        <p:spPr>
          <a:xfrm>
            <a:off x="320040" y="1143000"/>
            <a:ext cx="3749040" cy="502920"/>
          </a:xfrm>
          <a:prstGeom prst="rect">
            <a:avLst/>
          </a:prstGeom>
          <a:solidFill>
            <a:srgbClr val="1363DF"/>
          </a:solidFill>
          <a:ln w="12700">
            <a:solidFill>
              <a:srgbClr val="1363DF"/>
            </a:solidFill>
            <a:prstDash val="solid"/>
          </a:ln>
        </p:spPr>
      </p:sp>
      <p:sp>
        <p:nvSpPr>
          <p:cNvPr id="6" name="Text 4"/>
          <p:cNvSpPr/>
          <p:nvPr/>
        </p:nvSpPr>
        <p:spPr>
          <a:xfrm>
            <a:off x="411480" y="1197864"/>
            <a:ext cx="3566160" cy="40233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Machine Learning Risk Prediction</a:t>
            </a:r>
            <a:endParaRPr lang="en-US" sz="1100" dirty="0"/>
          </a:p>
        </p:txBody>
      </p:sp>
      <p:sp>
        <p:nvSpPr>
          <p:cNvPr id="7" name="Text 5"/>
          <p:cNvSpPr/>
          <p:nvPr/>
        </p:nvSpPr>
        <p:spPr>
          <a:xfrm>
            <a:off x="411480" y="1737360"/>
            <a:ext cx="3566160" cy="16916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Train gradient-boosted classifiers (XGBoost, Random Forest) to predict flood risk class from morphometric and socioeconomic features, enabling automated risk scoring for new catchment data.</a:t>
            </a:r>
            <a:endParaRPr lang="en-US" sz="1100" dirty="0"/>
          </a:p>
        </p:txBody>
      </p:sp>
      <p:sp>
        <p:nvSpPr>
          <p:cNvPr id="8" name="Shape 6"/>
          <p:cNvSpPr/>
          <p:nvPr/>
        </p:nvSpPr>
        <p:spPr>
          <a:xfrm>
            <a:off x="4279392" y="1143000"/>
            <a:ext cx="3749040" cy="24231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9" name="Shape 7"/>
          <p:cNvSpPr/>
          <p:nvPr/>
        </p:nvSpPr>
        <p:spPr>
          <a:xfrm>
            <a:off x="4279392" y="1143000"/>
            <a:ext cx="3749040" cy="502920"/>
          </a:xfrm>
          <a:prstGeom prst="rect">
            <a:avLst/>
          </a:prstGeom>
          <a:solidFill>
            <a:srgbClr val="0D7377"/>
          </a:solidFill>
          <a:ln w="12700">
            <a:solidFill>
              <a:srgbClr val="0D7377"/>
            </a:solidFill>
            <a:prstDash val="solid"/>
          </a:ln>
        </p:spPr>
      </p:sp>
      <p:sp>
        <p:nvSpPr>
          <p:cNvPr id="10" name="Text 8"/>
          <p:cNvSpPr/>
          <p:nvPr/>
        </p:nvSpPr>
        <p:spPr>
          <a:xfrm>
            <a:off x="4370832" y="1197864"/>
            <a:ext cx="3566160" cy="40233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Real-Time Sensor Integration</a:t>
            </a:r>
            <a:endParaRPr lang="en-US" sz="1100" dirty="0"/>
          </a:p>
        </p:txBody>
      </p:sp>
      <p:sp>
        <p:nvSpPr>
          <p:cNvPr id="11" name="Text 9"/>
          <p:cNvSpPr/>
          <p:nvPr/>
        </p:nvSpPr>
        <p:spPr>
          <a:xfrm>
            <a:off x="4370832" y="1737360"/>
            <a:ext cx="3566160" cy="16916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Connect IoT rainfall and stream-height sensors to a live Power BI dashboard for real-time risk alerting, seasonal flood forecasting, and resource pre-positioning.</a:t>
            </a:r>
            <a:endParaRPr lang="en-US" sz="1100" dirty="0"/>
          </a:p>
        </p:txBody>
      </p:sp>
      <p:sp>
        <p:nvSpPr>
          <p:cNvPr id="12" name="Shape 10"/>
          <p:cNvSpPr/>
          <p:nvPr/>
        </p:nvSpPr>
        <p:spPr>
          <a:xfrm>
            <a:off x="8238744" y="1143000"/>
            <a:ext cx="3749040" cy="24231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3" name="Shape 11"/>
          <p:cNvSpPr/>
          <p:nvPr/>
        </p:nvSpPr>
        <p:spPr>
          <a:xfrm>
            <a:off x="8238744" y="1143000"/>
            <a:ext cx="3749040" cy="502920"/>
          </a:xfrm>
          <a:prstGeom prst="rect">
            <a:avLst/>
          </a:prstGeom>
          <a:solidFill>
            <a:srgbClr val="2B4B8C"/>
          </a:solidFill>
          <a:ln w="12700">
            <a:solidFill>
              <a:srgbClr val="2B4B8C"/>
            </a:solidFill>
            <a:prstDash val="solid"/>
          </a:ln>
        </p:spPr>
      </p:sp>
      <p:sp>
        <p:nvSpPr>
          <p:cNvPr id="14" name="Text 12"/>
          <p:cNvSpPr/>
          <p:nvPr/>
        </p:nvSpPr>
        <p:spPr>
          <a:xfrm>
            <a:off x="8330184" y="1197864"/>
            <a:ext cx="3566160" cy="40233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Remote Sensing &amp; NDVI Analysis</a:t>
            </a:r>
            <a:endParaRPr lang="en-US" sz="1100" dirty="0"/>
          </a:p>
        </p:txBody>
      </p:sp>
      <p:sp>
        <p:nvSpPr>
          <p:cNvPr id="15" name="Text 13"/>
          <p:cNvSpPr/>
          <p:nvPr/>
        </p:nvSpPr>
        <p:spPr>
          <a:xfrm>
            <a:off x="8330184" y="1737360"/>
            <a:ext cx="3566160" cy="16916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Incorporate satellite-derived vegetation index (NDVI) data to track land-cover change over time, enabling early detection of deforestation-driven drainage risk increases.</a:t>
            </a:r>
            <a:endParaRPr lang="en-US" sz="1100" dirty="0"/>
          </a:p>
        </p:txBody>
      </p:sp>
      <p:sp>
        <p:nvSpPr>
          <p:cNvPr id="16" name="Shape 14"/>
          <p:cNvSpPr/>
          <p:nvPr/>
        </p:nvSpPr>
        <p:spPr>
          <a:xfrm>
            <a:off x="320040" y="3749040"/>
            <a:ext cx="3749040" cy="24231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17" name="Shape 15"/>
          <p:cNvSpPr/>
          <p:nvPr/>
        </p:nvSpPr>
        <p:spPr>
          <a:xfrm>
            <a:off x="320040" y="3749040"/>
            <a:ext cx="3749040" cy="502920"/>
          </a:xfrm>
          <a:prstGeom prst="rect">
            <a:avLst/>
          </a:prstGeom>
          <a:solidFill>
            <a:srgbClr val="E63946"/>
          </a:solidFill>
          <a:ln w="12700">
            <a:solidFill>
              <a:srgbClr val="E63946"/>
            </a:solidFill>
            <a:prstDash val="solid"/>
          </a:ln>
        </p:spPr>
      </p:sp>
      <p:sp>
        <p:nvSpPr>
          <p:cNvPr id="18" name="Text 16"/>
          <p:cNvSpPr/>
          <p:nvPr/>
        </p:nvSpPr>
        <p:spPr>
          <a:xfrm>
            <a:off x="411480" y="3803904"/>
            <a:ext cx="3566160" cy="40233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Climate Change Scenario Modeling</a:t>
            </a:r>
            <a:endParaRPr lang="en-US" sz="1100" dirty="0"/>
          </a:p>
        </p:txBody>
      </p:sp>
      <p:sp>
        <p:nvSpPr>
          <p:cNvPr id="19" name="Text 17"/>
          <p:cNvSpPr/>
          <p:nvPr/>
        </p:nvSpPr>
        <p:spPr>
          <a:xfrm>
            <a:off x="411480" y="4343400"/>
            <a:ext cx="3566160" cy="16916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Model the impact of projected precipitation increases (IPCC RCP scenarios) on Flood Risk Index values across all 155 catchments, identifying which will transition from Low to High risk by 2050.</a:t>
            </a:r>
            <a:endParaRPr lang="en-US" sz="1100" dirty="0"/>
          </a:p>
        </p:txBody>
      </p:sp>
      <p:sp>
        <p:nvSpPr>
          <p:cNvPr id="20" name="Shape 18"/>
          <p:cNvSpPr/>
          <p:nvPr/>
        </p:nvSpPr>
        <p:spPr>
          <a:xfrm>
            <a:off x="4279392" y="3749040"/>
            <a:ext cx="3749040" cy="24231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1" name="Shape 19"/>
          <p:cNvSpPr/>
          <p:nvPr/>
        </p:nvSpPr>
        <p:spPr>
          <a:xfrm>
            <a:off x="4279392" y="3749040"/>
            <a:ext cx="3749040" cy="502920"/>
          </a:xfrm>
          <a:prstGeom prst="rect">
            <a:avLst/>
          </a:prstGeom>
          <a:solidFill>
            <a:srgbClr val="F4A261"/>
          </a:solidFill>
          <a:ln w="12700">
            <a:solidFill>
              <a:srgbClr val="F4A261"/>
            </a:solidFill>
            <a:prstDash val="solid"/>
          </a:ln>
        </p:spPr>
      </p:sp>
      <p:sp>
        <p:nvSpPr>
          <p:cNvPr id="22" name="Text 20"/>
          <p:cNvSpPr/>
          <p:nvPr/>
        </p:nvSpPr>
        <p:spPr>
          <a:xfrm>
            <a:off x="4370832" y="3803904"/>
            <a:ext cx="3566160" cy="40233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Economic Loss Quantification</a:t>
            </a:r>
            <a:endParaRPr lang="en-US" sz="1100" dirty="0"/>
          </a:p>
        </p:txBody>
      </p:sp>
      <p:sp>
        <p:nvSpPr>
          <p:cNvPr id="23" name="Text 21"/>
          <p:cNvSpPr/>
          <p:nvPr/>
        </p:nvSpPr>
        <p:spPr>
          <a:xfrm>
            <a:off x="4370832" y="4343400"/>
            <a:ext cx="3566160" cy="16916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Integrate flood event records with GDP and infrastructure data to estimate annual economic losses per catchment, enabling cost-benefit analysis of proposed flood mitigation investments.</a:t>
            </a:r>
            <a:endParaRPr lang="en-US" sz="1100" dirty="0"/>
          </a:p>
        </p:txBody>
      </p:sp>
      <p:sp>
        <p:nvSpPr>
          <p:cNvPr id="24" name="Shape 22"/>
          <p:cNvSpPr/>
          <p:nvPr/>
        </p:nvSpPr>
        <p:spPr>
          <a:xfrm>
            <a:off x="8238744" y="3749040"/>
            <a:ext cx="3749040" cy="2423160"/>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sp>
      <p:sp>
        <p:nvSpPr>
          <p:cNvPr id="25" name="Shape 23"/>
          <p:cNvSpPr/>
          <p:nvPr/>
        </p:nvSpPr>
        <p:spPr>
          <a:xfrm>
            <a:off x="8238744" y="3749040"/>
            <a:ext cx="3749040" cy="502920"/>
          </a:xfrm>
          <a:prstGeom prst="rect">
            <a:avLst/>
          </a:prstGeom>
          <a:solidFill>
            <a:srgbClr val="0B2545"/>
          </a:solidFill>
          <a:ln w="12700">
            <a:solidFill>
              <a:srgbClr val="0B2545"/>
            </a:solidFill>
            <a:prstDash val="solid"/>
          </a:ln>
        </p:spPr>
      </p:sp>
      <p:sp>
        <p:nvSpPr>
          <p:cNvPr id="26" name="Text 24"/>
          <p:cNvSpPr/>
          <p:nvPr/>
        </p:nvSpPr>
        <p:spPr>
          <a:xfrm>
            <a:off x="8330184" y="3803904"/>
            <a:ext cx="3566160" cy="40233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Community Vulnerability Index</a:t>
            </a:r>
            <a:endParaRPr lang="en-US" sz="1100" dirty="0"/>
          </a:p>
        </p:txBody>
      </p:sp>
      <p:sp>
        <p:nvSpPr>
          <p:cNvPr id="27" name="Text 25"/>
          <p:cNvSpPr/>
          <p:nvPr/>
        </p:nvSpPr>
        <p:spPr>
          <a:xfrm>
            <a:off x="8330184" y="4343400"/>
            <a:ext cx="3566160" cy="1691640"/>
          </a:xfrm>
          <a:prstGeom prst="rect">
            <a:avLst/>
          </a:prstGeom>
          <a:noFill/>
          <a:ln/>
        </p:spPr>
        <p:txBody>
          <a:bodyPr wrap="square" rtlCol="0" anchor="ctr"/>
          <a:lstStyle/>
          <a:p>
            <a:pPr marL="0" indent="0">
              <a:buNone/>
            </a:pPr>
            <a:r>
              <a:rPr lang="en-US" sz="1100" dirty="0">
                <a:solidFill>
                  <a:srgbClr val="0B1F3A"/>
                </a:solidFill>
                <a:latin typeface="Calibri" pitchFamily="34" charset="0"/>
                <a:ea typeface="Calibri" pitchFamily="34" charset="-122"/>
                <a:cs typeface="Calibri" pitchFamily="34" charset="-120"/>
              </a:rPr>
              <a:t>Develop a composite Social Vulnerability Index incorporating HDI, education rates, healthcare access, and road connectivity to complement the physical Flood Risk Index for equitable policy design.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4188</Words>
  <Application>Microsoft Office PowerPoint</Application>
  <PresentationFormat>Widescreen</PresentationFormat>
  <Paragraphs>496</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Disaster Risk Management (Flood) Analysis</dc:title>
  <dc:subject>PptxGenJS Presentation</dc:subject>
  <dc:creator>Data Analytics Team</dc:creator>
  <cp:lastModifiedBy>shekhawatsoumya2@gmail.com</cp:lastModifiedBy>
  <cp:revision>1</cp:revision>
  <dcterms:created xsi:type="dcterms:W3CDTF">2026-03-18T09:13:10Z</dcterms:created>
  <dcterms:modified xsi:type="dcterms:W3CDTF">2026-03-19T12:13:25Z</dcterms:modified>
</cp:coreProperties>
</file>